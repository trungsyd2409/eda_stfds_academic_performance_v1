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Override PartName="/ppt/notesSlides/notesSlide3.xml" ContentType="application/vnd.openxmlformats-officedocument.presentationml.notesSlide+xml"/>
  <Override PartName="/ppt/slides/slide21.xml" ContentType="application/vnd.openxmlformats-officedocument.presentationml.slide+xml"/>
  <Override PartName="/ppt/notesSlides/notesSlide4.xml" ContentType="application/vnd.openxmlformats-officedocument.presentationml.notesSlide+xml"/>
  <Override PartName="/ppt/slides/slide22.xml" ContentType="application/vnd.openxmlformats-officedocument.presentationml.slide+xml"/>
  <Override PartName="/ppt/notesSlides/notesSlide5.xml" ContentType="application/vnd.openxmlformats-officedocument.presentationml.notesSlide+xml"/>
  <Override PartName="/ppt/slides/slide23.xml" ContentType="application/vnd.openxmlformats-officedocument.presentationml.slide+xml"/>
  <Override PartName="/ppt/notesSlides/notesSlide6.xml" ContentType="application/vnd.openxmlformats-officedocument.presentationml.notesSlide+xml"/>
  <Override PartName="/ppt/slides/slide24.xml" ContentType="application/vnd.openxmlformats-officedocument.presentationml.slide+xml"/>
  <Override PartName="/ppt/notesSlides/notesSlide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400" r:id="rId2"/>
    <p:sldId id="401" r:id="rId3"/>
    <p:sldId id="402" r:id="rId4"/>
    <p:sldId id="403" r:id="rId7"/>
    <p:sldId id="404" r:id="rId8"/>
    <p:sldId id="405" r:id="rId10"/>
    <p:sldId id="406" r:id="rId11"/>
    <p:sldId id="407" r:id="rIdS22"/>
    <p:sldId id="408" r:id="rIdS20"/>
    <p:sldId id="409" r:id="rId13"/>
    <p:sldId id="410" r:id="rIdS21"/>
    <p:sldId id="411" r:id="rId16"/>
    <p:sldId id="412" r:id="rIdS23"/>
    <p:sldId id="413" r:id="rId19"/>
    <p:sldId id="414" r:id="rId20"/>
    <p:sldId id="415" r:id="rId14"/>
    <p:sldId id="416" r:id="rIdS24"/>
    <p:sldId id="417" r:id="rId12"/>
    <p:sldId id="418" r:id="rId9"/>
    <p:sldId id="419"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BF09C1-7425-4B24-B225-1F6A1657E2F3}"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282CC-4E9C-4536-BF77-BA17D837D8C2}" type="slidenum">
              <a:rPr lang="en-US" smtClean="0"/>
              <a:t>‹#›</a:t>
            </a:fld>
            <a:endParaRPr lang="en-US"/>
          </a:p>
        </p:txBody>
      </p:sp>
    </p:spTree>
    <p:extLst>
      <p:ext uri="{BB962C8B-B14F-4D97-AF65-F5344CB8AC3E}">
        <p14:creationId xmlns:p14="http://schemas.microsoft.com/office/powerpoint/2010/main" val="1569165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linear regression estimates how predicted final grades differ across factors while holding the other included variables constant. In the fitted model, students reporting a university goal had an estimated 1.7-point higher predicted G3. Each higher study-time category was associated with a 0.5-point higher predicted grade. Each higher school-day drinking category was associated with a 0.4-point lower predicted grade, and a very low or very high going-out pattern with 0.8 points lower. Each previous failure was associated with 1.4 points lower. These are adjusted associations, not causal effects, and the variables are on different scales, so the bar lengths should not be read as a ranking of importance. 11.2 is the model intercept, not the average starting grade (the class average is 11.9).
[If asked: backward elimination kept 9 of 39 survey factors (G1/G2 excluded); forward selection kept 10, 8 shared; R-squared 0.33; cross-validated R-squared 0.275; prediction error about 2.7 points. Full coefficients in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The model gives different predicted grades for two hypothetical profiles: 9.5 and 13.8. This illustrates association, not what would necessarily happen if one student changed these behaviours. Exact predicted values: 9.47 and 13.76.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surprised us. First, both very low and very high reported social activity were associated with higher failure rates in this sample: about 25% in both groups, versus around 11% in the middle. The pattern is non-linear and deserves further investigation; the dataset does not measure social isolation. Second, whether parents live apart or together showed no real difference: 15% in both groups. Third, students receiving paid extra classes had a higher observed failure rate, 23% versus 15%. This may reflect selection, because students who are already struggling may be more likely to receive tutoring. The dataset cannot tell us whether tutoring improves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these findings may mean in practice, framed as finding and possible response. Term-1 grades identified many students who later failed, so schools could use term-1 results as an early-warning signal, never as a permanent label. Previous failures were strongly associated with lower grades, so early support for students with a history of difficulty makes sense. University aspirations and higher reported study time were associated with higher grades: families can discuss goals and protect regular study time, while schools could explore goal-setting, career guidance and study-support programs. School-day drinking and very low or very high going out were associated with lower grades, so families can encourage balanced routines. Because these are associations, schools should investigate which strategies actually improve outcomes and evaluate interventions before scaling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factor that seems intuitive has a strong relationship with final grades. Previous failures show a moderate negative association (r = -0.39). Study time shows a weak-to-moderate positive association (r = 0.25). Absences show only a weak negative association (r = -0.09): students with 0-5 absences averaged 12.0 and those with 11-20 averaged 10.6. These are associations, not causes. The full correlation table, including G1 and G2, is in the backup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this analysis responsibly means protecting student privacy and never turning statistical patterns into labels for individual students. The findings come from two Portuguese schools and may not generalise. Any work with Aboriginal and Torres Strait Islander communities must respect community authority, cultural protocols and data sovereignty; this dataset contains no such community data. Next steps: test the findings on local, recent data; follow students over time; evaluate support interventions before scaling them; and investigate the groups with lower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for questions about the model. Coefficients from the backward-elimination linear regression. Variables are on different scales, so coefficient sizes should not be used to rank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8069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image" Target="../media/reg3_icon1.png"/><Relationship Id="rId2" Type="http://schemas.openxmlformats.org/officeDocument/2006/relationships/image" Target="../media/reg3_icon2.png"/><Relationship Id="rId3" Type="http://schemas.openxmlformats.org/officeDocument/2006/relationships/image" Target="../media/reg3_icon3.png"/><Relationship Id="rId4" Type="http://schemas.openxmlformats.org/officeDocument/2006/relationships/image" Target="../media/reg3_icon4.png"/><Relationship Id="rId5" Type="http://schemas.openxmlformats.org/officeDocument/2006/relationships/image" Target="../media/reg3_icon5.png"/><Relationship Id="rId6" Type="http://schemas.openxmlformats.org/officeDocument/2006/relationships/slideLayout" Target="../slideLayouts/slideLayout7.xml"/><Relationship Id="rId7"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5800" y="960120"/>
            <a:ext cx="109728" cy="4480560"/>
          </a:xfrm>
          <a:prstGeom prst="rect">
            <a:avLst/>
          </a:prstGeom>
          <a:solidFill>
            <a:srgbClr val="1E78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1143000"/>
            <a:ext cx="10058400" cy="2011680"/>
          </a:xfrm>
          <a:prstGeom prst="rect">
            <a:avLst/>
          </a:prstGeom>
          <a:noFill/>
        </p:spPr>
        <p:txBody>
          <a:bodyPr wrap="none">
            <a:spAutoFit/>
          </a:bodyPr>
          <a:lstStyle/>
          <a:p>
            <a:pPr>
              <a:defRPr sz="4000" b="1">
                <a:solidFill>
                  <a:srgbClr val="FFFFFF"/>
                </a:solidFill>
              </a:defRPr>
            </a:pPr>
            <a:r>
              <a:t>Student Performance</a:t>
            </a:r>
            <a:br/>
            <a:r>
              <a:t>Data Analysis</a:t>
            </a:r>
          </a:p>
          <a:p>
            <a:pPr>
              <a:defRPr sz="2100">
                <a:solidFill>
                  <a:srgbClr val="CDE1E4"/>
                </a:solidFill>
              </a:defRPr>
            </a:pPr>
            <a:r>
              <a:t>Assessment Task 2 – Data Analysis Project</a:t>
            </a:r>
          </a:p>
          <a:p>
            <a:pPr>
              <a:defRPr sz="1500">
                <a:solidFill>
                  <a:srgbClr val="BECDD7"/>
                </a:solidFill>
              </a:defRPr>
            </a:pPr>
            <a:r>
              <a:t>Exploratory analysis of 649 Portuguese secondary-school students</a:t>
            </a:r>
          </a:p>
        </p:txBody>
      </p:sp>
      <p:sp>
        <p:nvSpPr>
          <p:cNvPr id="5" name="TextBox 4"/>
          <p:cNvSpPr txBox="1"/>
          <p:nvPr/>
        </p:nvSpPr>
        <p:spPr>
          <a:xfrm>
            <a:off x="1051560" y="5074920"/>
            <a:ext cx="9144000" cy="640080"/>
          </a:xfrm>
          <a:prstGeom prst="rect">
            <a:avLst/>
          </a:prstGeom>
          <a:noFill/>
        </p:spPr>
        <p:txBody>
          <a:bodyPr wrap="none">
            <a:spAutoFit/>
          </a:bodyPr>
          <a:lstStyle/>
          <a:p>
            <a:pPr>
              <a:defRPr sz="1500">
                <a:solidFill>
                  <a:srgbClr val="FFFFFF"/>
                </a:solidFill>
              </a:defRPr>
            </a:pPr>
            <a:r>
              <a:t>Prepared for: the Parents’ Association and school leaders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A40"/>
                </a:solidFill>
              </a:defRPr>
            </a:pPr>
            <a:r>
              <a:t>1. Problem and Research Question</a:t>
            </a:r>
          </a:p>
        </p:txBody>
      </p:sp>
      <p:sp>
        <p:nvSpPr>
          <p:cNvPr id="4" name="TextBox 3"/>
          <p:cNvSpPr txBox="1"/>
          <p:nvPr/>
        </p:nvSpPr>
        <p:spPr>
          <a:xfrm>
            <a:off x="777240" y="1417320"/>
            <a:ext cx="10607040" cy="4389120"/>
          </a:xfrm>
          <a:prstGeom prst="rect">
            <a:avLst/>
          </a:prstGeom>
          <a:noFill/>
        </p:spPr>
        <p:txBody>
          <a:bodyPr wrap="square">
            <a:spAutoFit/>
          </a:bodyPr>
          <a:lstStyle/>
          <a:p>
            <a:pPr>
              <a:spcAft>
                <a:spcPts val="1000"/>
              </a:spcAft>
              <a:defRPr sz="2000">
                <a:solidFill>
                  <a:srgbClr val="2D3741"/>
                </a:solidFill>
              </a:defRPr>
            </a:pPr>
            <a:r>
              <a:t>Why it matters: about 1 in 7 students (100 of 649) failed the final grade (below 10 out of 20). Families and schools want to know where to act.</a:t>
            </a:r>
          </a:p>
          <a:p>
            <a:pPr>
              <a:spcAft>
                <a:spcPts val="1000"/>
              </a:spcAft>
              <a:defRPr sz="2000">
                <a:solidFill>
                  <a:srgbClr val="2D3741"/>
                </a:solidFill>
              </a:defRPr>
            </a:pPr>
            <a:r>
              <a:t>Research question: Which student habits and circumstances are associated with final grades, and which findings may help families and schools identify areas for support?</a:t>
            </a:r>
          </a:p>
          <a:p>
            <a:pPr>
              <a:spcAft>
                <a:spcPts val="1000"/>
              </a:spcAft>
              <a:defRPr sz="2000">
                <a:solidFill>
                  <a:srgbClr val="2D3741"/>
                </a:solidFill>
              </a:defRPr>
            </a:pPr>
            <a:r>
              <a:t>Q1. When can we spot a student at risk?  → when to act</a:t>
            </a:r>
          </a:p>
          <a:p>
            <a:pPr>
              <a:spcAft>
                <a:spcPts val="1000"/>
              </a:spcAft>
              <a:defRPr sz="2000">
                <a:solidFill>
                  <a:srgbClr val="2D3741"/>
                </a:solidFill>
              </a:defRPr>
            </a:pPr>
            <a:r>
              <a:t>Q2. Which habits are linked to higher grades?  → what to encourage</a:t>
            </a:r>
          </a:p>
          <a:p>
            <a:pPr>
              <a:spcAft>
                <a:spcPts val="1000"/>
              </a:spcAft>
              <a:defRPr sz="2000">
                <a:solidFill>
                  <a:srgbClr val="2D3741"/>
                </a:solidFill>
              </a:defRPr>
            </a:pPr>
            <a:r>
              <a:t>Q3. Who needs extra support?  → where to focus resources</a:t>
            </a:r>
          </a:p>
        </p:txBody>
      </p:sp>
      <p:sp>
        <p:nvSpPr>
          <p:cNvPr id="5" name="Rounded Rectangle 4"/>
          <p:cNvSpPr/>
          <p:nvPr/>
        </p:nvSpPr>
        <p:spPr>
          <a:xfrm>
            <a:off x="685800" y="5440680"/>
            <a:ext cx="10789920" cy="685800"/>
          </a:xfrm>
          <a:prstGeom prst="round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5550408"/>
            <a:ext cx="10460736" cy="502920"/>
          </a:xfrm>
          <a:prstGeom prst="rect">
            <a:avLst/>
          </a:prstGeom>
          <a:noFill/>
        </p:spPr>
        <p:txBody>
          <a:bodyPr wrap="none">
            <a:spAutoFit/>
          </a:bodyPr>
          <a:lstStyle/>
          <a:p>
            <a:pPr>
              <a:defRPr sz="1200">
                <a:solidFill>
                  <a:srgbClr val="2D3741"/>
                </a:solidFill>
              </a:defRPr>
            </a:pPr>
            <a:r>
              <a:t>Important: associations in this analysis should not be interpreted as proof that one factor causes another.</a:t>
            </a:r>
          </a:p>
        </p:txBody>
      </p:sp>
      <p:sp>
        <p:nvSpPr>
          <p:cNvPr id="7" name="Rectangle 6"/>
          <p:cNvSpPr/>
          <p:nvPr/>
        </p:nvSpPr>
        <p:spPr>
          <a:xfrm>
            <a:off x="594360" y="6473952"/>
            <a:ext cx="10972800" cy="18288"/>
          </a:xfrm>
          <a:prstGeom prst="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10528"/>
            <a:ext cx="10972800" cy="228600"/>
          </a:xfrm>
          <a:prstGeom prst="rect">
            <a:avLst/>
          </a:prstGeom>
          <a:noFill/>
        </p:spPr>
        <p:txBody>
          <a:bodyPr wrap="none">
            <a:spAutoFit/>
          </a:bodyPr>
          <a:lstStyle/>
          <a:p>
            <a:pPr>
              <a:defRPr sz="800">
                <a:solidFill>
                  <a:srgbClr val="646E78"/>
                </a:solidFill>
              </a:defRPr>
            </a:pPr>
            <a:r>
              <a:t>Student Performance Data Analysis  |  Assessment Task 2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A40"/>
                </a:solidFill>
              </a:defRPr>
            </a:pPr>
            <a:r>
              <a:t>2. Dataset &amp; Analysis Approach</a:t>
            </a:r>
          </a:p>
        </p:txBody>
      </p:sp>
      <p:sp>
        <p:nvSpPr>
          <p:cNvPr id="4" name="TextBox 3"/>
          <p:cNvSpPr txBox="1"/>
          <p:nvPr/>
        </p:nvSpPr>
        <p:spPr>
          <a:xfrm>
            <a:off x="621792" y="960120"/>
            <a:ext cx="10789920" cy="411480"/>
          </a:xfrm>
          <a:prstGeom prst="rect">
            <a:avLst/>
          </a:prstGeom>
          <a:noFill/>
        </p:spPr>
        <p:txBody>
          <a:bodyPr wrap="none">
            <a:spAutoFit/>
          </a:bodyPr>
          <a:lstStyle/>
          <a:p>
            <a:pPr>
              <a:defRPr sz="1300">
                <a:solidFill>
                  <a:srgbClr val="646E78"/>
                </a:solidFill>
              </a:defRPr>
            </a:pPr>
            <a:r>
              <a:t>Source: UCI Student Performance dataset; uploaded file: student-por.csv</a:t>
            </a:r>
          </a:p>
        </p:txBody>
      </p:sp>
      <p:sp>
        <p:nvSpPr>
          <p:cNvPr id="5" name="Rounded Rectangle 4"/>
          <p:cNvSpPr/>
          <p:nvPr/>
        </p:nvSpPr>
        <p:spPr>
          <a:xfrm>
            <a:off x="731520" y="1417320"/>
            <a:ext cx="2286000" cy="1371600"/>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581912"/>
            <a:ext cx="2011680" cy="1097280"/>
          </a:xfrm>
          <a:prstGeom prst="rect">
            <a:avLst/>
          </a:prstGeom>
          <a:noFill/>
        </p:spPr>
        <p:txBody>
          <a:bodyPr wrap="none" anchor="ctr">
            <a:spAutoFit/>
          </a:bodyPr>
          <a:lstStyle/>
          <a:p>
            <a:pPr algn="ctr">
              <a:defRPr sz="2500" b="1">
                <a:solidFill>
                  <a:srgbClr val="1E787D"/>
                </a:solidFill>
              </a:defRPr>
            </a:pPr>
            <a:r>
              <a:t>649</a:t>
            </a:r>
          </a:p>
          <a:p>
            <a:pPr algn="ctr">
              <a:defRPr sz="1100">
                <a:solidFill>
                  <a:srgbClr val="646E78"/>
                </a:solidFill>
              </a:defRPr>
            </a:pPr>
            <a:r>
              <a:t>students</a:t>
            </a:r>
          </a:p>
        </p:txBody>
      </p:sp>
      <p:sp>
        <p:nvSpPr>
          <p:cNvPr id="7" name="Rounded Rectangle 6"/>
          <p:cNvSpPr/>
          <p:nvPr/>
        </p:nvSpPr>
        <p:spPr>
          <a:xfrm>
            <a:off x="3291840" y="1417320"/>
            <a:ext cx="2286000" cy="1371600"/>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29000" y="1581912"/>
            <a:ext cx="2011680" cy="1097280"/>
          </a:xfrm>
          <a:prstGeom prst="rect">
            <a:avLst/>
          </a:prstGeom>
          <a:noFill/>
        </p:spPr>
        <p:txBody>
          <a:bodyPr wrap="none" anchor="ctr">
            <a:spAutoFit/>
          </a:bodyPr>
          <a:lstStyle/>
          <a:p>
            <a:pPr algn="ctr">
              <a:defRPr sz="2500" b="1">
                <a:solidFill>
                  <a:srgbClr val="1E787D"/>
                </a:solidFill>
              </a:defRPr>
            </a:pPr>
            <a:r>
              <a:t>33</a:t>
            </a:r>
          </a:p>
          <a:p>
            <a:pPr algn="ctr">
              <a:defRPr sz="1100">
                <a:solidFill>
                  <a:srgbClr val="646E78"/>
                </a:solidFill>
              </a:defRPr>
            </a:pPr>
            <a:r>
              <a:t>variables</a:t>
            </a:r>
          </a:p>
        </p:txBody>
      </p:sp>
      <p:sp>
        <p:nvSpPr>
          <p:cNvPr id="9" name="Rounded Rectangle 8"/>
          <p:cNvSpPr/>
          <p:nvPr/>
        </p:nvSpPr>
        <p:spPr>
          <a:xfrm>
            <a:off x="5852160" y="1417320"/>
            <a:ext cx="2286000" cy="1371600"/>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1581912"/>
            <a:ext cx="2011680" cy="1097280"/>
          </a:xfrm>
          <a:prstGeom prst="rect">
            <a:avLst/>
          </a:prstGeom>
          <a:noFill/>
        </p:spPr>
        <p:txBody>
          <a:bodyPr wrap="none" anchor="ctr">
            <a:spAutoFit/>
          </a:bodyPr>
          <a:lstStyle/>
          <a:p>
            <a:pPr algn="ctr">
              <a:defRPr sz="2500" b="1">
                <a:solidFill>
                  <a:srgbClr val="1E787D"/>
                </a:solidFill>
              </a:defRPr>
            </a:pPr>
            <a:r>
              <a:t>0–20</a:t>
            </a:r>
          </a:p>
          <a:p>
            <a:pPr algn="ctr">
              <a:defRPr sz="1100">
                <a:solidFill>
                  <a:srgbClr val="646E78"/>
                </a:solidFill>
              </a:defRPr>
            </a:pPr>
            <a:r>
              <a:t>G3 scale</a:t>
            </a:r>
          </a:p>
        </p:txBody>
      </p:sp>
      <p:sp>
        <p:nvSpPr>
          <p:cNvPr id="11" name="Rounded Rectangle 10"/>
          <p:cNvSpPr/>
          <p:nvPr/>
        </p:nvSpPr>
        <p:spPr>
          <a:xfrm>
            <a:off x="8412480" y="1417320"/>
            <a:ext cx="2286000" cy="1371600"/>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49640" y="1581912"/>
            <a:ext cx="2011680" cy="1097280"/>
          </a:xfrm>
          <a:prstGeom prst="rect">
            <a:avLst/>
          </a:prstGeom>
          <a:noFill/>
        </p:spPr>
        <p:txBody>
          <a:bodyPr wrap="none" anchor="ctr">
            <a:spAutoFit/>
          </a:bodyPr>
          <a:lstStyle/>
          <a:p>
            <a:pPr algn="ctr">
              <a:defRPr sz="2500" b="1">
                <a:solidFill>
                  <a:srgbClr val="1E787D"/>
                </a:solidFill>
              </a:defRPr>
            </a:pPr>
            <a:r>
              <a:t>0</a:t>
            </a:r>
          </a:p>
          <a:p>
            <a:pPr algn="ctr">
              <a:defRPr sz="1100">
                <a:solidFill>
                  <a:srgbClr val="646E78"/>
                </a:solidFill>
              </a:defRPr>
            </a:pPr>
            <a:r>
              <a:t>missing values</a:t>
            </a:r>
          </a:p>
        </p:txBody>
      </p:sp>
      <p:sp>
        <p:nvSpPr>
          <p:cNvPr id="13" name="TextBox 12"/>
          <p:cNvSpPr txBox="1"/>
          <p:nvPr/>
        </p:nvSpPr>
        <p:spPr>
          <a:xfrm>
            <a:off x="822960" y="3154680"/>
            <a:ext cx="10515600" cy="2377440"/>
          </a:xfrm>
          <a:prstGeom prst="rect">
            <a:avLst/>
          </a:prstGeom>
          <a:noFill/>
        </p:spPr>
        <p:txBody>
          <a:bodyPr wrap="square">
            <a:spAutoFit/>
          </a:bodyPr>
          <a:lstStyle/>
          <a:p>
            <a:pPr>
              <a:spcAft>
                <a:spcPts val="1000"/>
              </a:spcAft>
              <a:defRPr sz="1700">
                <a:solidFill>
                  <a:srgbClr val="2D3741"/>
                </a:solidFill>
              </a:defRPr>
            </a:pPr>
            <a:r>
              <a:t>The Portuguese-language dataset covers students from two Portuguese secondary schools.</a:t>
            </a:r>
          </a:p>
          <a:p>
            <a:pPr>
              <a:spcAft>
                <a:spcPts val="1000"/>
              </a:spcAft>
              <a:defRPr sz="1700">
                <a:solidFill>
                  <a:srgbClr val="2D3741"/>
                </a:solidFill>
              </a:defRPr>
            </a:pPr>
            <a:r>
              <a:t>Variables include demographics, study habits, family/social factors, absences and academic grades.</a:t>
            </a:r>
          </a:p>
          <a:p>
            <a:pPr>
              <a:spcAft>
                <a:spcPts val="1000"/>
              </a:spcAft>
              <a:defRPr sz="1700">
                <a:solidFill>
                  <a:srgbClr val="2D3741"/>
                </a:solidFill>
              </a:defRPr>
            </a:pPr>
            <a:r>
              <a:t>G3 is the final-period grade and is the main outcome analysed.</a:t>
            </a:r>
          </a:p>
          <a:p>
            <a:pPr>
              <a:spcAft>
                <a:spcPts val="1000"/>
              </a:spcAft>
              <a:defRPr sz="1700">
                <a:solidFill>
                  <a:srgbClr val="2D3741"/>
                </a:solidFill>
              </a:defRPr>
            </a:pPr>
            <a:r>
              <a:t>Sample: 383 female, 266 male students aged 15–22.</a:t>
            </a:r>
          </a:p>
          <a:p>
            <a:pPr>
              <a:spcAft>
                <a:spcPts val="1000"/>
              </a:spcAft>
              <a:defRPr sz="1700">
                <a:solidFill>
                  <a:srgbClr val="2D3741"/>
                </a:solidFill>
              </a:defRPr>
            </a:pPr>
            <a:r>
              <a:t>Approach: clean → explore → visualise → simple regression → interpret</a:t>
            </a:r>
          </a:p>
        </p:txBody>
      </p:sp>
      <p:sp>
        <p:nvSpPr>
          <p:cNvPr id="14" name="Rounded Rectangle 13"/>
          <p:cNvSpPr/>
          <p:nvPr/>
        </p:nvSpPr>
        <p:spPr>
          <a:xfrm>
            <a:off x="685800" y="5440680"/>
            <a:ext cx="10789920" cy="685800"/>
          </a:xfrm>
          <a:prstGeom prst="round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5550408"/>
            <a:ext cx="10460736" cy="502920"/>
          </a:xfrm>
          <a:prstGeom prst="rect">
            <a:avLst/>
          </a:prstGeom>
          <a:noFill/>
        </p:spPr>
        <p:txBody>
          <a:bodyPr wrap="none">
            <a:spAutoFit/>
          </a:bodyPr>
          <a:lstStyle/>
          <a:p>
            <a:pPr>
              <a:defRPr sz="1200">
                <a:solidFill>
                  <a:srgbClr val="2D3741"/>
                </a:solidFill>
              </a:defRPr>
            </a:pPr>
            <a:r>
              <a:t>Source: Cortez (2008), UCI Machine Learning Repository. The UCI documentation notes that G1 and G2 are earlier-period grades and G3 is the final grade.</a:t>
            </a:r>
          </a:p>
        </p:txBody>
      </p:sp>
      <p:sp>
        <p:nvSpPr>
          <p:cNvPr id="16" name="Rectangle 15"/>
          <p:cNvSpPr/>
          <p:nvPr/>
        </p:nvSpPr>
        <p:spPr>
          <a:xfrm>
            <a:off x="594360" y="6473952"/>
            <a:ext cx="10972800" cy="18288"/>
          </a:xfrm>
          <a:prstGeom prst="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6510528"/>
            <a:ext cx="10972800" cy="228600"/>
          </a:xfrm>
          <a:prstGeom prst="rect">
            <a:avLst/>
          </a:prstGeom>
          <a:noFill/>
        </p:spPr>
        <p:txBody>
          <a:bodyPr wrap="none">
            <a:spAutoFit/>
          </a:bodyPr>
          <a:lstStyle/>
          <a:p>
            <a:pPr>
              <a:defRPr sz="800">
                <a:solidFill>
                  <a:srgbClr val="646E78"/>
                </a:solidFill>
              </a:defRPr>
            </a:pPr>
            <a:r>
              <a:t>Student Performance Data Analysis  |  Assessment Task 2                         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A40"/>
                </a:solidFill>
              </a:defRPr>
            </a:pPr>
            <a:r>
              <a:t>Backup: Who Is in the Dataset?</a:t>
            </a:r>
          </a:p>
        </p:txBody>
      </p:sp>
      <p:sp>
        <p:nvSpPr>
          <p:cNvPr id="4" name="Rounded Rectangle 3"/>
          <p:cNvSpPr/>
          <p:nvPr/>
        </p:nvSpPr>
        <p:spPr>
          <a:xfrm>
            <a:off x="777240" y="1325880"/>
            <a:ext cx="2743200" cy="1234440"/>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90472"/>
            <a:ext cx="2468880" cy="960120"/>
          </a:xfrm>
          <a:prstGeom prst="rect">
            <a:avLst/>
          </a:prstGeom>
          <a:noFill/>
        </p:spPr>
        <p:txBody>
          <a:bodyPr wrap="none" anchor="ctr">
            <a:spAutoFit/>
          </a:bodyPr>
          <a:lstStyle/>
          <a:p>
            <a:pPr algn="ctr">
              <a:defRPr sz="2500" b="1">
                <a:solidFill>
                  <a:srgbClr val="1E787D"/>
                </a:solidFill>
              </a:defRPr>
            </a:pPr>
            <a:r>
              <a:t>383</a:t>
            </a:r>
          </a:p>
          <a:p>
            <a:pPr algn="ctr">
              <a:defRPr sz="1100">
                <a:solidFill>
                  <a:srgbClr val="646E78"/>
                </a:solidFill>
              </a:defRPr>
            </a:pPr>
            <a:r>
              <a:t>female students</a:t>
            </a:r>
          </a:p>
        </p:txBody>
      </p:sp>
      <p:sp>
        <p:nvSpPr>
          <p:cNvPr id="6" name="Rounded Rectangle 5"/>
          <p:cNvSpPr/>
          <p:nvPr/>
        </p:nvSpPr>
        <p:spPr>
          <a:xfrm>
            <a:off x="3703320" y="1325880"/>
            <a:ext cx="2743200" cy="1234440"/>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0" y="1490472"/>
            <a:ext cx="2468880" cy="960120"/>
          </a:xfrm>
          <a:prstGeom prst="rect">
            <a:avLst/>
          </a:prstGeom>
          <a:noFill/>
        </p:spPr>
        <p:txBody>
          <a:bodyPr wrap="none" anchor="ctr">
            <a:spAutoFit/>
          </a:bodyPr>
          <a:lstStyle/>
          <a:p>
            <a:pPr algn="ctr">
              <a:defRPr sz="2500" b="1">
                <a:solidFill>
                  <a:srgbClr val="1E787D"/>
                </a:solidFill>
              </a:defRPr>
            </a:pPr>
            <a:r>
              <a:t>266</a:t>
            </a:r>
          </a:p>
          <a:p>
            <a:pPr algn="ctr">
              <a:defRPr sz="1100">
                <a:solidFill>
                  <a:srgbClr val="646E78"/>
                </a:solidFill>
              </a:defRPr>
            </a:pPr>
            <a:r>
              <a:t>male students</a:t>
            </a:r>
          </a:p>
        </p:txBody>
      </p:sp>
      <p:sp>
        <p:nvSpPr>
          <p:cNvPr id="8" name="Rounded Rectangle 7"/>
          <p:cNvSpPr/>
          <p:nvPr/>
        </p:nvSpPr>
        <p:spPr>
          <a:xfrm>
            <a:off x="6629400" y="1325880"/>
            <a:ext cx="2743200" cy="1234440"/>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0" y="1490472"/>
            <a:ext cx="2468880" cy="960120"/>
          </a:xfrm>
          <a:prstGeom prst="rect">
            <a:avLst/>
          </a:prstGeom>
          <a:noFill/>
        </p:spPr>
        <p:txBody>
          <a:bodyPr wrap="none" anchor="ctr">
            <a:spAutoFit/>
          </a:bodyPr>
          <a:lstStyle/>
          <a:p>
            <a:pPr algn="ctr">
              <a:defRPr sz="2500" b="1">
                <a:solidFill>
                  <a:srgbClr val="1E787D"/>
                </a:solidFill>
              </a:defRPr>
            </a:pPr>
            <a:r>
              <a:t>15–22</a:t>
            </a:r>
          </a:p>
          <a:p>
            <a:pPr algn="ctr">
              <a:defRPr sz="1100">
                <a:solidFill>
                  <a:srgbClr val="646E78"/>
                </a:solidFill>
              </a:defRPr>
            </a:pPr>
            <a:r>
              <a:t>age range</a:t>
            </a:r>
          </a:p>
        </p:txBody>
      </p:sp>
      <p:sp>
        <p:nvSpPr>
          <p:cNvPr id="10" name="TextBox 9"/>
          <p:cNvSpPr txBox="1"/>
          <p:nvPr/>
        </p:nvSpPr>
        <p:spPr>
          <a:xfrm>
            <a:off x="868680" y="3063240"/>
            <a:ext cx="10241280" cy="2194560"/>
          </a:xfrm>
          <a:prstGeom prst="rect">
            <a:avLst/>
          </a:prstGeom>
          <a:noFill/>
        </p:spPr>
        <p:txBody>
          <a:bodyPr wrap="square">
            <a:spAutoFit/>
          </a:bodyPr>
          <a:lstStyle/>
          <a:p>
            <a:pPr>
              <a:spcAft>
                <a:spcPts val="1000"/>
              </a:spcAft>
              <a:defRPr sz="1800">
                <a:solidFill>
                  <a:srgbClr val="2D3741"/>
                </a:solidFill>
              </a:defRPr>
            </a:pPr>
            <a:r>
              <a:t>The dataset includes more female than male students.</a:t>
            </a:r>
          </a:p>
          <a:p>
            <a:pPr>
              <a:spcAft>
                <a:spcPts val="1000"/>
              </a:spcAft>
              <a:defRPr sz="1800">
                <a:solidFill>
                  <a:srgbClr val="2D3741"/>
                </a:solidFill>
              </a:defRPr>
            </a:pPr>
            <a:r>
              <a:t>The analysis describes this sample only; it should not be treated as representative of all students.</a:t>
            </a:r>
          </a:p>
          <a:p>
            <a:pPr>
              <a:spcAft>
                <a:spcPts val="1000"/>
              </a:spcAft>
              <a:defRPr sz="1800">
                <a:solidFill>
                  <a:srgbClr val="2D3741"/>
                </a:solidFill>
              </a:defRPr>
            </a:pPr>
            <a:r>
              <a:t>Background variables provide context but should not be used to stereotype individual students.</a:t>
            </a:r>
          </a:p>
        </p:txBody>
      </p:sp>
      <p:sp>
        <p:nvSpPr>
          <p:cNvPr id="11" name="Rectangle 10"/>
          <p:cNvSpPr/>
          <p:nvPr/>
        </p:nvSpPr>
        <p:spPr>
          <a:xfrm>
            <a:off x="594360" y="6473952"/>
            <a:ext cx="10972800" cy="18288"/>
          </a:xfrm>
          <a:prstGeom prst="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6510528"/>
            <a:ext cx="10972800" cy="228600"/>
          </a:xfrm>
          <a:prstGeom prst="rect">
            <a:avLst/>
          </a:prstGeom>
          <a:noFill/>
        </p:spPr>
        <p:txBody>
          <a:bodyPr wrap="none">
            <a:spAutoFit/>
          </a:bodyPr>
          <a:lstStyle/>
          <a:p>
            <a:pPr>
              <a:defRPr sz="800">
                <a:solidFill>
                  <a:srgbClr val="646E78"/>
                </a:solidFill>
              </a:defRPr>
            </a:pPr>
            <a:r>
              <a:t>Student Performance Data Analysis  |  Assessment Task 2                         B5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A40"/>
                </a:solidFill>
              </a:defRPr>
            </a:pPr>
            <a:r>
              <a:t>3. Final Grade: About 1 in 7 Students Fail</a:t>
            </a:r>
          </a:p>
        </p:txBody>
      </p:sp>
      <p:pic>
        <p:nvPicPr>
          <p:cNvPr id="4" name="Picture 3" descr="g3_hist.png"/>
          <p:cNvPicPr>
            <a:picLocks noChangeAspect="1"/>
          </p:cNvPicPr>
          <p:nvPr/>
        </p:nvPicPr>
        <p:blipFill>
          <a:blip r:embed="rId2"/>
          <a:stretch>
            <a:fillRect/>
          </a:stretch>
        </p:blipFill>
        <p:spPr>
          <a:xfrm>
            <a:off x="685800" y="1234440"/>
            <a:ext cx="6400800" cy="4251960"/>
          </a:xfrm>
          <a:prstGeom prst="rect">
            <a:avLst/>
          </a:prstGeom>
        </p:spPr>
      </p:pic>
      <p:sp>
        <p:nvSpPr>
          <p:cNvPr id="5" name="Rounded Rectangle 4"/>
          <p:cNvSpPr/>
          <p:nvPr/>
        </p:nvSpPr>
        <p:spPr>
          <a:xfrm>
            <a:off x="7406640" y="1417320"/>
            <a:ext cx="2011680" cy="1234440"/>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43800" y="1581912"/>
            <a:ext cx="1737360" cy="960120"/>
          </a:xfrm>
          <a:prstGeom prst="rect">
            <a:avLst/>
          </a:prstGeom>
          <a:noFill/>
        </p:spPr>
        <p:txBody>
          <a:bodyPr wrap="none" anchor="ctr">
            <a:spAutoFit/>
          </a:bodyPr>
          <a:lstStyle/>
          <a:p>
            <a:pPr algn="ctr">
              <a:defRPr sz="2500" b="1">
                <a:solidFill>
                  <a:srgbClr val="1E787D"/>
                </a:solidFill>
              </a:defRPr>
            </a:pPr>
            <a:r>
              <a:t>11.9</a:t>
            </a:r>
          </a:p>
          <a:p>
            <a:pPr algn="ctr">
              <a:defRPr sz="1100">
                <a:solidFill>
                  <a:srgbClr val="646E78"/>
                </a:solidFill>
              </a:defRPr>
            </a:pPr>
            <a:r>
              <a:t>mean G3</a:t>
            </a:r>
          </a:p>
        </p:txBody>
      </p:sp>
      <p:sp>
        <p:nvSpPr>
          <p:cNvPr id="7" name="Rounded Rectangle 6"/>
          <p:cNvSpPr/>
          <p:nvPr/>
        </p:nvSpPr>
        <p:spPr>
          <a:xfrm>
            <a:off x="9601200" y="1417320"/>
            <a:ext cx="2011680" cy="1234440"/>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38360" y="1581912"/>
            <a:ext cx="1737360" cy="960120"/>
          </a:xfrm>
          <a:prstGeom prst="rect">
            <a:avLst/>
          </a:prstGeom>
          <a:noFill/>
        </p:spPr>
        <p:txBody>
          <a:bodyPr wrap="none" anchor="ctr">
            <a:spAutoFit/>
          </a:bodyPr>
          <a:lstStyle/>
          <a:p>
            <a:pPr algn="ctr">
              <a:defRPr sz="2500" b="1">
                <a:solidFill>
                  <a:srgbClr val="1E787D"/>
                </a:solidFill>
              </a:defRPr>
            </a:pPr>
            <a:r>
              <a:t>12</a:t>
            </a:r>
          </a:p>
          <a:p>
            <a:pPr algn="ctr">
              <a:defRPr sz="1100">
                <a:solidFill>
                  <a:srgbClr val="646E78"/>
                </a:solidFill>
              </a:defRPr>
            </a:pPr>
            <a:r>
              <a:t>median G3</a:t>
            </a:r>
          </a:p>
        </p:txBody>
      </p:sp>
      <p:sp>
        <p:nvSpPr>
          <p:cNvPr id="9" name="Rounded Rectangle 8"/>
          <p:cNvSpPr/>
          <p:nvPr/>
        </p:nvSpPr>
        <p:spPr>
          <a:xfrm>
            <a:off x="7406640" y="2971800"/>
            <a:ext cx="2011680" cy="1234440"/>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43800" y="3136392"/>
            <a:ext cx="1737360" cy="960120"/>
          </a:xfrm>
          <a:prstGeom prst="rect">
            <a:avLst/>
          </a:prstGeom>
          <a:noFill/>
        </p:spPr>
        <p:txBody>
          <a:bodyPr wrap="none" anchor="ctr">
            <a:spAutoFit/>
          </a:bodyPr>
          <a:lstStyle/>
          <a:p>
            <a:pPr algn="ctr">
              <a:defRPr sz="2500" b="1">
                <a:solidFill>
                  <a:srgbClr val="1E787D"/>
                </a:solidFill>
              </a:defRPr>
            </a:pPr>
            <a:r>
              <a:t>1 in 7</a:t>
            </a:r>
          </a:p>
          <a:p>
            <a:pPr algn="ctr">
              <a:defRPr sz="1100">
                <a:solidFill>
                  <a:srgbClr val="646E78"/>
                </a:solidFill>
              </a:defRPr>
            </a:pPr>
            <a:r>
              <a:t>failed (below 10)</a:t>
            </a:r>
          </a:p>
        </p:txBody>
      </p:sp>
      <p:sp>
        <p:nvSpPr>
          <p:cNvPr id="11" name="Rounded Rectangle 10"/>
          <p:cNvSpPr/>
          <p:nvPr/>
        </p:nvSpPr>
        <p:spPr>
          <a:xfrm>
            <a:off x="9601200" y="2971800"/>
            <a:ext cx="2011680" cy="1234440"/>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38360" y="3136392"/>
            <a:ext cx="1737360" cy="960120"/>
          </a:xfrm>
          <a:prstGeom prst="rect">
            <a:avLst/>
          </a:prstGeom>
          <a:noFill/>
        </p:spPr>
        <p:txBody>
          <a:bodyPr wrap="none" anchor="ctr">
            <a:spAutoFit/>
          </a:bodyPr>
          <a:lstStyle/>
          <a:p>
            <a:pPr algn="ctr">
              <a:defRPr sz="2500" b="1">
                <a:solidFill>
                  <a:srgbClr val="1E787D"/>
                </a:solidFill>
              </a:defRPr>
            </a:pPr>
            <a:r>
              <a:t>19</a:t>
            </a:r>
          </a:p>
          <a:p>
            <a:pPr algn="ctr">
              <a:defRPr sz="1100">
                <a:solidFill>
                  <a:srgbClr val="646E78"/>
                </a:solidFill>
              </a:defRPr>
            </a:pPr>
            <a:r>
              <a:t>maximum</a:t>
            </a:r>
          </a:p>
        </p:txBody>
      </p:sp>
      <p:sp>
        <p:nvSpPr>
          <p:cNvPr id="13" name="Rounded Rectangle 12"/>
          <p:cNvSpPr/>
          <p:nvPr/>
        </p:nvSpPr>
        <p:spPr>
          <a:xfrm>
            <a:off x="685800" y="5440680"/>
            <a:ext cx="10789920" cy="685800"/>
          </a:xfrm>
          <a:prstGeom prst="round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5550408"/>
            <a:ext cx="10460736" cy="502920"/>
          </a:xfrm>
          <a:prstGeom prst="rect">
            <a:avLst/>
          </a:prstGeom>
          <a:noFill/>
        </p:spPr>
        <p:txBody>
          <a:bodyPr wrap="none">
            <a:spAutoFit/>
          </a:bodyPr>
          <a:lstStyle/>
          <a:p>
            <a:pPr>
              <a:defRPr sz="1200">
                <a:solidFill>
                  <a:srgbClr val="2D3741"/>
                </a:solidFill>
              </a:defRPr>
            </a:pPr>
            <a:r>
              <a:t>The average final grade is 11.9 out of 20, but 100 students (15%) scored below the pass mark of 10. Lowest 0, highest 19.</a:t>
            </a:r>
          </a:p>
        </p:txBody>
      </p:sp>
      <p:sp>
        <p:nvSpPr>
          <p:cNvPr id="15" name="Rectangle 14"/>
          <p:cNvSpPr/>
          <p:nvPr/>
        </p:nvSpPr>
        <p:spPr>
          <a:xfrm>
            <a:off x="594360" y="6473952"/>
            <a:ext cx="10972800" cy="18288"/>
          </a:xfrm>
          <a:prstGeom prst="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6510528"/>
            <a:ext cx="10972800" cy="228600"/>
          </a:xfrm>
          <a:prstGeom prst="rect">
            <a:avLst/>
          </a:prstGeom>
          <a:noFill/>
        </p:spPr>
        <p:txBody>
          <a:bodyPr wrap="none">
            <a:spAutoFit/>
          </a:bodyPr>
          <a:lstStyle/>
          <a:p>
            <a:pPr>
              <a:defRPr sz="800">
                <a:solidFill>
                  <a:srgbClr val="646E78"/>
                </a:solidFill>
              </a:defRPr>
            </a:pPr>
            <a:r>
              <a:t>Student Performance Data Analysis  |  Assessment Task 2                         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A40"/>
                </a:solidFill>
              </a:defRPr>
            </a:pPr>
            <a:r>
              <a:t>4. Students Reporting More Study Time Had Higher Average Grades</a:t>
            </a:r>
          </a:p>
        </p:txBody>
      </p:sp>
      <p:pic>
        <p:nvPicPr>
          <p:cNvPr id="4" name="Picture 3" descr="study.png"/>
          <p:cNvPicPr>
            <a:picLocks noChangeAspect="1"/>
          </p:cNvPicPr>
          <p:nvPr/>
        </p:nvPicPr>
        <p:blipFill>
          <a:blip r:embed="rId2"/>
          <a:stretch>
            <a:fillRect/>
          </a:stretch>
        </p:blipFill>
        <p:spPr>
          <a:xfrm>
            <a:off x="640080" y="1234440"/>
            <a:ext cx="6583680" cy="4251960"/>
          </a:xfrm>
          <a:prstGeom prst="rect">
            <a:avLst/>
          </a:prstGeom>
        </p:spPr>
      </p:pic>
      <p:sp>
        <p:nvSpPr>
          <p:cNvPr id="5" name="TextBox 4"/>
          <p:cNvSpPr txBox="1"/>
          <p:nvPr/>
        </p:nvSpPr>
        <p:spPr>
          <a:xfrm>
            <a:off x="7543800" y="1417320"/>
            <a:ext cx="3977639" cy="3474720"/>
          </a:xfrm>
          <a:prstGeom prst="rect">
            <a:avLst/>
          </a:prstGeom>
          <a:noFill/>
        </p:spPr>
        <p:txBody>
          <a:bodyPr wrap="square">
            <a:spAutoFit/>
          </a:bodyPr>
          <a:lstStyle/>
          <a:p>
            <a:pPr>
              <a:spcAft>
                <a:spcPts val="1000"/>
              </a:spcAft>
              <a:defRPr sz="1500">
                <a:solidFill>
                  <a:srgbClr val="2D3741"/>
                </a:solidFill>
              </a:defRPr>
            </a:pPr>
            <a:r>
              <a:t>Students reporting 5–10 hours of weekly study had an average G3 of 13.2.</a:t>
            </a:r>
          </a:p>
          <a:p>
            <a:pPr>
              <a:spcAft>
                <a:spcPts val="1000"/>
              </a:spcAft>
              <a:defRPr sz="1500">
                <a:solidFill>
                  <a:srgbClr val="2D3741"/>
                </a:solidFill>
              </a:defRPr>
            </a:pPr>
            <a:r>
              <a:t>Students reporting less than 2 hours had an average G3 of 10.8.</a:t>
            </a:r>
          </a:p>
          <a:p>
            <a:pPr>
              <a:spcAft>
                <a:spcPts val="1000"/>
              </a:spcAft>
              <a:defRPr sz="1500">
                <a:solidFill>
                  <a:srgbClr val="2D3741"/>
                </a:solidFill>
              </a:defRPr>
            </a:pPr>
            <a:r>
              <a:t>Observed difference between these two groups: 2.4 points.</a:t>
            </a:r>
          </a:p>
        </p:txBody>
      </p:sp>
      <p:sp>
        <p:nvSpPr>
          <p:cNvPr id="6" name="Rounded Rectangle 5"/>
          <p:cNvSpPr/>
          <p:nvPr/>
        </p:nvSpPr>
        <p:spPr>
          <a:xfrm>
            <a:off x="685800" y="5440680"/>
            <a:ext cx="10789920" cy="685800"/>
          </a:xfrm>
          <a:prstGeom prst="round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5550408"/>
            <a:ext cx="10460736" cy="502920"/>
          </a:xfrm>
          <a:prstGeom prst="rect">
            <a:avLst/>
          </a:prstGeom>
          <a:noFill/>
        </p:spPr>
        <p:txBody>
          <a:bodyPr wrap="square">
            <a:spAutoFit/>
          </a:bodyPr>
          <a:lstStyle/>
          <a:p>
            <a:pPr>
              <a:defRPr sz="1200">
                <a:solidFill>
                  <a:srgbClr val="2D3741"/>
                </a:solidFill>
              </a:defRPr>
            </a:pPr>
            <a:r>
              <a:t>Average grades were higher among students reporting more study time, but this does not establish that increasing study time would cause grades to rise.</a:t>
            </a:r>
          </a:p>
        </p:txBody>
      </p:sp>
      <p:sp>
        <p:nvSpPr>
          <p:cNvPr id="8" name="Rectangle 7"/>
          <p:cNvSpPr/>
          <p:nvPr/>
        </p:nvSpPr>
        <p:spPr>
          <a:xfrm>
            <a:off x="594360" y="6473952"/>
            <a:ext cx="10972800" cy="18288"/>
          </a:xfrm>
          <a:prstGeom prst="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6510528"/>
            <a:ext cx="10972800" cy="228600"/>
          </a:xfrm>
          <a:prstGeom prst="rect">
            <a:avLst/>
          </a:prstGeom>
          <a:noFill/>
        </p:spPr>
        <p:txBody>
          <a:bodyPr wrap="none">
            <a:spAutoFit/>
          </a:bodyPr>
          <a:lstStyle/>
          <a:p>
            <a:pPr>
              <a:defRPr sz="800">
                <a:solidFill>
                  <a:srgbClr val="646E78"/>
                </a:solidFill>
              </a:defRPr>
            </a:pPr>
            <a:r>
              <a:t>Student Performance Data Analysis  |  Assessment Task 2                         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A40"/>
                </a:solidFill>
              </a:defRPr>
            </a:pPr>
            <a:r>
              <a:t>Backup: Absences and Final Grade</a:t>
            </a:r>
          </a:p>
        </p:txBody>
      </p:sp>
      <p:pic>
        <p:nvPicPr>
          <p:cNvPr id="4" name="Picture 3" descr="absence.png"/>
          <p:cNvPicPr>
            <a:picLocks noChangeAspect="1"/>
          </p:cNvPicPr>
          <p:nvPr/>
        </p:nvPicPr>
        <p:blipFill>
          <a:blip r:embed="rId2"/>
          <a:stretch>
            <a:fillRect/>
          </a:stretch>
        </p:blipFill>
        <p:spPr>
          <a:xfrm>
            <a:off x="640080" y="1234440"/>
            <a:ext cx="6583680" cy="4251960"/>
          </a:xfrm>
          <a:prstGeom prst="rect">
            <a:avLst/>
          </a:prstGeom>
        </p:spPr>
      </p:pic>
      <p:sp>
        <p:nvSpPr>
          <p:cNvPr id="5" name="TextBox 4"/>
          <p:cNvSpPr txBox="1"/>
          <p:nvPr/>
        </p:nvSpPr>
        <p:spPr>
          <a:xfrm>
            <a:off x="7543800" y="1325880"/>
            <a:ext cx="3977639" cy="4023360"/>
          </a:xfrm>
          <a:prstGeom prst="rect">
            <a:avLst/>
          </a:prstGeom>
          <a:noFill/>
        </p:spPr>
        <p:txBody>
          <a:bodyPr wrap="square">
            <a:spAutoFit/>
          </a:bodyPr>
          <a:lstStyle/>
          <a:p>
            <a:pPr>
              <a:spcAft>
                <a:spcPts val="1000"/>
              </a:spcAft>
              <a:defRPr sz="1500">
                <a:solidFill>
                  <a:srgbClr val="2D3741"/>
                </a:solidFill>
              </a:defRPr>
            </a:pPr>
            <a:r>
              <a:t>Students with 0–5 absences averaged 12.0.</a:t>
            </a:r>
          </a:p>
          <a:p>
            <a:pPr>
              <a:spcAft>
                <a:spcPts val="1000"/>
              </a:spcAft>
              <a:defRPr sz="1500">
                <a:solidFill>
                  <a:srgbClr val="2D3741"/>
                </a:solidFill>
              </a:defRPr>
            </a:pPr>
            <a:r>
              <a:t>Students with 11–20 absences averaged 10.6.</a:t>
            </a:r>
          </a:p>
          <a:p>
            <a:pPr>
              <a:spcAft>
                <a:spcPts val="1000"/>
              </a:spcAft>
              <a:defRPr sz="1500">
                <a:solidFill>
                  <a:srgbClr val="2D3741"/>
                </a:solidFill>
              </a:defRPr>
            </a:pPr>
            <a:r>
              <a:t>The correlation between absences and G3 is weakly negative (r = −0.09).</a:t>
            </a:r>
          </a:p>
          <a:p>
            <a:pPr>
              <a:spcAft>
                <a:spcPts val="1000"/>
              </a:spcAft>
              <a:defRPr sz="1500">
                <a:solidFill>
                  <a:srgbClr val="2D3741"/>
                </a:solidFill>
              </a:defRPr>
            </a:pPr>
            <a:r>
              <a:t>The 21+ group is very small (8 students), so its mean is unstable.</a:t>
            </a:r>
          </a:p>
        </p:txBody>
      </p:sp>
      <p:sp>
        <p:nvSpPr>
          <p:cNvPr id="6" name="Rectangle 5"/>
          <p:cNvSpPr/>
          <p:nvPr/>
        </p:nvSpPr>
        <p:spPr>
          <a:xfrm>
            <a:off x="594360" y="6473952"/>
            <a:ext cx="10972800" cy="18288"/>
          </a:xfrm>
          <a:prstGeom prst="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10972800" cy="228600"/>
          </a:xfrm>
          <a:prstGeom prst="rect">
            <a:avLst/>
          </a:prstGeom>
          <a:noFill/>
        </p:spPr>
        <p:txBody>
          <a:bodyPr wrap="none">
            <a:spAutoFit/>
          </a:bodyPr>
          <a:lstStyle/>
          <a:p>
            <a:pPr>
              <a:defRPr sz="800">
                <a:solidFill>
                  <a:srgbClr val="646E78"/>
                </a:solidFill>
              </a:defRPr>
            </a:pPr>
            <a:r>
              <a:t>Student Performance Data Analysis  |  Assessment Task 2                         B4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A40"/>
                </a:solidFill>
              </a:defRPr>
            </a:pPr>
            <a:r>
              <a:t>5. Students with One Past Failure Averaged About 4 Points Lower</a:t>
            </a:r>
          </a:p>
        </p:txBody>
      </p:sp>
      <p:pic>
        <p:nvPicPr>
          <p:cNvPr id="4" name="Picture 3" descr="failures.png"/>
          <p:cNvPicPr>
            <a:picLocks noChangeAspect="1"/>
          </p:cNvPicPr>
          <p:nvPr/>
        </p:nvPicPr>
        <p:blipFill>
          <a:blip r:embed="rId2"/>
          <a:stretch>
            <a:fillRect/>
          </a:stretch>
        </p:blipFill>
        <p:spPr>
          <a:xfrm>
            <a:off x="640080" y="1234440"/>
            <a:ext cx="6583680" cy="4251960"/>
          </a:xfrm>
          <a:prstGeom prst="rect">
            <a:avLst/>
          </a:prstGeom>
        </p:spPr>
      </p:pic>
      <p:sp>
        <p:nvSpPr>
          <p:cNvPr id="5" name="TextBox 4"/>
          <p:cNvSpPr txBox="1"/>
          <p:nvPr/>
        </p:nvSpPr>
        <p:spPr>
          <a:xfrm>
            <a:off x="7543800" y="1325880"/>
            <a:ext cx="3977639" cy="3931920"/>
          </a:xfrm>
          <a:prstGeom prst="rect">
            <a:avLst/>
          </a:prstGeom>
          <a:noFill/>
        </p:spPr>
        <p:txBody>
          <a:bodyPr wrap="square">
            <a:spAutoFit/>
          </a:bodyPr>
          <a:lstStyle/>
          <a:p>
            <a:pPr>
              <a:spcAft>
                <a:spcPts val="1000"/>
              </a:spcAft>
              <a:defRPr sz="1500">
                <a:solidFill>
                  <a:srgbClr val="2D3741"/>
                </a:solidFill>
              </a:defRPr>
            </a:pPr>
            <a:r>
              <a:t>Students with no previous failures averaged 12.5.</a:t>
            </a:r>
          </a:p>
          <a:p>
            <a:pPr>
              <a:spcAft>
                <a:spcPts val="1000"/>
              </a:spcAft>
              <a:defRPr sz="1500">
                <a:solidFill>
                  <a:srgbClr val="2D3741"/>
                </a:solidFill>
              </a:defRPr>
            </a:pPr>
            <a:r>
              <a:t>Students with one previous failure averaged 8.6.</a:t>
            </a:r>
          </a:p>
          <a:p>
            <a:pPr>
              <a:spcAft>
                <a:spcPts val="1000"/>
              </a:spcAft>
              <a:defRPr sz="1500">
                <a:solidFill>
                  <a:srgbClr val="2D3741"/>
                </a:solidFill>
              </a:defRPr>
            </a:pPr>
            <a:r>
              <a:t>The correlation between failures and G3 is −0.39.</a:t>
            </a:r>
          </a:p>
          <a:p>
            <a:pPr>
              <a:spcAft>
                <a:spcPts val="1000"/>
              </a:spcAft>
              <a:defRPr sz="1500">
                <a:solidFill>
                  <a:srgbClr val="2D3741"/>
                </a:solidFill>
              </a:defRPr>
            </a:pPr>
            <a:r>
              <a:t>Previous failure history is associated with lower final grades in this sample.</a:t>
            </a:r>
          </a:p>
        </p:txBody>
      </p:sp>
      <p:sp>
        <p:nvSpPr>
          <p:cNvPr id="6" name="Rounded Rectangle 5"/>
          <p:cNvSpPr/>
          <p:nvPr/>
        </p:nvSpPr>
        <p:spPr>
          <a:xfrm>
            <a:off x="685800" y="5440680"/>
            <a:ext cx="10789920" cy="685800"/>
          </a:xfrm>
          <a:prstGeom prst="round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5550408"/>
            <a:ext cx="10460736" cy="502920"/>
          </a:xfrm>
          <a:prstGeom prst="rect">
            <a:avLst/>
          </a:prstGeom>
          <a:noFill/>
        </p:spPr>
        <p:txBody>
          <a:bodyPr wrap="none">
            <a:spAutoFit/>
          </a:bodyPr>
          <a:lstStyle/>
          <a:p>
            <a:pPr>
              <a:defRPr sz="1200">
                <a:solidFill>
                  <a:srgbClr val="2D3741"/>
                </a:solidFill>
              </a:defRPr>
            </a:pPr>
            <a:r>
              <a:t>This is an association: the data cannot establish that previous failures themselves caused lower final grades.</a:t>
            </a:r>
          </a:p>
        </p:txBody>
      </p:sp>
      <p:sp>
        <p:nvSpPr>
          <p:cNvPr id="8" name="Rectangle 7"/>
          <p:cNvSpPr/>
          <p:nvPr/>
        </p:nvSpPr>
        <p:spPr>
          <a:xfrm>
            <a:off x="594360" y="6473952"/>
            <a:ext cx="10972800" cy="18288"/>
          </a:xfrm>
          <a:prstGeom prst="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6510528"/>
            <a:ext cx="10972800" cy="228600"/>
          </a:xfrm>
          <a:prstGeom prst="rect">
            <a:avLst/>
          </a:prstGeom>
          <a:noFill/>
        </p:spPr>
        <p:txBody>
          <a:bodyPr wrap="none">
            <a:spAutoFit/>
          </a:bodyPr>
          <a:lstStyle/>
          <a:p>
            <a:pPr>
              <a:defRPr sz="800">
                <a:solidFill>
                  <a:srgbClr val="646E78"/>
                </a:solidFill>
              </a:defRPr>
            </a:pPr>
            <a:r>
              <a:t>Student Performance Data Analysis  |  Assessment Task 2                         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A40"/>
                </a:solidFill>
              </a:defRPr>
            </a:pPr>
            <a:r>
              <a:t>6. Term Grades Are an Early Warning Sign</a:t>
            </a:r>
          </a:p>
        </p:txBody>
      </p:sp>
      <p:pic>
        <p:nvPicPr>
          <p:cNvPr id="4" name="Picture 3" descr="g2_g3.png"/>
          <p:cNvPicPr>
            <a:picLocks noChangeAspect="1"/>
          </p:cNvPicPr>
          <p:nvPr/>
        </p:nvPicPr>
        <p:blipFill>
          <a:blip r:embed="rId2"/>
          <a:stretch>
            <a:fillRect/>
          </a:stretch>
        </p:blipFill>
        <p:spPr>
          <a:xfrm>
            <a:off x="640080" y="1234440"/>
            <a:ext cx="6400800" cy="4160520"/>
          </a:xfrm>
          <a:prstGeom prst="rect">
            <a:avLst/>
          </a:prstGeom>
        </p:spPr>
      </p:pic>
      <p:sp>
        <p:nvSpPr>
          <p:cNvPr id="5" name="Rounded Rectangle 4"/>
          <p:cNvSpPr/>
          <p:nvPr/>
        </p:nvSpPr>
        <p:spPr>
          <a:xfrm>
            <a:off x="7452360" y="1508760"/>
            <a:ext cx="2011680" cy="1188720"/>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89520" y="1673351"/>
            <a:ext cx="1737360" cy="914400"/>
          </a:xfrm>
          <a:prstGeom prst="rect">
            <a:avLst/>
          </a:prstGeom>
          <a:noFill/>
        </p:spPr>
        <p:txBody>
          <a:bodyPr wrap="none" anchor="ctr">
            <a:spAutoFit/>
          </a:bodyPr>
          <a:lstStyle/>
          <a:p>
            <a:pPr algn="ctr">
              <a:defRPr sz="2500" b="1">
                <a:solidFill>
                  <a:srgbClr val="1E787D"/>
                </a:solidFill>
              </a:defRPr>
            </a:pPr>
            <a:r>
              <a:t>56%</a:t>
            </a:r>
          </a:p>
          <a:p>
            <a:pPr algn="ctr">
              <a:defRPr sz="1100">
                <a:solidFill>
                  <a:srgbClr val="646E78"/>
                </a:solidFill>
              </a:defRPr>
            </a:pPr>
            <a:r>
              <a:t>below 10 in term 1 → failed</a:t>
            </a:r>
          </a:p>
        </p:txBody>
      </p:sp>
      <p:sp>
        <p:nvSpPr>
          <p:cNvPr id="7" name="Rounded Rectangle 6"/>
          <p:cNvSpPr/>
          <p:nvPr/>
        </p:nvSpPr>
        <p:spPr>
          <a:xfrm>
            <a:off x="9646920" y="1508760"/>
            <a:ext cx="2011680" cy="1188720"/>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0" y="1673351"/>
            <a:ext cx="1737360" cy="914400"/>
          </a:xfrm>
          <a:prstGeom prst="rect">
            <a:avLst/>
          </a:prstGeom>
          <a:noFill/>
        </p:spPr>
        <p:txBody>
          <a:bodyPr wrap="none" anchor="ctr">
            <a:spAutoFit/>
          </a:bodyPr>
          <a:lstStyle/>
          <a:p>
            <a:pPr algn="ctr">
              <a:defRPr sz="2500" b="1">
                <a:solidFill>
                  <a:srgbClr val="1E787D"/>
                </a:solidFill>
              </a:defRPr>
            </a:pPr>
            <a:r>
              <a:t>88%</a:t>
            </a:r>
          </a:p>
          <a:p>
            <a:pPr algn="ctr">
              <a:defRPr sz="1100">
                <a:solidFill>
                  <a:srgbClr val="646E78"/>
                </a:solidFill>
              </a:defRPr>
            </a:pPr>
            <a:r>
              <a:t>of fails visible in term 1</a:t>
            </a:r>
          </a:p>
        </p:txBody>
      </p:sp>
      <p:sp>
        <p:nvSpPr>
          <p:cNvPr id="9" name="TextBox 8"/>
          <p:cNvSpPr txBox="1"/>
          <p:nvPr/>
        </p:nvSpPr>
        <p:spPr>
          <a:xfrm>
            <a:off x="7360920" y="3154680"/>
            <a:ext cx="4297680" cy="1920240"/>
          </a:xfrm>
          <a:prstGeom prst="rect">
            <a:avLst/>
          </a:prstGeom>
          <a:noFill/>
        </p:spPr>
        <p:txBody>
          <a:bodyPr wrap="square">
            <a:spAutoFit/>
          </a:bodyPr>
          <a:lstStyle/>
          <a:p>
            <a:pPr>
              <a:spcAft>
                <a:spcPts val="1000"/>
              </a:spcAft>
              <a:defRPr sz="1500">
                <a:solidFill>
                  <a:srgbClr val="2D3741"/>
                </a:solidFill>
              </a:defRPr>
            </a:pPr>
            <a:r>
              <a:t>Term grades are strongly linked with the final grade (G1: r = 0.83; G2: r = 0.92).</a:t>
            </a:r>
          </a:p>
          <a:p>
            <a:pPr>
              <a:spcAft>
                <a:spcPts val="1000"/>
              </a:spcAft>
              <a:defRPr sz="1500">
                <a:solidFill>
                  <a:srgbClr val="2D3741"/>
                </a:solidFill>
              </a:defRPr>
            </a:pPr>
            <a:r>
              <a:t>Only 2% of students who passed term 1 failed the year, vs 56% of those below 10.</a:t>
            </a:r>
          </a:p>
          <a:p>
            <a:pPr>
              <a:spcAft>
                <a:spcPts val="1000"/>
              </a:spcAft>
              <a:defRPr sz="1500">
                <a:solidFill>
                  <a:srgbClr val="2D3741"/>
                </a:solidFill>
              </a:defRPr>
            </a:pPr>
            <a:r>
              <a:t>Use term-1 results as an early warning to offer support, not as an explanation.</a:t>
            </a:r>
          </a:p>
        </p:txBody>
      </p:sp>
      <p:sp>
        <p:nvSpPr>
          <p:cNvPr id="10" name="Rounded Rectangle 9"/>
          <p:cNvSpPr/>
          <p:nvPr/>
        </p:nvSpPr>
        <p:spPr>
          <a:xfrm>
            <a:off x="685800" y="5440680"/>
            <a:ext cx="10789920" cy="685800"/>
          </a:xfrm>
          <a:prstGeom prst="round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5550408"/>
            <a:ext cx="10460736" cy="502920"/>
          </a:xfrm>
          <a:prstGeom prst="rect">
            <a:avLst/>
          </a:prstGeom>
          <a:noFill/>
        </p:spPr>
        <p:txBody>
          <a:bodyPr wrap="square">
            <a:spAutoFit/>
          </a:bodyPr>
          <a:lstStyle/>
          <a:p>
            <a:pPr>
              <a:defRPr sz="1200">
                <a:solidFill>
                  <a:srgbClr val="2D3741"/>
                </a:solidFill>
              </a:defRPr>
            </a:pPr>
            <a:r>
              <a:t>Term grades are useful for early warning, but because G1 and G2 are earlier academic grades, they should not be treated as explanations of why students perform differently.</a:t>
            </a:r>
          </a:p>
        </p:txBody>
      </p:sp>
      <p:sp>
        <p:nvSpPr>
          <p:cNvPr id="12" name="Rectangle 11"/>
          <p:cNvSpPr/>
          <p:nvPr/>
        </p:nvSpPr>
        <p:spPr>
          <a:xfrm>
            <a:off x="594360" y="6473952"/>
            <a:ext cx="10972800" cy="18288"/>
          </a:xfrm>
          <a:prstGeom prst="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6510528"/>
            <a:ext cx="10972800" cy="228600"/>
          </a:xfrm>
          <a:prstGeom prst="rect">
            <a:avLst/>
          </a:prstGeom>
          <a:noFill/>
        </p:spPr>
        <p:txBody>
          <a:bodyPr wrap="none">
            <a:spAutoFit/>
          </a:bodyPr>
          <a:lstStyle/>
          <a:p>
            <a:pPr>
              <a:defRPr sz="800">
                <a:solidFill>
                  <a:srgbClr val="646E78"/>
                </a:solidFill>
              </a:defRPr>
            </a:pPr>
            <a:r>
              <a:t>Student Performance Data Analysis  |  Assessment Task 2                         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A40"/>
                </a:solidFill>
              </a:defRPr>
            </a:pPr>
            <a:r>
              <a:t>Backup: Correlation Overview</a:t>
            </a:r>
          </a:p>
        </p:txBody>
      </p:sp>
      <p:sp>
        <p:nvSpPr>
          <p:cNvPr id="4" name="Rounded Rectangle 3"/>
          <p:cNvSpPr/>
          <p:nvPr/>
        </p:nvSpPr>
        <p:spPr>
          <a:xfrm>
            <a:off x="731520" y="1234440"/>
            <a:ext cx="10698480" cy="713232"/>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344168"/>
            <a:ext cx="1645920" cy="411480"/>
          </a:xfrm>
          <a:prstGeom prst="rect">
            <a:avLst/>
          </a:prstGeom>
          <a:noFill/>
        </p:spPr>
        <p:txBody>
          <a:bodyPr wrap="none">
            <a:spAutoFit/>
          </a:bodyPr>
          <a:lstStyle/>
          <a:p>
            <a:pPr>
              <a:defRPr sz="1600" b="1">
                <a:solidFill>
                  <a:srgbClr val="182A40"/>
                </a:solidFill>
              </a:defRPr>
            </a:pPr>
            <a:r>
              <a:t>G2</a:t>
            </a:r>
          </a:p>
        </p:txBody>
      </p:sp>
      <p:sp>
        <p:nvSpPr>
          <p:cNvPr id="6" name="TextBox 5"/>
          <p:cNvSpPr txBox="1"/>
          <p:nvPr/>
        </p:nvSpPr>
        <p:spPr>
          <a:xfrm>
            <a:off x="2834640" y="1344168"/>
            <a:ext cx="1828800" cy="411480"/>
          </a:xfrm>
          <a:prstGeom prst="rect">
            <a:avLst/>
          </a:prstGeom>
          <a:noFill/>
        </p:spPr>
        <p:txBody>
          <a:bodyPr wrap="none">
            <a:spAutoFit/>
          </a:bodyPr>
          <a:lstStyle/>
          <a:p>
            <a:pPr>
              <a:defRPr sz="1600" b="1">
                <a:solidFill>
                  <a:srgbClr val="1E787D"/>
                </a:solidFill>
              </a:defRPr>
            </a:pPr>
            <a:r>
              <a:t>r = 0.92</a:t>
            </a:r>
          </a:p>
        </p:txBody>
      </p:sp>
      <p:sp>
        <p:nvSpPr>
          <p:cNvPr id="7" name="TextBox 6"/>
          <p:cNvSpPr txBox="1"/>
          <p:nvPr/>
        </p:nvSpPr>
        <p:spPr>
          <a:xfrm>
            <a:off x="4800600" y="1344168"/>
            <a:ext cx="6035040" cy="411480"/>
          </a:xfrm>
          <a:prstGeom prst="rect">
            <a:avLst/>
          </a:prstGeom>
          <a:noFill/>
        </p:spPr>
        <p:txBody>
          <a:bodyPr wrap="none">
            <a:spAutoFit/>
          </a:bodyPr>
          <a:lstStyle/>
          <a:p>
            <a:pPr>
              <a:defRPr sz="1500">
                <a:solidFill>
                  <a:srgbClr val="2D3741"/>
                </a:solidFill>
              </a:defRPr>
            </a:pPr>
            <a:r>
              <a:t>strong positive association</a:t>
            </a:r>
          </a:p>
        </p:txBody>
      </p:sp>
      <p:sp>
        <p:nvSpPr>
          <p:cNvPr id="8" name="Rounded Rectangle 7"/>
          <p:cNvSpPr/>
          <p:nvPr/>
        </p:nvSpPr>
        <p:spPr>
          <a:xfrm>
            <a:off x="731520" y="2148840"/>
            <a:ext cx="10698480" cy="713232"/>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258568"/>
            <a:ext cx="1645920" cy="411480"/>
          </a:xfrm>
          <a:prstGeom prst="rect">
            <a:avLst/>
          </a:prstGeom>
          <a:noFill/>
        </p:spPr>
        <p:txBody>
          <a:bodyPr wrap="none">
            <a:spAutoFit/>
          </a:bodyPr>
          <a:lstStyle/>
          <a:p>
            <a:pPr>
              <a:defRPr sz="1600" b="1">
                <a:solidFill>
                  <a:srgbClr val="182A40"/>
                </a:solidFill>
              </a:defRPr>
            </a:pPr>
            <a:r>
              <a:t>G1</a:t>
            </a:r>
          </a:p>
        </p:txBody>
      </p:sp>
      <p:sp>
        <p:nvSpPr>
          <p:cNvPr id="10" name="TextBox 9"/>
          <p:cNvSpPr txBox="1"/>
          <p:nvPr/>
        </p:nvSpPr>
        <p:spPr>
          <a:xfrm>
            <a:off x="2834640" y="2258568"/>
            <a:ext cx="1828800" cy="411480"/>
          </a:xfrm>
          <a:prstGeom prst="rect">
            <a:avLst/>
          </a:prstGeom>
          <a:noFill/>
        </p:spPr>
        <p:txBody>
          <a:bodyPr wrap="none">
            <a:spAutoFit/>
          </a:bodyPr>
          <a:lstStyle/>
          <a:p>
            <a:pPr>
              <a:defRPr sz="1600" b="1">
                <a:solidFill>
                  <a:srgbClr val="1E787D"/>
                </a:solidFill>
              </a:defRPr>
            </a:pPr>
            <a:r>
              <a:t>r = 0.83</a:t>
            </a:r>
          </a:p>
        </p:txBody>
      </p:sp>
      <p:sp>
        <p:nvSpPr>
          <p:cNvPr id="11" name="TextBox 10"/>
          <p:cNvSpPr txBox="1"/>
          <p:nvPr/>
        </p:nvSpPr>
        <p:spPr>
          <a:xfrm>
            <a:off x="4800600" y="2258568"/>
            <a:ext cx="6035040" cy="411480"/>
          </a:xfrm>
          <a:prstGeom prst="rect">
            <a:avLst/>
          </a:prstGeom>
          <a:noFill/>
        </p:spPr>
        <p:txBody>
          <a:bodyPr wrap="none">
            <a:spAutoFit/>
          </a:bodyPr>
          <a:lstStyle/>
          <a:p>
            <a:pPr>
              <a:defRPr sz="1500">
                <a:solidFill>
                  <a:srgbClr val="2D3741"/>
                </a:solidFill>
              </a:defRPr>
            </a:pPr>
            <a:r>
              <a:t>strong positive association</a:t>
            </a:r>
          </a:p>
        </p:txBody>
      </p:sp>
      <p:sp>
        <p:nvSpPr>
          <p:cNvPr id="12" name="Rounded Rectangle 11"/>
          <p:cNvSpPr/>
          <p:nvPr/>
        </p:nvSpPr>
        <p:spPr>
          <a:xfrm>
            <a:off x="731520" y="3063240"/>
            <a:ext cx="10698480" cy="713232"/>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3172968"/>
            <a:ext cx="1645920" cy="411480"/>
          </a:xfrm>
          <a:prstGeom prst="rect">
            <a:avLst/>
          </a:prstGeom>
          <a:noFill/>
        </p:spPr>
        <p:txBody>
          <a:bodyPr wrap="none">
            <a:spAutoFit/>
          </a:bodyPr>
          <a:lstStyle/>
          <a:p>
            <a:pPr>
              <a:defRPr sz="1600" b="1">
                <a:solidFill>
                  <a:srgbClr val="182A40"/>
                </a:solidFill>
              </a:defRPr>
            </a:pPr>
            <a:r>
              <a:t>Failures</a:t>
            </a:r>
          </a:p>
        </p:txBody>
      </p:sp>
      <p:sp>
        <p:nvSpPr>
          <p:cNvPr id="14" name="TextBox 13"/>
          <p:cNvSpPr txBox="1"/>
          <p:nvPr/>
        </p:nvSpPr>
        <p:spPr>
          <a:xfrm>
            <a:off x="2834640" y="3172968"/>
            <a:ext cx="1828800" cy="411480"/>
          </a:xfrm>
          <a:prstGeom prst="rect">
            <a:avLst/>
          </a:prstGeom>
          <a:noFill/>
        </p:spPr>
        <p:txBody>
          <a:bodyPr wrap="none">
            <a:spAutoFit/>
          </a:bodyPr>
          <a:lstStyle/>
          <a:p>
            <a:pPr>
              <a:defRPr sz="1600" b="1">
                <a:solidFill>
                  <a:srgbClr val="1E787D"/>
                </a:solidFill>
              </a:defRPr>
            </a:pPr>
            <a:r>
              <a:t>r = -0.39</a:t>
            </a:r>
          </a:p>
        </p:txBody>
      </p:sp>
      <p:sp>
        <p:nvSpPr>
          <p:cNvPr id="15" name="TextBox 14"/>
          <p:cNvSpPr txBox="1"/>
          <p:nvPr/>
        </p:nvSpPr>
        <p:spPr>
          <a:xfrm>
            <a:off x="4800600" y="3172968"/>
            <a:ext cx="6035040" cy="411480"/>
          </a:xfrm>
          <a:prstGeom prst="rect">
            <a:avLst/>
          </a:prstGeom>
          <a:noFill/>
        </p:spPr>
        <p:txBody>
          <a:bodyPr wrap="none">
            <a:spAutoFit/>
          </a:bodyPr>
          <a:lstStyle/>
          <a:p>
            <a:pPr>
              <a:defRPr sz="1500">
                <a:solidFill>
                  <a:srgbClr val="2D3741"/>
                </a:solidFill>
              </a:defRPr>
            </a:pPr>
            <a:r>
              <a:t>moderate negative association</a:t>
            </a:r>
          </a:p>
        </p:txBody>
      </p:sp>
      <p:sp>
        <p:nvSpPr>
          <p:cNvPr id="16" name="Rounded Rectangle 15"/>
          <p:cNvSpPr/>
          <p:nvPr/>
        </p:nvSpPr>
        <p:spPr>
          <a:xfrm>
            <a:off x="731520" y="3977639"/>
            <a:ext cx="10698480" cy="713232"/>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4087368"/>
            <a:ext cx="1645920" cy="411480"/>
          </a:xfrm>
          <a:prstGeom prst="rect">
            <a:avLst/>
          </a:prstGeom>
          <a:noFill/>
        </p:spPr>
        <p:txBody>
          <a:bodyPr wrap="none">
            <a:spAutoFit/>
          </a:bodyPr>
          <a:lstStyle/>
          <a:p>
            <a:pPr>
              <a:defRPr sz="1600" b="1">
                <a:solidFill>
                  <a:srgbClr val="182A40"/>
                </a:solidFill>
              </a:defRPr>
            </a:pPr>
            <a:r>
              <a:t>Study time</a:t>
            </a:r>
          </a:p>
        </p:txBody>
      </p:sp>
      <p:sp>
        <p:nvSpPr>
          <p:cNvPr id="18" name="TextBox 17"/>
          <p:cNvSpPr txBox="1"/>
          <p:nvPr/>
        </p:nvSpPr>
        <p:spPr>
          <a:xfrm>
            <a:off x="2834640" y="4087368"/>
            <a:ext cx="1828800" cy="411480"/>
          </a:xfrm>
          <a:prstGeom prst="rect">
            <a:avLst/>
          </a:prstGeom>
          <a:noFill/>
        </p:spPr>
        <p:txBody>
          <a:bodyPr wrap="none">
            <a:spAutoFit/>
          </a:bodyPr>
          <a:lstStyle/>
          <a:p>
            <a:pPr>
              <a:defRPr sz="1600" b="1">
                <a:solidFill>
                  <a:srgbClr val="1E787D"/>
                </a:solidFill>
              </a:defRPr>
            </a:pPr>
            <a:r>
              <a:t>r = 0.25</a:t>
            </a:r>
          </a:p>
        </p:txBody>
      </p:sp>
      <p:sp>
        <p:nvSpPr>
          <p:cNvPr id="19" name="TextBox 18"/>
          <p:cNvSpPr txBox="1"/>
          <p:nvPr/>
        </p:nvSpPr>
        <p:spPr>
          <a:xfrm>
            <a:off x="4800600" y="4087368"/>
            <a:ext cx="6035040" cy="411480"/>
          </a:xfrm>
          <a:prstGeom prst="rect">
            <a:avLst/>
          </a:prstGeom>
          <a:noFill/>
        </p:spPr>
        <p:txBody>
          <a:bodyPr wrap="none">
            <a:spAutoFit/>
          </a:bodyPr>
          <a:lstStyle/>
          <a:p>
            <a:pPr>
              <a:defRPr sz="1500">
                <a:solidFill>
                  <a:srgbClr val="2D3741"/>
                </a:solidFill>
              </a:defRPr>
            </a:pPr>
            <a:r>
              <a:t>weak-to-moderate positive association</a:t>
            </a:r>
          </a:p>
        </p:txBody>
      </p:sp>
      <p:sp>
        <p:nvSpPr>
          <p:cNvPr id="20" name="Rounded Rectangle 19"/>
          <p:cNvSpPr/>
          <p:nvPr/>
        </p:nvSpPr>
        <p:spPr>
          <a:xfrm>
            <a:off x="731520" y="4892040"/>
            <a:ext cx="10698480" cy="713232"/>
          </a:xfrm>
          <a:prstGeom prst="roundRect">
            <a:avLst/>
          </a:prstGeom>
          <a:solidFill>
            <a:srgbClr val="FFFFFF"/>
          </a:solidFill>
          <a:ln>
            <a:solidFill>
              <a:srgbClr val="E8F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5001768"/>
            <a:ext cx="1645920" cy="411480"/>
          </a:xfrm>
          <a:prstGeom prst="rect">
            <a:avLst/>
          </a:prstGeom>
          <a:noFill/>
        </p:spPr>
        <p:txBody>
          <a:bodyPr wrap="none">
            <a:spAutoFit/>
          </a:bodyPr>
          <a:lstStyle/>
          <a:p>
            <a:pPr>
              <a:defRPr sz="1600" b="1">
                <a:solidFill>
                  <a:srgbClr val="182A40"/>
                </a:solidFill>
              </a:defRPr>
            </a:pPr>
            <a:r>
              <a:t>Absences</a:t>
            </a:r>
          </a:p>
        </p:txBody>
      </p:sp>
      <p:sp>
        <p:nvSpPr>
          <p:cNvPr id="22" name="TextBox 21"/>
          <p:cNvSpPr txBox="1"/>
          <p:nvPr/>
        </p:nvSpPr>
        <p:spPr>
          <a:xfrm>
            <a:off x="2834640" y="5001768"/>
            <a:ext cx="1828800" cy="411480"/>
          </a:xfrm>
          <a:prstGeom prst="rect">
            <a:avLst/>
          </a:prstGeom>
          <a:noFill/>
        </p:spPr>
        <p:txBody>
          <a:bodyPr wrap="none">
            <a:spAutoFit/>
          </a:bodyPr>
          <a:lstStyle/>
          <a:p>
            <a:pPr>
              <a:defRPr sz="1600" b="1">
                <a:solidFill>
                  <a:srgbClr val="1E787D"/>
                </a:solidFill>
              </a:defRPr>
            </a:pPr>
            <a:r>
              <a:t>r = -0.09</a:t>
            </a:r>
          </a:p>
        </p:txBody>
      </p:sp>
      <p:sp>
        <p:nvSpPr>
          <p:cNvPr id="23" name="TextBox 22"/>
          <p:cNvSpPr txBox="1"/>
          <p:nvPr/>
        </p:nvSpPr>
        <p:spPr>
          <a:xfrm>
            <a:off x="4800600" y="5001768"/>
            <a:ext cx="6035040" cy="411480"/>
          </a:xfrm>
          <a:prstGeom prst="rect">
            <a:avLst/>
          </a:prstGeom>
          <a:noFill/>
        </p:spPr>
        <p:txBody>
          <a:bodyPr wrap="none">
            <a:spAutoFit/>
          </a:bodyPr>
          <a:lstStyle/>
          <a:p>
            <a:pPr>
              <a:defRPr sz="1500">
                <a:solidFill>
                  <a:srgbClr val="2D3741"/>
                </a:solidFill>
              </a:defRPr>
            </a:pPr>
            <a:r>
              <a:t>weak negative association</a:t>
            </a:r>
          </a:p>
        </p:txBody>
      </p:sp>
      <p:sp>
        <p:nvSpPr>
          <p:cNvPr id="24" name="Rounded Rectangle 23"/>
          <p:cNvSpPr/>
          <p:nvPr/>
        </p:nvSpPr>
        <p:spPr>
          <a:xfrm>
            <a:off x="685800" y="5440680"/>
            <a:ext cx="10789920" cy="685800"/>
          </a:xfrm>
          <a:prstGeom prst="round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0392" y="5550408"/>
            <a:ext cx="10460736" cy="502920"/>
          </a:xfrm>
          <a:prstGeom prst="rect">
            <a:avLst/>
          </a:prstGeom>
          <a:noFill/>
        </p:spPr>
        <p:txBody>
          <a:bodyPr wrap="none">
            <a:spAutoFit/>
          </a:bodyPr>
          <a:lstStyle/>
          <a:p>
            <a:pPr>
              <a:defRPr sz="1200">
                <a:solidFill>
                  <a:srgbClr val="2D3741"/>
                </a:solidFill>
              </a:defRPr>
            </a:pPr>
            <a:r>
              <a:t>Correlation ranges from −1 to +1. It measures association, not causation.</a:t>
            </a:r>
          </a:p>
        </p:txBody>
      </p:sp>
      <p:sp>
        <p:nvSpPr>
          <p:cNvPr id="26" name="Rectangle 25"/>
          <p:cNvSpPr/>
          <p:nvPr/>
        </p:nvSpPr>
        <p:spPr>
          <a:xfrm>
            <a:off x="594360" y="6473952"/>
            <a:ext cx="10972800" cy="18288"/>
          </a:xfrm>
          <a:prstGeom prst="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6510528"/>
            <a:ext cx="10972800" cy="228600"/>
          </a:xfrm>
          <a:prstGeom prst="rect">
            <a:avLst/>
          </a:prstGeom>
          <a:noFill/>
        </p:spPr>
        <p:txBody>
          <a:bodyPr wrap="none">
            <a:spAutoFit/>
          </a:bodyPr>
          <a:lstStyle/>
          <a:p>
            <a:pPr>
              <a:defRPr sz="800">
                <a:solidFill>
                  <a:srgbClr val="646E78"/>
                </a:solidFill>
              </a:defRPr>
            </a:pPr>
            <a:r>
              <a:t>Student Performance Data Analysis  |  Assessment Task 2                         B3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94360" y="320040"/>
            <a:ext cx="11000232" cy="731520"/>
          </a:xfrm>
          <a:prstGeom prst="rect">
            <a:avLst/>
          </a:prstGeom>
          <a:noFill/>
          <a:ln/>
        </p:spPr>
        <p:txBody>
          <a:bodyPr wrap="square" lIns="0" tIns="0" rIns="0" bIns="0" rtlCol="0" anchor="ctr"/>
          <a:lstStyle/>
          <a:p>
            <a:pPr algn="ctr" indent="0" marL="0">
              <a:buNone/>
            </a:pPr>
            <a:r>
              <a:rPr lang="en-US" sz="2800" b="1" dirty="0">
                <a:solidFill>
                  <a:srgbClr val="182A40"/>
                </a:solidFill>
                <a:latin typeface="Calibri" pitchFamily="34" charset="0"/>
                <a:ea typeface="Calibri" pitchFamily="34" charset="-122"/>
                <a:cs typeface="Calibri" pitchFamily="34" charset="-120"/>
              </a:rPr>
              <a:t>9. Regression: Factors Associated with Higher or Lower Predicted Grades</a:t>
            </a:r>
            <a:endParaRPr lang="en-US" sz="2800" dirty="0"/>
          </a:p>
        </p:txBody>
      </p:sp>
      <p:sp>
        <p:nvSpPr>
          <p:cNvPr id="3" name="Shape 1"/>
          <p:cNvSpPr/>
          <p:nvPr/>
        </p:nvSpPr>
        <p:spPr>
          <a:xfrm>
            <a:off x="685800" y="5440680"/>
            <a:ext cx="10789920" cy="658368"/>
          </a:xfrm>
          <a:prstGeom prst="roundRect">
            <a:avLst>
              <a:gd name="adj" fmla="val 13889"/>
            </a:avLst>
          </a:prstGeom>
          <a:solidFill>
            <a:srgbClr val="E8F0F2"/>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4" name="Text 2"/>
          <p:cNvSpPr txBox="1"/>
          <p:nvPr/>
        </p:nvSpPr>
        <p:spPr>
          <a:xfrm>
            <a:off x="868680" y="5440680"/>
            <a:ext cx="10424160" cy="658368"/>
          </a:xfrm>
          <a:prstGeom prst="rect">
            <a:avLst/>
          </a:prstGeom>
          <a:noFill/>
          <a:ln/>
        </p:spPr>
        <p:txBody>
          <a:bodyPr wrap="square" lIns="0" tIns="0" rIns="0" bIns="0" rtlCol="0" anchor="ctr"/>
          <a:lstStyle/>
          <a:p>
            <a:pPr algn="ctr" indent="0" marL="0">
              <a:buNone/>
            </a:pPr>
            <a:r>
              <a:rPr lang="en-US" sz="1200" dirty="0">
                <a:solidFill>
                  <a:srgbClr val="2D3741"/>
                </a:solidFill>
                <a:latin typeface="Calibri" pitchFamily="34" charset="0"/>
                <a:ea typeface="Calibri" pitchFamily="34" charset="-122"/>
                <a:cs typeface="Calibri" pitchFamily="34" charset="-120"/>
              </a:rPr>
              <a:t>These are adjusted associations, not causal effects. 11.2 is the model intercept, not the average starting grade for every student (class average = 11.9).</a:t>
            </a:r>
            <a:endParaRPr lang="en-US" sz="1200" dirty="0"/>
          </a:p>
        </p:txBody>
      </p:sp>
      <p:sp>
        <p:nvSpPr>
          <p:cNvPr id="5" name="Shape 3"/>
          <p:cNvSpPr/>
          <p:nvPr/>
        </p:nvSpPr>
        <p:spPr>
          <a:xfrm>
            <a:off x="594360" y="6473952"/>
            <a:ext cx="10972800" cy="18288"/>
          </a:xfrm>
          <a:prstGeom prst="rect">
            <a:avLst/>
          </a:prstGeom>
          <a:solidFill>
            <a:srgbClr val="E8F0F2"/>
          </a:solidFill>
          <a:ln w="12700">
            <a:solidFill>
              <a:srgbClr val="E8F0F2"/>
            </a:solidFill>
            <a:prstDash val="solid"/>
          </a:ln>
        </p:spPr>
      </p:sp>
      <p:sp>
        <p:nvSpPr>
          <p:cNvPr id="6" name="Text 4"/>
          <p:cNvSpPr txBox="1"/>
          <p:nvPr/>
        </p:nvSpPr>
        <p:spPr>
          <a:xfrm>
            <a:off x="594360" y="6510528"/>
            <a:ext cx="10972800" cy="228600"/>
          </a:xfrm>
          <a:prstGeom prst="rect">
            <a:avLst/>
          </a:prstGeom>
          <a:noFill/>
          <a:ln/>
        </p:spPr>
        <p:txBody>
          <a:bodyPr wrap="square" lIns="0" tIns="0" rIns="0" bIns="0" rtlCol="0" anchor="ctr"/>
          <a:lstStyle/>
          <a:p>
            <a:pPr algn="ctr" indent="0" marL="0">
              <a:buNone/>
            </a:pPr>
            <a:r>
              <a:rPr lang="en-US" sz="800" dirty="0">
                <a:solidFill>
                  <a:srgbClr val="646E78"/>
                </a:solidFill>
                <a:latin typeface="Calibri" pitchFamily="34" charset="0"/>
                <a:ea typeface="Calibri" pitchFamily="34" charset="-122"/>
                <a:cs typeface="Calibri" pitchFamily="34" charset="-120"/>
              </a:rPr>
              <a:t>Student Performance Data Analysis  |  Assessment Task 2                         10</a:t>
            </a:r>
            <a:endParaRPr lang="en-US" sz="800" dirty="0"/>
          </a:p>
        </p:txBody>
      </p:sp>
      <p:sp>
        <p:nvSpPr>
          <p:cNvPr id="7" name="Text 5"/>
          <p:cNvSpPr txBox="1"/>
          <p:nvPr/>
        </p:nvSpPr>
        <p:spPr>
          <a:xfrm>
            <a:off x="685800" y="1143000"/>
            <a:ext cx="10789920" cy="365760"/>
          </a:xfrm>
          <a:prstGeom prst="rect">
            <a:avLst/>
          </a:prstGeom>
          <a:noFill/>
          <a:ln/>
        </p:spPr>
        <p:txBody>
          <a:bodyPr wrap="square" lIns="0" tIns="0" rIns="0" bIns="0" rtlCol="0" anchor="ctr"/>
          <a:lstStyle/>
          <a:p>
            <a:pPr algn="ctr" indent="0" marL="0">
              <a:buNone/>
            </a:pPr>
            <a:r>
              <a:rPr lang="en-US" sz="1500" dirty="0">
                <a:solidFill>
                  <a:srgbClr val="2D3741"/>
                </a:solidFill>
                <a:latin typeface="Calibri" pitchFamily="34" charset="0"/>
                <a:ea typeface="Calibri" pitchFamily="34" charset="-122"/>
                <a:cs typeface="Calibri" pitchFamily="34" charset="-120"/>
              </a:rPr>
              <a:t>The model estimates how predicted G3 differs across these factors while holding the other included variables constant.</a:t>
            </a:r>
            <a:endParaRPr lang="en-US" sz="1500" dirty="0"/>
          </a:p>
        </p:txBody>
      </p:sp>
      <p:sp>
        <p:nvSpPr>
          <p:cNvPr id="8" name="Shape 6"/>
          <p:cNvSpPr/>
          <p:nvPr/>
        </p:nvSpPr>
        <p:spPr>
          <a:xfrm>
            <a:off x="685800" y="1691640"/>
            <a:ext cx="10789920" cy="3520440"/>
          </a:xfrm>
          <a:prstGeom prst="roundRect">
            <a:avLst>
              <a:gd name="adj" fmla="val 2078"/>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9" name="Shape 7"/>
          <p:cNvSpPr/>
          <p:nvPr/>
        </p:nvSpPr>
        <p:spPr>
          <a:xfrm>
            <a:off x="7315200" y="1920240"/>
            <a:ext cx="0" cy="3063240"/>
          </a:xfrm>
          <a:prstGeom prst="line">
            <a:avLst/>
          </a:prstGeom>
          <a:noFill/>
          <a:ln w="12700">
            <a:solidFill>
              <a:srgbClr val="9AA5B1"/>
            </a:solidFill>
            <a:prstDash val="solid"/>
          </a:ln>
        </p:spPr>
      </p:sp>
      <p:sp>
        <p:nvSpPr>
          <p:cNvPr id="10" name="Text 8"/>
          <p:cNvSpPr txBox="1"/>
          <p:nvPr/>
        </p:nvSpPr>
        <p:spPr>
          <a:xfrm>
            <a:off x="4937760" y="1737360"/>
            <a:ext cx="2286000" cy="228600"/>
          </a:xfrm>
          <a:prstGeom prst="rect">
            <a:avLst/>
          </a:prstGeom>
          <a:noFill/>
          <a:ln/>
        </p:spPr>
        <p:txBody>
          <a:bodyPr wrap="square" lIns="0" tIns="0" rIns="0" bIns="0" rtlCol="0" anchor="ctr"/>
          <a:lstStyle/>
          <a:p>
            <a:pPr algn="r" indent="0" marL="0">
              <a:buNone/>
            </a:pPr>
            <a:r>
              <a:rPr lang="en-US" sz="1100" b="1" dirty="0">
                <a:solidFill>
                  <a:srgbClr val="D9640E"/>
                </a:solidFill>
                <a:latin typeface="Calibri" pitchFamily="34" charset="0"/>
                <a:ea typeface="Calibri" pitchFamily="34" charset="-122"/>
                <a:cs typeface="Calibri" pitchFamily="34" charset="-120"/>
              </a:rPr>
              <a:t>lower predicted G3</a:t>
            </a:r>
            <a:endParaRPr lang="en-US" sz="1100" dirty="0"/>
          </a:p>
        </p:txBody>
      </p:sp>
      <p:sp>
        <p:nvSpPr>
          <p:cNvPr id="11" name="Text 9"/>
          <p:cNvSpPr txBox="1"/>
          <p:nvPr/>
        </p:nvSpPr>
        <p:spPr>
          <a:xfrm>
            <a:off x="7406640" y="1737360"/>
            <a:ext cx="2286000" cy="228600"/>
          </a:xfrm>
          <a:prstGeom prst="rect">
            <a:avLst/>
          </a:prstGeom>
          <a:noFill/>
          <a:ln/>
        </p:spPr>
        <p:txBody>
          <a:bodyPr wrap="square" lIns="0" tIns="0" rIns="0" bIns="0" rtlCol="0" anchor="ctr"/>
          <a:lstStyle/>
          <a:p>
            <a:pPr indent="0" marL="0">
              <a:buNone/>
            </a:pPr>
            <a:r>
              <a:rPr lang="en-US" sz="1100" b="1" dirty="0">
                <a:solidFill>
                  <a:srgbClr val="1F77B4"/>
                </a:solidFill>
                <a:latin typeface="Calibri" pitchFamily="34" charset="0"/>
                <a:ea typeface="Calibri" pitchFamily="34" charset="-122"/>
                <a:cs typeface="Calibri" pitchFamily="34" charset="-120"/>
              </a:rPr>
              <a:t>higher predicted G3</a:t>
            </a:r>
            <a:endParaRPr lang="en-US" sz="1100" dirty="0"/>
          </a:p>
        </p:txBody>
      </p:sp>
      <p:sp>
        <p:nvSpPr>
          <p:cNvPr id="12" name="Shape 10"/>
          <p:cNvSpPr/>
          <p:nvPr/>
        </p:nvSpPr>
        <p:spPr>
          <a:xfrm>
            <a:off x="1005840" y="2048256"/>
            <a:ext cx="438912" cy="438912"/>
          </a:xfrm>
          <a:prstGeom prst="ellipse">
            <a:avLst/>
          </a:prstGeom>
          <a:solidFill>
            <a:srgbClr val="1F77B4"/>
          </a:solidFill>
          <a:ln w="12700">
            <a:solidFill>
              <a:srgbClr val="1F77B4"/>
            </a:solidFill>
            <a:prstDash val="solid"/>
          </a:ln>
        </p:spPr>
      </p:sp>
      <p:pic>
        <p:nvPicPr>
          <p:cNvPr id="13" name="Image 0" descr="icon_uni.png">    </p:cNvPr>
          <p:cNvPicPr>
            <a:picLocks noChangeAspect="1"/>
          </p:cNvPicPr>
          <p:nvPr/>
        </p:nvPicPr>
        <p:blipFill>
          <a:blip r:embed="rId1"/>
          <a:stretch>
            <a:fillRect/>
          </a:stretch>
        </p:blipFill>
        <p:spPr>
          <a:xfrm>
            <a:off x="1106424" y="2148840"/>
            <a:ext cx="237744" cy="237744"/>
          </a:xfrm>
          <a:prstGeom prst="rect">
            <a:avLst/>
          </a:prstGeom>
        </p:spPr>
      </p:pic>
      <p:sp>
        <p:nvSpPr>
          <p:cNvPr id="14" name="Text 11"/>
          <p:cNvSpPr txBox="1"/>
          <p:nvPr/>
        </p:nvSpPr>
        <p:spPr>
          <a:xfrm>
            <a:off x="1600200" y="1984248"/>
            <a:ext cx="3931920" cy="566928"/>
          </a:xfrm>
          <a:prstGeom prst="rect">
            <a:avLst/>
          </a:prstGeom>
          <a:noFill/>
          <a:ln/>
        </p:spPr>
        <p:txBody>
          <a:bodyPr wrap="square" lIns="0" tIns="0" rIns="0" bIns="0" rtlCol="0" anchor="ctr"/>
          <a:lstStyle/>
          <a:p>
            <a:pPr indent="0" marL="0">
              <a:buNone/>
            </a:pPr>
            <a:r>
              <a:rPr lang="en-US" sz="1500" b="1" dirty="0">
                <a:solidFill>
                  <a:srgbClr val="182A40"/>
                </a:solidFill>
                <a:latin typeface="Calibri" pitchFamily="34" charset="0"/>
                <a:ea typeface="Calibri" pitchFamily="34" charset="-122"/>
                <a:cs typeface="Calibri" pitchFamily="34" charset="-120"/>
              </a:rPr>
              <a:t>University aspiration</a:t>
            </a:r>
            <a:endParaRPr lang="en-US" sz="1500" dirty="0"/>
          </a:p>
          <a:p>
            <a:pPr indent="0" marL="0">
              <a:buNone/>
            </a:pPr>
            <a:r>
              <a:rPr lang="en-US" sz="1100" dirty="0">
                <a:solidFill>
                  <a:srgbClr val="646E78"/>
                </a:solidFill>
                <a:latin typeface="Calibri" pitchFamily="34" charset="0"/>
                <a:ea typeface="Calibri" pitchFamily="34" charset="-122"/>
                <a:cs typeface="Calibri" pitchFamily="34" charset="-120"/>
              </a:rPr>
              <a:t>wants to go to university (yes vs no)</a:t>
            </a:r>
            <a:endParaRPr lang="en-US" sz="1500" dirty="0"/>
          </a:p>
        </p:txBody>
      </p:sp>
      <p:sp>
        <p:nvSpPr>
          <p:cNvPr id="15" name="Shape 12"/>
          <p:cNvSpPr/>
          <p:nvPr/>
        </p:nvSpPr>
        <p:spPr>
          <a:xfrm>
            <a:off x="7315200" y="2075688"/>
            <a:ext cx="2720340" cy="384048"/>
          </a:xfrm>
          <a:prstGeom prst="rect">
            <a:avLst/>
          </a:prstGeom>
          <a:solidFill>
            <a:srgbClr val="1F77B4"/>
          </a:solidFill>
          <a:ln w="12700">
            <a:solidFill>
              <a:srgbClr val="1F77B4"/>
            </a:solidFill>
            <a:prstDash val="solid"/>
          </a:ln>
        </p:spPr>
      </p:sp>
      <p:sp>
        <p:nvSpPr>
          <p:cNvPr id="16" name="Text 13"/>
          <p:cNvSpPr txBox="1"/>
          <p:nvPr/>
        </p:nvSpPr>
        <p:spPr>
          <a:xfrm>
            <a:off x="10108692" y="2066544"/>
            <a:ext cx="822960" cy="402336"/>
          </a:xfrm>
          <a:prstGeom prst="rect">
            <a:avLst/>
          </a:prstGeom>
          <a:noFill/>
          <a:ln/>
        </p:spPr>
        <p:txBody>
          <a:bodyPr wrap="square" lIns="0" tIns="0" rIns="0" bIns="0" rtlCol="0" anchor="ctr"/>
          <a:lstStyle/>
          <a:p>
            <a:pPr algn="l" indent="0" marL="0">
              <a:buNone/>
            </a:pPr>
            <a:r>
              <a:rPr lang="en-US" sz="1800" b="1" dirty="0">
                <a:solidFill>
                  <a:srgbClr val="1F77B4"/>
                </a:solidFill>
                <a:latin typeface="Calibri" pitchFamily="34" charset="0"/>
                <a:ea typeface="Calibri" pitchFamily="34" charset="-122"/>
                <a:cs typeface="Calibri" pitchFamily="34" charset="-120"/>
              </a:rPr>
              <a:t>+1.7</a:t>
            </a:r>
            <a:endParaRPr lang="en-US" sz="1800" dirty="0"/>
          </a:p>
        </p:txBody>
      </p:sp>
      <p:sp>
        <p:nvSpPr>
          <p:cNvPr id="17" name="Shape 14"/>
          <p:cNvSpPr/>
          <p:nvPr/>
        </p:nvSpPr>
        <p:spPr>
          <a:xfrm>
            <a:off x="1005840" y="2651760"/>
            <a:ext cx="438912" cy="438912"/>
          </a:xfrm>
          <a:prstGeom prst="ellipse">
            <a:avLst/>
          </a:prstGeom>
          <a:solidFill>
            <a:srgbClr val="1F77B4"/>
          </a:solidFill>
          <a:ln w="12700">
            <a:solidFill>
              <a:srgbClr val="1F77B4"/>
            </a:solidFill>
            <a:prstDash val="solid"/>
          </a:ln>
        </p:spPr>
      </p:sp>
      <p:pic>
        <p:nvPicPr>
          <p:cNvPr id="18" name="Image 1" descr="icon_study.png">    </p:cNvPr>
          <p:cNvPicPr>
            <a:picLocks noChangeAspect="1"/>
          </p:cNvPicPr>
          <p:nvPr/>
        </p:nvPicPr>
        <p:blipFill>
          <a:blip r:embed="rId2"/>
          <a:stretch>
            <a:fillRect/>
          </a:stretch>
        </p:blipFill>
        <p:spPr>
          <a:xfrm>
            <a:off x="1106424" y="2752344"/>
            <a:ext cx="237744" cy="237744"/>
          </a:xfrm>
          <a:prstGeom prst="rect">
            <a:avLst/>
          </a:prstGeom>
        </p:spPr>
      </p:pic>
      <p:sp>
        <p:nvSpPr>
          <p:cNvPr id="19" name="Text 15"/>
          <p:cNvSpPr txBox="1"/>
          <p:nvPr/>
        </p:nvSpPr>
        <p:spPr>
          <a:xfrm>
            <a:off x="1600200" y="2587752"/>
            <a:ext cx="3931920" cy="566928"/>
          </a:xfrm>
          <a:prstGeom prst="rect">
            <a:avLst/>
          </a:prstGeom>
          <a:noFill/>
          <a:ln/>
        </p:spPr>
        <p:txBody>
          <a:bodyPr wrap="square" lIns="0" tIns="0" rIns="0" bIns="0" rtlCol="0" anchor="ctr"/>
          <a:lstStyle/>
          <a:p>
            <a:pPr indent="0" marL="0">
              <a:buNone/>
            </a:pPr>
            <a:r>
              <a:rPr lang="en-US" sz="1500" b="1" dirty="0">
                <a:solidFill>
                  <a:srgbClr val="182A40"/>
                </a:solidFill>
                <a:latin typeface="Calibri" pitchFamily="34" charset="0"/>
                <a:ea typeface="Calibri" pitchFamily="34" charset="-122"/>
                <a:cs typeface="Calibri" pitchFamily="34" charset="-120"/>
              </a:rPr>
              <a:t>Each higher study-time category</a:t>
            </a:r>
            <a:endParaRPr lang="en-US" sz="1500" dirty="0"/>
          </a:p>
          <a:p>
            <a:pPr indent="0" marL="0">
              <a:buNone/>
            </a:pPr>
            <a:r>
              <a:rPr lang="en-US" sz="1100" dirty="0">
                <a:solidFill>
                  <a:srgbClr val="646E78"/>
                </a:solidFill>
                <a:latin typeface="Calibri" pitchFamily="34" charset="0"/>
                <a:ea typeface="Calibri" pitchFamily="34" charset="-122"/>
                <a:cs typeface="Calibri" pitchFamily="34" charset="-120"/>
              </a:rPr>
              <a:t>&lt;2 h → 2–5 h → 5–10 h → &gt;10 h</a:t>
            </a:r>
            <a:endParaRPr lang="en-US" sz="1500" dirty="0"/>
          </a:p>
        </p:txBody>
      </p:sp>
      <p:sp>
        <p:nvSpPr>
          <p:cNvPr id="20" name="Shape 16"/>
          <p:cNvSpPr/>
          <p:nvPr/>
        </p:nvSpPr>
        <p:spPr>
          <a:xfrm>
            <a:off x="7315200" y="2679192"/>
            <a:ext cx="800100" cy="384048"/>
          </a:xfrm>
          <a:prstGeom prst="rect">
            <a:avLst/>
          </a:prstGeom>
          <a:solidFill>
            <a:srgbClr val="1F77B4"/>
          </a:solidFill>
          <a:ln w="12700">
            <a:solidFill>
              <a:srgbClr val="1F77B4"/>
            </a:solidFill>
            <a:prstDash val="solid"/>
          </a:ln>
        </p:spPr>
      </p:sp>
      <p:sp>
        <p:nvSpPr>
          <p:cNvPr id="21" name="Text 17"/>
          <p:cNvSpPr txBox="1"/>
          <p:nvPr/>
        </p:nvSpPr>
        <p:spPr>
          <a:xfrm>
            <a:off x="8188452" y="2670048"/>
            <a:ext cx="822960" cy="402336"/>
          </a:xfrm>
          <a:prstGeom prst="rect">
            <a:avLst/>
          </a:prstGeom>
          <a:noFill/>
          <a:ln/>
        </p:spPr>
        <p:txBody>
          <a:bodyPr wrap="square" lIns="0" tIns="0" rIns="0" bIns="0" rtlCol="0" anchor="ctr"/>
          <a:lstStyle/>
          <a:p>
            <a:pPr algn="l" indent="0" marL="0">
              <a:buNone/>
            </a:pPr>
            <a:r>
              <a:rPr lang="en-US" sz="1800" b="1" dirty="0">
                <a:solidFill>
                  <a:srgbClr val="1F77B4"/>
                </a:solidFill>
                <a:latin typeface="Calibri" pitchFamily="34" charset="0"/>
                <a:ea typeface="Calibri" pitchFamily="34" charset="-122"/>
                <a:cs typeface="Calibri" pitchFamily="34" charset="-120"/>
              </a:rPr>
              <a:t>+0.5</a:t>
            </a:r>
            <a:endParaRPr lang="en-US" sz="1800" dirty="0"/>
          </a:p>
        </p:txBody>
      </p:sp>
      <p:sp>
        <p:nvSpPr>
          <p:cNvPr id="22" name="Shape 18"/>
          <p:cNvSpPr/>
          <p:nvPr/>
        </p:nvSpPr>
        <p:spPr>
          <a:xfrm>
            <a:off x="1005840" y="3255264"/>
            <a:ext cx="438912" cy="438912"/>
          </a:xfrm>
          <a:prstGeom prst="ellipse">
            <a:avLst/>
          </a:prstGeom>
          <a:solidFill>
            <a:srgbClr val="D9640E"/>
          </a:solidFill>
          <a:ln w="12700">
            <a:solidFill>
              <a:srgbClr val="D9640E"/>
            </a:solidFill>
            <a:prstDash val="solid"/>
          </a:ln>
        </p:spPr>
      </p:sp>
      <p:pic>
        <p:nvPicPr>
          <p:cNvPr id="23" name="Image 2" descr="icon_drink.png">    </p:cNvPr>
          <p:cNvPicPr>
            <a:picLocks noChangeAspect="1"/>
          </p:cNvPicPr>
          <p:nvPr/>
        </p:nvPicPr>
        <p:blipFill>
          <a:blip r:embed="rId3"/>
          <a:stretch>
            <a:fillRect/>
          </a:stretch>
        </p:blipFill>
        <p:spPr>
          <a:xfrm>
            <a:off x="1106424" y="3355848"/>
            <a:ext cx="237744" cy="237744"/>
          </a:xfrm>
          <a:prstGeom prst="rect">
            <a:avLst/>
          </a:prstGeom>
        </p:spPr>
      </p:pic>
      <p:sp>
        <p:nvSpPr>
          <p:cNvPr id="24" name="Text 19"/>
          <p:cNvSpPr txBox="1"/>
          <p:nvPr/>
        </p:nvSpPr>
        <p:spPr>
          <a:xfrm>
            <a:off x="1600200" y="3191256"/>
            <a:ext cx="3931920" cy="566928"/>
          </a:xfrm>
          <a:prstGeom prst="rect">
            <a:avLst/>
          </a:prstGeom>
          <a:noFill/>
          <a:ln/>
        </p:spPr>
        <p:txBody>
          <a:bodyPr wrap="square" lIns="0" tIns="0" rIns="0" bIns="0" rtlCol="0" anchor="ctr"/>
          <a:lstStyle/>
          <a:p>
            <a:pPr indent="0" marL="0">
              <a:buNone/>
            </a:pPr>
            <a:r>
              <a:rPr lang="en-US" sz="1500" b="1" dirty="0">
                <a:solidFill>
                  <a:srgbClr val="182A40"/>
                </a:solidFill>
                <a:latin typeface="Calibri" pitchFamily="34" charset="0"/>
                <a:ea typeface="Calibri" pitchFamily="34" charset="-122"/>
                <a:cs typeface="Calibri" pitchFamily="34" charset="-120"/>
              </a:rPr>
              <a:t>Each higher school-day drinking category</a:t>
            </a:r>
            <a:endParaRPr lang="en-US" sz="1500" dirty="0"/>
          </a:p>
          <a:p>
            <a:pPr indent="0" marL="0">
              <a:buNone/>
            </a:pPr>
            <a:r>
              <a:rPr lang="en-US" sz="1100" dirty="0">
                <a:solidFill>
                  <a:srgbClr val="646E78"/>
                </a:solidFill>
                <a:latin typeface="Calibri" pitchFamily="34" charset="0"/>
                <a:ea typeface="Calibri" pitchFamily="34" charset="-122"/>
                <a:cs typeface="Calibri" pitchFamily="34" charset="-120"/>
              </a:rPr>
              <a:t>very little (1) → very much (5)</a:t>
            </a:r>
            <a:endParaRPr lang="en-US" sz="1500" dirty="0"/>
          </a:p>
        </p:txBody>
      </p:sp>
      <p:sp>
        <p:nvSpPr>
          <p:cNvPr id="25" name="Shape 20"/>
          <p:cNvSpPr/>
          <p:nvPr/>
        </p:nvSpPr>
        <p:spPr>
          <a:xfrm>
            <a:off x="6675120" y="3282696"/>
            <a:ext cx="640080" cy="384048"/>
          </a:xfrm>
          <a:prstGeom prst="rect">
            <a:avLst/>
          </a:prstGeom>
          <a:solidFill>
            <a:srgbClr val="D9640E"/>
          </a:solidFill>
          <a:ln w="12700">
            <a:solidFill>
              <a:srgbClr val="D9640E"/>
            </a:solidFill>
            <a:prstDash val="solid"/>
          </a:ln>
        </p:spPr>
      </p:sp>
      <p:sp>
        <p:nvSpPr>
          <p:cNvPr id="26" name="Text 21"/>
          <p:cNvSpPr txBox="1"/>
          <p:nvPr/>
        </p:nvSpPr>
        <p:spPr>
          <a:xfrm>
            <a:off x="6675120" y="3273552"/>
            <a:ext cx="64008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7" name="Shape 22"/>
          <p:cNvSpPr/>
          <p:nvPr/>
        </p:nvSpPr>
        <p:spPr>
          <a:xfrm>
            <a:off x="1005840" y="3858768"/>
            <a:ext cx="438912" cy="438912"/>
          </a:xfrm>
          <a:prstGeom prst="ellipse">
            <a:avLst/>
          </a:prstGeom>
          <a:solidFill>
            <a:srgbClr val="D9640E"/>
          </a:solidFill>
          <a:ln w="12700">
            <a:solidFill>
              <a:srgbClr val="D9640E"/>
            </a:solidFill>
            <a:prstDash val="solid"/>
          </a:ln>
        </p:spPr>
      </p:sp>
      <p:pic>
        <p:nvPicPr>
          <p:cNvPr id="28" name="Image 3" descr="icon_out.png">    </p:cNvPr>
          <p:cNvPicPr>
            <a:picLocks noChangeAspect="1"/>
          </p:cNvPicPr>
          <p:nvPr/>
        </p:nvPicPr>
        <p:blipFill>
          <a:blip r:embed="rId4"/>
          <a:stretch>
            <a:fillRect/>
          </a:stretch>
        </p:blipFill>
        <p:spPr>
          <a:xfrm>
            <a:off x="1106424" y="3959352"/>
            <a:ext cx="237744" cy="237744"/>
          </a:xfrm>
          <a:prstGeom prst="rect">
            <a:avLst/>
          </a:prstGeom>
        </p:spPr>
      </p:pic>
      <p:sp>
        <p:nvSpPr>
          <p:cNvPr id="29" name="Text 23"/>
          <p:cNvSpPr txBox="1"/>
          <p:nvPr/>
        </p:nvSpPr>
        <p:spPr>
          <a:xfrm>
            <a:off x="1600200" y="3794760"/>
            <a:ext cx="3931920" cy="566928"/>
          </a:xfrm>
          <a:prstGeom prst="rect">
            <a:avLst/>
          </a:prstGeom>
          <a:noFill/>
          <a:ln/>
        </p:spPr>
        <p:txBody>
          <a:bodyPr wrap="square" lIns="0" tIns="0" rIns="0" bIns="0" rtlCol="0" anchor="ctr"/>
          <a:lstStyle/>
          <a:p>
            <a:pPr indent="0" marL="0">
              <a:buNone/>
            </a:pPr>
            <a:r>
              <a:rPr lang="en-US" sz="1500" b="1" dirty="0">
                <a:solidFill>
                  <a:srgbClr val="182A40"/>
                </a:solidFill>
                <a:latin typeface="Calibri" pitchFamily="34" charset="0"/>
                <a:ea typeface="Calibri" pitchFamily="34" charset="-122"/>
                <a:cs typeface="Calibri" pitchFamily="34" charset="-120"/>
              </a:rPr>
              <a:t>Very low/high going-out pattern</a:t>
            </a:r>
            <a:endParaRPr lang="en-US" sz="1500" dirty="0"/>
          </a:p>
          <a:p>
            <a:pPr indent="0" marL="0">
              <a:buNone/>
            </a:pPr>
            <a:r>
              <a:rPr lang="en-US" sz="1100" dirty="0">
                <a:solidFill>
                  <a:srgbClr val="646E78"/>
                </a:solidFill>
                <a:latin typeface="Calibri" pitchFamily="34" charset="0"/>
                <a:ea typeface="Calibri" pitchFamily="34" charset="-122"/>
                <a:cs typeface="Calibri" pitchFamily="34" charset="-120"/>
              </a:rPr>
              <a:t>goes out very rarely or very often</a:t>
            </a:r>
            <a:endParaRPr lang="en-US" sz="1500" dirty="0"/>
          </a:p>
        </p:txBody>
      </p:sp>
      <p:sp>
        <p:nvSpPr>
          <p:cNvPr id="30" name="Shape 24"/>
          <p:cNvSpPr/>
          <p:nvPr/>
        </p:nvSpPr>
        <p:spPr>
          <a:xfrm>
            <a:off x="6035040" y="3886200"/>
            <a:ext cx="1280160" cy="384048"/>
          </a:xfrm>
          <a:prstGeom prst="rect">
            <a:avLst/>
          </a:prstGeom>
          <a:solidFill>
            <a:srgbClr val="D9640E"/>
          </a:solidFill>
          <a:ln w="12700">
            <a:solidFill>
              <a:srgbClr val="D9640E"/>
            </a:solidFill>
            <a:prstDash val="solid"/>
          </a:ln>
        </p:spPr>
      </p:sp>
      <p:sp>
        <p:nvSpPr>
          <p:cNvPr id="31" name="Text 25"/>
          <p:cNvSpPr txBox="1"/>
          <p:nvPr/>
        </p:nvSpPr>
        <p:spPr>
          <a:xfrm>
            <a:off x="6035040" y="3877056"/>
            <a:ext cx="128016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−0.8</a:t>
            </a:r>
            <a:endParaRPr lang="en-US" sz="1600" dirty="0"/>
          </a:p>
        </p:txBody>
      </p:sp>
      <p:sp>
        <p:nvSpPr>
          <p:cNvPr id="32" name="Shape 26"/>
          <p:cNvSpPr/>
          <p:nvPr/>
        </p:nvSpPr>
        <p:spPr>
          <a:xfrm>
            <a:off x="1005840" y="4462272"/>
            <a:ext cx="438912" cy="438912"/>
          </a:xfrm>
          <a:prstGeom prst="ellipse">
            <a:avLst/>
          </a:prstGeom>
          <a:solidFill>
            <a:srgbClr val="D9640E"/>
          </a:solidFill>
          <a:ln w="12700">
            <a:solidFill>
              <a:srgbClr val="D9640E"/>
            </a:solidFill>
            <a:prstDash val="solid"/>
          </a:ln>
        </p:spPr>
      </p:sp>
      <p:pic>
        <p:nvPicPr>
          <p:cNvPr id="33" name="Image 4" descr="icon_fail.png">    </p:cNvPr>
          <p:cNvPicPr>
            <a:picLocks noChangeAspect="1"/>
          </p:cNvPicPr>
          <p:nvPr/>
        </p:nvPicPr>
        <p:blipFill>
          <a:blip r:embed="rId5"/>
          <a:stretch>
            <a:fillRect/>
          </a:stretch>
        </p:blipFill>
        <p:spPr>
          <a:xfrm>
            <a:off x="1106424" y="4562856"/>
            <a:ext cx="237744" cy="237744"/>
          </a:xfrm>
          <a:prstGeom prst="rect">
            <a:avLst/>
          </a:prstGeom>
        </p:spPr>
      </p:pic>
      <p:sp>
        <p:nvSpPr>
          <p:cNvPr id="34" name="Text 27"/>
          <p:cNvSpPr txBox="1"/>
          <p:nvPr/>
        </p:nvSpPr>
        <p:spPr>
          <a:xfrm>
            <a:off x="1600200" y="4398264"/>
            <a:ext cx="3931920" cy="566928"/>
          </a:xfrm>
          <a:prstGeom prst="rect">
            <a:avLst/>
          </a:prstGeom>
          <a:noFill/>
          <a:ln/>
        </p:spPr>
        <p:txBody>
          <a:bodyPr wrap="square" lIns="0" tIns="0" rIns="0" bIns="0" rtlCol="0" anchor="ctr"/>
          <a:lstStyle/>
          <a:p>
            <a:pPr indent="0" marL="0">
              <a:buNone/>
            </a:pPr>
            <a:r>
              <a:rPr lang="en-US" sz="1500" b="1" dirty="0">
                <a:solidFill>
                  <a:srgbClr val="182A40"/>
                </a:solidFill>
                <a:latin typeface="Calibri" pitchFamily="34" charset="0"/>
                <a:ea typeface="Calibri" pitchFamily="34" charset="-122"/>
                <a:cs typeface="Calibri" pitchFamily="34" charset="-120"/>
              </a:rPr>
              <a:t>Each previous failure</a:t>
            </a:r>
            <a:endParaRPr lang="en-US" sz="1500" dirty="0"/>
          </a:p>
          <a:p>
            <a:pPr indent="0" marL="0">
              <a:buNone/>
            </a:pPr>
            <a:r>
              <a:rPr lang="en-US" sz="1100" dirty="0">
                <a:solidFill>
                  <a:srgbClr val="646E78"/>
                </a:solidFill>
                <a:latin typeface="Calibri" pitchFamily="34" charset="0"/>
                <a:ea typeface="Calibri" pitchFamily="34" charset="-122"/>
                <a:cs typeface="Calibri" pitchFamily="34" charset="-120"/>
              </a:rPr>
              <a:t>number of classes failed before (0–3)</a:t>
            </a:r>
            <a:endParaRPr lang="en-US" sz="1500" dirty="0"/>
          </a:p>
        </p:txBody>
      </p:sp>
      <p:sp>
        <p:nvSpPr>
          <p:cNvPr id="35" name="Shape 28"/>
          <p:cNvSpPr/>
          <p:nvPr/>
        </p:nvSpPr>
        <p:spPr>
          <a:xfrm>
            <a:off x="5074920" y="4489704"/>
            <a:ext cx="2240280" cy="384048"/>
          </a:xfrm>
          <a:prstGeom prst="rect">
            <a:avLst/>
          </a:prstGeom>
          <a:solidFill>
            <a:srgbClr val="D9640E"/>
          </a:solidFill>
          <a:ln w="12700">
            <a:solidFill>
              <a:srgbClr val="D9640E"/>
            </a:solidFill>
            <a:prstDash val="solid"/>
          </a:ln>
        </p:spPr>
      </p:sp>
      <p:sp>
        <p:nvSpPr>
          <p:cNvPr id="36" name="Text 29"/>
          <p:cNvSpPr txBox="1"/>
          <p:nvPr/>
        </p:nvSpPr>
        <p:spPr>
          <a:xfrm>
            <a:off x="5074920" y="4480560"/>
            <a:ext cx="2240280"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−1.4</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94360" y="320040"/>
            <a:ext cx="11000232" cy="731520"/>
          </a:xfrm>
          <a:prstGeom prst="rect">
            <a:avLst/>
          </a:prstGeom>
          <a:noFill/>
          <a:ln/>
        </p:spPr>
        <p:txBody>
          <a:bodyPr wrap="square" lIns="0" tIns="0" rIns="0" bIns="0" rtlCol="0" anchor="ctr"/>
          <a:lstStyle/>
          <a:p>
            <a:pPr algn="ctr" indent="0" marL="0">
              <a:buNone/>
            </a:pPr>
            <a:r>
              <a:rPr lang="en-US" sz="2800" b="1" dirty="0">
                <a:solidFill>
                  <a:srgbClr val="182A40"/>
                </a:solidFill>
                <a:latin typeface="Calibri" pitchFamily="34" charset="0"/>
                <a:ea typeface="Calibri" pitchFamily="34" charset="-122"/>
                <a:cs typeface="Calibri" pitchFamily="34" charset="-120"/>
              </a:rPr>
              <a:t>Backup: Illustrative Model Comparison</a:t>
            </a:r>
            <a:endParaRPr lang="en-US" sz="2800" dirty="0"/>
          </a:p>
        </p:txBody>
      </p:sp>
      <p:sp>
        <p:nvSpPr>
          <p:cNvPr id="3" name="Shape 1"/>
          <p:cNvSpPr/>
          <p:nvPr/>
        </p:nvSpPr>
        <p:spPr>
          <a:xfrm>
            <a:off x="685800" y="5440680"/>
            <a:ext cx="10789920" cy="658368"/>
          </a:xfrm>
          <a:prstGeom prst="roundRect">
            <a:avLst>
              <a:gd name="adj" fmla="val 13889"/>
            </a:avLst>
          </a:prstGeom>
          <a:solidFill>
            <a:srgbClr val="E8F0F2"/>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4" name="Text 2"/>
          <p:cNvSpPr txBox="1"/>
          <p:nvPr/>
        </p:nvSpPr>
        <p:spPr>
          <a:xfrm>
            <a:off x="868680" y="5440680"/>
            <a:ext cx="10424160" cy="658368"/>
          </a:xfrm>
          <a:prstGeom prst="rect">
            <a:avLst/>
          </a:prstGeom>
          <a:noFill/>
          <a:ln/>
        </p:spPr>
        <p:txBody>
          <a:bodyPr wrap="square" lIns="0" tIns="0" rIns="0" bIns="0" rtlCol="0" anchor="ctr"/>
          <a:lstStyle/>
          <a:p>
            <a:pPr algn="ctr" indent="0" marL="0">
              <a:buNone/>
            </a:pPr>
            <a:r>
              <a:rPr lang="en-US" sz="1200" dirty="0">
                <a:solidFill>
                  <a:srgbClr val="2D3741"/>
                </a:solidFill>
                <a:latin typeface="Calibri" pitchFamily="34" charset="0"/>
                <a:ea typeface="Calibri" pitchFamily="34" charset="-122"/>
                <a:cs typeface="Calibri" pitchFamily="34" charset="-120"/>
              </a:rPr>
              <a:t>Both profiles: school GP, no previous failures, father’s education level 2, health 4, no extra school support. Predicted values from the regression model.</a:t>
            </a:r>
            <a:endParaRPr lang="en-US" sz="1200" dirty="0"/>
          </a:p>
        </p:txBody>
      </p:sp>
      <p:sp>
        <p:nvSpPr>
          <p:cNvPr id="5" name="Shape 3"/>
          <p:cNvSpPr/>
          <p:nvPr/>
        </p:nvSpPr>
        <p:spPr>
          <a:xfrm>
            <a:off x="594360" y="6473952"/>
            <a:ext cx="10972800" cy="18288"/>
          </a:xfrm>
          <a:prstGeom prst="rect">
            <a:avLst/>
          </a:prstGeom>
          <a:solidFill>
            <a:srgbClr val="E8F0F2"/>
          </a:solidFill>
          <a:ln w="12700">
            <a:solidFill>
              <a:srgbClr val="E8F0F2"/>
            </a:solidFill>
            <a:prstDash val="solid"/>
          </a:ln>
        </p:spPr>
      </p:sp>
      <p:sp>
        <p:nvSpPr>
          <p:cNvPr id="6" name="Text 4"/>
          <p:cNvSpPr txBox="1"/>
          <p:nvPr/>
        </p:nvSpPr>
        <p:spPr>
          <a:xfrm>
            <a:off x="594360" y="6510528"/>
            <a:ext cx="10972800" cy="228600"/>
          </a:xfrm>
          <a:prstGeom prst="rect">
            <a:avLst/>
          </a:prstGeom>
          <a:noFill/>
          <a:ln/>
        </p:spPr>
        <p:txBody>
          <a:bodyPr wrap="square" lIns="0" tIns="0" rIns="0" bIns="0" rtlCol="0" anchor="ctr"/>
          <a:lstStyle/>
          <a:p>
            <a:pPr algn="ctr" indent="0" marL="0">
              <a:buNone/>
            </a:pPr>
            <a:r>
              <a:rPr lang="en-US" sz="800" dirty="0">
                <a:solidFill>
                  <a:srgbClr val="646E78"/>
                </a:solidFill>
                <a:latin typeface="Calibri" pitchFamily="34" charset="0"/>
                <a:ea typeface="Calibri" pitchFamily="34" charset="-122"/>
                <a:cs typeface="Calibri" pitchFamily="34" charset="-120"/>
              </a:rPr>
              <a:t>Student Performance Data Analysis  |  Assessment Task 2                         B1</a:t>
            </a:r>
            <a:endParaRPr lang="en-US" sz="800" dirty="0"/>
          </a:p>
        </p:txBody>
      </p:sp>
      <p:sp>
        <p:nvSpPr>
          <p:cNvPr id="7" name="Text 5"/>
          <p:cNvSpPr txBox="1"/>
          <p:nvPr/>
        </p:nvSpPr>
        <p:spPr>
          <a:xfrm>
            <a:off x="685800" y="1143000"/>
            <a:ext cx="10789920" cy="365760"/>
          </a:xfrm>
          <a:prstGeom prst="rect">
            <a:avLst/>
          </a:prstGeom>
          <a:noFill/>
          <a:ln/>
        </p:spPr>
        <p:txBody>
          <a:bodyPr wrap="square" lIns="0" tIns="0" rIns="0" bIns="0" rtlCol="0" anchor="ctr"/>
          <a:lstStyle/>
          <a:p>
            <a:pPr algn="ctr" indent="0" marL="0">
              <a:buNone/>
            </a:pPr>
            <a:r>
              <a:rPr lang="en-US" sz="1500" dirty="0">
                <a:solidFill>
                  <a:srgbClr val="2D3741"/>
                </a:solidFill>
                <a:latin typeface="Calibri" pitchFamily="34" charset="0"/>
                <a:ea typeface="Calibri" pitchFamily="34" charset="-122"/>
                <a:cs typeface="Calibri" pitchFamily="34" charset="-120"/>
              </a:rPr>
              <a:t>The model gives different predicted grades for two hypothetical profiles. This illustrates association, not what would necessarily happen if one student changed these behaviours.</a:t>
            </a:r>
            <a:endParaRPr lang="en-US" sz="1500" dirty="0"/>
          </a:p>
        </p:txBody>
      </p:sp>
      <p:sp>
        <p:nvSpPr>
          <p:cNvPr id="8" name="Shape 6"/>
          <p:cNvSpPr/>
          <p:nvPr/>
        </p:nvSpPr>
        <p:spPr>
          <a:xfrm>
            <a:off x="685800" y="1691640"/>
            <a:ext cx="10789920" cy="3520440"/>
          </a:xfrm>
          <a:prstGeom prst="roundRect">
            <a:avLst>
              <a:gd name="adj" fmla="val 2078"/>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9" name="Shape 7"/>
          <p:cNvSpPr/>
          <p:nvPr/>
        </p:nvSpPr>
        <p:spPr>
          <a:xfrm>
            <a:off x="7223760" y="1920240"/>
            <a:ext cx="0" cy="2651760"/>
          </a:xfrm>
          <a:prstGeom prst="line">
            <a:avLst/>
          </a:prstGeom>
          <a:noFill/>
          <a:ln w="15875">
            <a:solidFill>
              <a:srgbClr val="182A40"/>
            </a:solidFill>
            <a:prstDash val="dash"/>
          </a:ln>
        </p:spPr>
      </p:sp>
      <p:sp>
        <p:nvSpPr>
          <p:cNvPr id="10" name="Text 8"/>
          <p:cNvSpPr txBox="1"/>
          <p:nvPr/>
        </p:nvSpPr>
        <p:spPr>
          <a:xfrm>
            <a:off x="7269480" y="4343400"/>
            <a:ext cx="1463040" cy="228600"/>
          </a:xfrm>
          <a:prstGeom prst="rect">
            <a:avLst/>
          </a:prstGeom>
          <a:noFill/>
          <a:ln/>
        </p:spPr>
        <p:txBody>
          <a:bodyPr wrap="square" lIns="0" tIns="0" rIns="0" bIns="0" rtlCol="0" anchor="ctr"/>
          <a:lstStyle/>
          <a:p>
            <a:pPr indent="0" marL="0">
              <a:buNone/>
            </a:pPr>
            <a:r>
              <a:rPr lang="en-US" sz="1100" b="1" dirty="0">
                <a:solidFill>
                  <a:srgbClr val="182A40"/>
                </a:solidFill>
                <a:latin typeface="Calibri" pitchFamily="34" charset="0"/>
                <a:ea typeface="Calibri" pitchFamily="34" charset="-122"/>
                <a:cs typeface="Calibri" pitchFamily="34" charset="-120"/>
              </a:rPr>
              <a:t>pass mark (10)</a:t>
            </a:r>
            <a:endParaRPr lang="en-US" sz="1100" dirty="0"/>
          </a:p>
        </p:txBody>
      </p:sp>
      <p:sp>
        <p:nvSpPr>
          <p:cNvPr id="11" name="Text 9"/>
          <p:cNvSpPr txBox="1"/>
          <p:nvPr/>
        </p:nvSpPr>
        <p:spPr>
          <a:xfrm>
            <a:off x="1005840" y="2057400"/>
            <a:ext cx="2194560" cy="457200"/>
          </a:xfrm>
          <a:prstGeom prst="rect">
            <a:avLst/>
          </a:prstGeom>
          <a:noFill/>
          <a:ln/>
        </p:spPr>
        <p:txBody>
          <a:bodyPr wrap="square" lIns="0" tIns="0" rIns="0" bIns="0" rtlCol="0" anchor="ctr"/>
          <a:lstStyle/>
          <a:p>
            <a:pPr indent="0" marL="0">
              <a:buNone/>
            </a:pPr>
            <a:r>
              <a:rPr lang="en-US" sz="1700" b="1" dirty="0">
                <a:solidFill>
                  <a:srgbClr val="182A40"/>
                </a:solidFill>
                <a:latin typeface="Calibri" pitchFamily="34" charset="0"/>
                <a:ea typeface="Calibri" pitchFamily="34" charset="-122"/>
                <a:cs typeface="Calibri" pitchFamily="34" charset="-120"/>
              </a:rPr>
              <a:t>Profile A</a:t>
            </a:r>
            <a:endParaRPr lang="en-US" sz="1700" dirty="0"/>
          </a:p>
        </p:txBody>
      </p:sp>
      <p:sp>
        <p:nvSpPr>
          <p:cNvPr id="12" name="Shape 10"/>
          <p:cNvSpPr/>
          <p:nvPr/>
        </p:nvSpPr>
        <p:spPr>
          <a:xfrm>
            <a:off x="3383280" y="2057400"/>
            <a:ext cx="3648456" cy="457200"/>
          </a:xfrm>
          <a:prstGeom prst="rect">
            <a:avLst/>
          </a:prstGeom>
          <a:solidFill>
            <a:srgbClr val="D9640E"/>
          </a:solidFill>
          <a:ln w="12700">
            <a:solidFill>
              <a:srgbClr val="D9640E"/>
            </a:solidFill>
            <a:prstDash val="solid"/>
          </a:ln>
        </p:spPr>
      </p:sp>
      <p:sp>
        <p:nvSpPr>
          <p:cNvPr id="13" name="Text 11"/>
          <p:cNvSpPr txBox="1"/>
          <p:nvPr/>
        </p:nvSpPr>
        <p:spPr>
          <a:xfrm>
            <a:off x="6117336" y="2057400"/>
            <a:ext cx="822960" cy="457200"/>
          </a:xfrm>
          <a:prstGeom prst="rect">
            <a:avLst/>
          </a:prstGeom>
          <a:noFill/>
          <a:ln/>
        </p:spPr>
        <p:txBody>
          <a:bodyPr wrap="square" lIns="0" tIns="0" rIns="0" bIns="0" rtlCol="0" anchor="ctr"/>
          <a:lstStyle/>
          <a:p>
            <a:pPr algn="r" indent="0" marL="0">
              <a:buNone/>
            </a:pPr>
            <a:r>
              <a:rPr lang="en-US" sz="2000" b="1" dirty="0">
                <a:solidFill>
                  <a:srgbClr val="FFFFFF"/>
                </a:solidFill>
                <a:latin typeface="Calibri" pitchFamily="34" charset="0"/>
                <a:ea typeface="Calibri" pitchFamily="34" charset="-122"/>
                <a:cs typeface="Calibri" pitchFamily="34" charset="-120"/>
              </a:rPr>
              <a:t>9.5</a:t>
            </a:r>
            <a:endParaRPr lang="en-US" sz="2000" dirty="0"/>
          </a:p>
        </p:txBody>
      </p:sp>
      <p:sp>
        <p:nvSpPr>
          <p:cNvPr id="14" name="Text 12"/>
          <p:cNvSpPr txBox="1"/>
          <p:nvPr/>
        </p:nvSpPr>
        <p:spPr>
          <a:xfrm>
            <a:off x="1005840" y="2560320"/>
            <a:ext cx="9601200" cy="320040"/>
          </a:xfrm>
          <a:prstGeom prst="rect">
            <a:avLst/>
          </a:prstGeom>
          <a:noFill/>
          <a:ln/>
        </p:spPr>
        <p:txBody>
          <a:bodyPr wrap="square" lIns="0" tIns="0" rIns="0" bIns="0" rtlCol="0" anchor="ctr"/>
          <a:lstStyle/>
          <a:p>
            <a:pPr indent="0" marL="0">
              <a:buNone/>
            </a:pPr>
            <a:r>
              <a:rPr lang="en-US" sz="1200" dirty="0">
                <a:solidFill>
                  <a:srgbClr val="2D3741"/>
                </a:solidFill>
                <a:latin typeface="Calibri" pitchFamily="34" charset="0"/>
                <a:ea typeface="Calibri" pitchFamily="34" charset="-122"/>
                <a:cs typeface="Calibri" pitchFamily="34" charset="-120"/>
              </a:rPr>
              <a:t>no university goal · &lt;2 h study · goes out very often · moderate school-day drinking</a:t>
            </a:r>
            <a:endParaRPr lang="en-US" sz="1200" dirty="0"/>
          </a:p>
        </p:txBody>
      </p:sp>
      <p:sp>
        <p:nvSpPr>
          <p:cNvPr id="15" name="Text 13"/>
          <p:cNvSpPr txBox="1"/>
          <p:nvPr/>
        </p:nvSpPr>
        <p:spPr>
          <a:xfrm>
            <a:off x="1005840" y="3291840"/>
            <a:ext cx="2194560" cy="457200"/>
          </a:xfrm>
          <a:prstGeom prst="rect">
            <a:avLst/>
          </a:prstGeom>
          <a:noFill/>
          <a:ln/>
        </p:spPr>
        <p:txBody>
          <a:bodyPr wrap="square" lIns="0" tIns="0" rIns="0" bIns="0" rtlCol="0" anchor="ctr"/>
          <a:lstStyle/>
          <a:p>
            <a:pPr indent="0" marL="0">
              <a:buNone/>
            </a:pPr>
            <a:r>
              <a:rPr lang="en-US" sz="1700" b="1" dirty="0">
                <a:solidFill>
                  <a:srgbClr val="182A40"/>
                </a:solidFill>
                <a:latin typeface="Calibri" pitchFamily="34" charset="0"/>
                <a:ea typeface="Calibri" pitchFamily="34" charset="-122"/>
                <a:cs typeface="Calibri" pitchFamily="34" charset="-120"/>
              </a:rPr>
              <a:t>Profile B</a:t>
            </a:r>
            <a:endParaRPr lang="en-US" sz="1700" dirty="0"/>
          </a:p>
        </p:txBody>
      </p:sp>
      <p:sp>
        <p:nvSpPr>
          <p:cNvPr id="16" name="Shape 14"/>
          <p:cNvSpPr/>
          <p:nvPr/>
        </p:nvSpPr>
        <p:spPr>
          <a:xfrm>
            <a:off x="3383280" y="3291840"/>
            <a:ext cx="5299862" cy="457200"/>
          </a:xfrm>
          <a:prstGeom prst="rect">
            <a:avLst/>
          </a:prstGeom>
          <a:solidFill>
            <a:srgbClr val="1F77B4"/>
          </a:solidFill>
          <a:ln w="12700">
            <a:solidFill>
              <a:srgbClr val="1F77B4"/>
            </a:solidFill>
            <a:prstDash val="solid"/>
          </a:ln>
        </p:spPr>
      </p:sp>
      <p:sp>
        <p:nvSpPr>
          <p:cNvPr id="17" name="Text 15"/>
          <p:cNvSpPr txBox="1"/>
          <p:nvPr/>
        </p:nvSpPr>
        <p:spPr>
          <a:xfrm>
            <a:off x="7768742" y="3291840"/>
            <a:ext cx="822960" cy="457200"/>
          </a:xfrm>
          <a:prstGeom prst="rect">
            <a:avLst/>
          </a:prstGeom>
          <a:noFill/>
          <a:ln/>
        </p:spPr>
        <p:txBody>
          <a:bodyPr wrap="square" lIns="0" tIns="0" rIns="0" bIns="0" rtlCol="0" anchor="ctr"/>
          <a:lstStyle/>
          <a:p>
            <a:pPr algn="r" indent="0" marL="0">
              <a:buNone/>
            </a:pPr>
            <a:r>
              <a:rPr lang="en-US" sz="2000" b="1" dirty="0">
                <a:solidFill>
                  <a:srgbClr val="FFFFFF"/>
                </a:solidFill>
                <a:latin typeface="Calibri" pitchFamily="34" charset="0"/>
                <a:ea typeface="Calibri" pitchFamily="34" charset="-122"/>
                <a:cs typeface="Calibri" pitchFamily="34" charset="-120"/>
              </a:rPr>
              <a:t>13.8</a:t>
            </a:r>
            <a:endParaRPr lang="en-US" sz="2000" dirty="0"/>
          </a:p>
        </p:txBody>
      </p:sp>
      <p:sp>
        <p:nvSpPr>
          <p:cNvPr id="18" name="Text 16"/>
          <p:cNvSpPr txBox="1"/>
          <p:nvPr/>
        </p:nvSpPr>
        <p:spPr>
          <a:xfrm>
            <a:off x="1005840" y="3794760"/>
            <a:ext cx="9601200" cy="320040"/>
          </a:xfrm>
          <a:prstGeom prst="rect">
            <a:avLst/>
          </a:prstGeom>
          <a:noFill/>
          <a:ln/>
        </p:spPr>
        <p:txBody>
          <a:bodyPr wrap="square" lIns="0" tIns="0" rIns="0" bIns="0" rtlCol="0" anchor="ctr"/>
          <a:lstStyle/>
          <a:p>
            <a:pPr indent="0" marL="0">
              <a:buNone/>
            </a:pPr>
            <a:r>
              <a:rPr lang="en-US" sz="1200" dirty="0">
                <a:solidFill>
                  <a:srgbClr val="2D3741"/>
                </a:solidFill>
                <a:latin typeface="Calibri" pitchFamily="34" charset="0"/>
                <a:ea typeface="Calibri" pitchFamily="34" charset="-122"/>
                <a:cs typeface="Calibri" pitchFamily="34" charset="-120"/>
              </a:rPr>
              <a:t>university goal · 5–10 h study · moderate going out · very little school-day drinking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A40"/>
                </a:solidFill>
              </a:defRPr>
            </a:pPr>
            <a:r>
              <a:t>11. Limitations</a:t>
            </a:r>
          </a:p>
        </p:txBody>
      </p:sp>
      <p:sp>
        <p:nvSpPr>
          <p:cNvPr id="4" name="TextBox 3"/>
          <p:cNvSpPr txBox="1"/>
          <p:nvPr/>
        </p:nvSpPr>
        <p:spPr>
          <a:xfrm>
            <a:off x="777240" y="1417320"/>
            <a:ext cx="10607040" cy="4389120"/>
          </a:xfrm>
          <a:prstGeom prst="rect">
            <a:avLst/>
          </a:prstGeom>
          <a:noFill/>
        </p:spPr>
        <p:txBody>
          <a:bodyPr wrap="square">
            <a:spAutoFit/>
          </a:bodyPr>
          <a:lstStyle/>
          <a:p>
            <a:pPr>
              <a:spcAft>
                <a:spcPts val="1000"/>
              </a:spcAft>
              <a:defRPr sz="1700">
                <a:solidFill>
                  <a:srgbClr val="2D3741"/>
                </a:solidFill>
              </a:defRPr>
            </a:pPr>
            <a:r>
              <a:t>Sample scope: students from two Portuguese secondary schools; findings may not generalise to Australia or other populations.</a:t>
            </a:r>
          </a:p>
          <a:p>
            <a:pPr>
              <a:spcAft>
                <a:spcPts val="1000"/>
              </a:spcAft>
              <a:defRPr sz="1700">
                <a:solidFill>
                  <a:srgbClr val="2D3741"/>
                </a:solidFill>
              </a:defRPr>
            </a:pPr>
            <a:r>
              <a:t>Observational data: associations do not establish cause and effect.</a:t>
            </a:r>
          </a:p>
          <a:p>
            <a:pPr>
              <a:spcAft>
                <a:spcPts val="1000"/>
              </a:spcAft>
              <a:defRPr sz="1700">
                <a:solidFill>
                  <a:srgbClr val="2D3741"/>
                </a:solidFill>
              </a:defRPr>
            </a:pPr>
            <a:r>
              <a:t>The regression model explains about one third of grade differences (R² = 0.33); an individual prediction can be off by about ±3 points.</a:t>
            </a:r>
          </a:p>
          <a:p>
            <a:pPr>
              <a:spcAft>
                <a:spcPts val="1000"/>
              </a:spcAft>
              <a:defRPr sz="1700">
                <a:solidFill>
                  <a:srgbClr val="2D3741"/>
                </a:solidFill>
              </a:defRPr>
            </a:pPr>
            <a:r>
              <a:t>Some groups are small, especially the 21+ absence group and students with multiple previous failures.</a:t>
            </a:r>
          </a:p>
          <a:p>
            <a:pPr>
              <a:spcAft>
                <a:spcPts val="1000"/>
              </a:spcAft>
              <a:defRPr sz="1700">
                <a:solidFill>
                  <a:srgbClr val="2D3741"/>
                </a:solidFill>
              </a:defRPr>
            </a:pPr>
            <a:r>
              <a:t>Several variables are self-reported, so reporting error is possible.</a:t>
            </a:r>
          </a:p>
          <a:p>
            <a:pPr>
              <a:spcAft>
                <a:spcPts val="1000"/>
              </a:spcAft>
              <a:defRPr sz="1700">
                <a:solidFill>
                  <a:srgbClr val="2D3741"/>
                </a:solidFill>
              </a:defRPr>
            </a:pPr>
            <a:r>
              <a:t>G1 and G2 are earlier grades, so their strong relationship with G3 partly reflects the structure of the grading process.</a:t>
            </a:r>
          </a:p>
        </p:txBody>
      </p:sp>
      <p:sp>
        <p:nvSpPr>
          <p:cNvPr id="5" name="Rounded Rectangle 4"/>
          <p:cNvSpPr/>
          <p:nvPr/>
        </p:nvSpPr>
        <p:spPr>
          <a:xfrm>
            <a:off x="685800" y="5440680"/>
            <a:ext cx="10789920" cy="685800"/>
          </a:xfrm>
          <a:prstGeom prst="round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5550408"/>
            <a:ext cx="10460736" cy="502920"/>
          </a:xfrm>
          <a:prstGeom prst="rect">
            <a:avLst/>
          </a:prstGeom>
          <a:noFill/>
        </p:spPr>
        <p:txBody>
          <a:bodyPr wrap="none">
            <a:spAutoFit/>
          </a:bodyPr>
          <a:lstStyle/>
          <a:p>
            <a:pPr>
              <a:defRPr sz="1200">
                <a:solidFill>
                  <a:srgbClr val="2D3741"/>
                </a:solidFill>
              </a:defRPr>
            </a:pPr>
            <a:r>
              <a:t>The UCI documentation specifically warns that G1 and G2 are strongly correlated with G3 because they are earlier-period grades.</a:t>
            </a:r>
          </a:p>
        </p:txBody>
      </p:sp>
      <p:sp>
        <p:nvSpPr>
          <p:cNvPr id="7" name="Rectangle 6"/>
          <p:cNvSpPr/>
          <p:nvPr/>
        </p:nvSpPr>
        <p:spPr>
          <a:xfrm>
            <a:off x="594360" y="6473952"/>
            <a:ext cx="10972800" cy="18288"/>
          </a:xfrm>
          <a:prstGeom prst="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10528"/>
            <a:ext cx="10972800" cy="228600"/>
          </a:xfrm>
          <a:prstGeom prst="rect">
            <a:avLst/>
          </a:prstGeom>
          <a:noFill/>
        </p:spPr>
        <p:txBody>
          <a:bodyPr wrap="none">
            <a:spAutoFit/>
          </a:bodyPr>
          <a:lstStyle/>
          <a:p>
            <a:pPr>
              <a:defRPr sz="800">
                <a:solidFill>
                  <a:srgbClr val="646E78"/>
                </a:solidFill>
              </a:defRPr>
            </a:pPr>
            <a:r>
              <a:t>Student Performance Data Analysis  |  Assessment Task 2                         12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914400"/>
            <a:ext cx="10515600" cy="914400"/>
          </a:xfrm>
          <a:prstGeom prst="rect">
            <a:avLst/>
          </a:prstGeom>
          <a:noFill/>
        </p:spPr>
        <p:txBody>
          <a:bodyPr wrap="none">
            <a:spAutoFit/>
          </a:bodyPr>
          <a:lstStyle/>
          <a:p>
            <a:pPr>
              <a:defRPr sz="3200" b="1">
                <a:solidFill>
                  <a:srgbClr val="FFFFFF"/>
                </a:solidFill>
              </a:defRPr>
            </a:pPr>
            <a:r>
              <a:t>13. Conclusion</a:t>
            </a:r>
          </a:p>
        </p:txBody>
      </p:sp>
      <p:sp>
        <p:nvSpPr>
          <p:cNvPr id="4" name="TextBox 3"/>
          <p:cNvSpPr txBox="1"/>
          <p:nvPr/>
        </p:nvSpPr>
        <p:spPr>
          <a:xfrm>
            <a:off x="914400" y="1828800"/>
            <a:ext cx="10241280" cy="3383280"/>
          </a:xfrm>
          <a:prstGeom prst="rect">
            <a:avLst/>
          </a:prstGeom>
          <a:noFill/>
        </p:spPr>
        <p:txBody>
          <a:bodyPr wrap="square">
            <a:spAutoFit/>
          </a:bodyPr>
          <a:lstStyle/>
          <a:p>
            <a:pPr>
              <a:spcAft>
                <a:spcPts val="1000"/>
              </a:spcAft>
              <a:defRPr sz="1900">
                <a:solidFill>
                  <a:srgbClr val="FFFFFF"/>
                </a:solidFill>
              </a:defRPr>
            </a:pPr>
            <a:r>
              <a:t>Many students who later fail already show warning signs in term 1, while several study and lifestyle factors are associated with final grades.</a:t>
            </a:r>
          </a:p>
          <a:p>
            <a:pPr>
              <a:spcAft>
                <a:spcPts val="1000"/>
              </a:spcAft>
              <a:defRPr sz="1900">
                <a:solidFill>
                  <a:srgbClr val="FFFFFF"/>
                </a:solidFill>
              </a:defRPr>
            </a:pPr>
            <a:r>
              <a:t>These patterns can help schools and families identify where support may be needed, but they do not prove which interventions will improve grades.</a:t>
            </a:r>
          </a:p>
          <a:p>
            <a:pPr>
              <a:spcAft>
                <a:spcPts val="1000"/>
              </a:spcAft>
              <a:defRPr sz="1900">
                <a:solidFill>
                  <a:srgbClr val="FFFFFF"/>
                </a:solidFill>
              </a:defRPr>
            </a:pPr>
            <a:r>
              <a:t>Use the analysis to guide support, not to label individual students.</a:t>
            </a:r>
          </a:p>
        </p:txBody>
      </p:sp>
      <p:sp>
        <p:nvSpPr>
          <p:cNvPr id="5" name="Rectangle 4"/>
          <p:cNvSpPr/>
          <p:nvPr/>
        </p:nvSpPr>
        <p:spPr>
          <a:xfrm>
            <a:off x="594360" y="6473952"/>
            <a:ext cx="10972800" cy="18288"/>
          </a:xfrm>
          <a:prstGeom prst="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0528"/>
            <a:ext cx="10972800" cy="228600"/>
          </a:xfrm>
          <a:prstGeom prst="rect">
            <a:avLst/>
          </a:prstGeom>
          <a:noFill/>
        </p:spPr>
        <p:txBody>
          <a:bodyPr wrap="none">
            <a:spAutoFit/>
          </a:bodyPr>
          <a:lstStyle/>
          <a:p>
            <a:pPr>
              <a:defRPr sz="800">
                <a:solidFill>
                  <a:srgbClr val="646E78"/>
                </a:solidFill>
              </a:defRPr>
            </a:pPr>
            <a:r>
              <a:t>Student Performance Data Analysis  |  Assessment Task 2                         14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731520"/>
          </a:xfrm>
          <a:prstGeom prst="rect">
            <a:avLst/>
          </a:prstGeom>
          <a:noFill/>
        </p:spPr>
        <p:txBody>
          <a:bodyPr wrap="none">
            <a:spAutoFit/>
          </a:bodyPr>
          <a:lstStyle/>
          <a:p>
            <a:pPr>
              <a:defRPr sz="2800" b="1">
                <a:solidFill>
                  <a:srgbClr val="182A40"/>
                </a:solidFill>
              </a:defRPr>
            </a:pPr>
            <a:r>
              <a:t>14. References</a:t>
            </a:r>
          </a:p>
        </p:txBody>
      </p:sp>
      <p:sp>
        <p:nvSpPr>
          <p:cNvPr id="4" name="TextBox 3"/>
          <p:cNvSpPr txBox="1"/>
          <p:nvPr/>
        </p:nvSpPr>
        <p:spPr>
          <a:xfrm>
            <a:off x="777240" y="1325880"/>
            <a:ext cx="10698480" cy="4389120"/>
          </a:xfrm>
          <a:prstGeom prst="rect">
            <a:avLst/>
          </a:prstGeom>
          <a:noFill/>
        </p:spPr>
        <p:txBody>
          <a:bodyPr wrap="square">
            <a:spAutoFit/>
          </a:bodyPr>
          <a:lstStyle/>
          <a:p>
            <a:pPr>
              <a:spcAft>
                <a:spcPts val="1000"/>
              </a:spcAft>
              <a:defRPr sz="1600">
                <a:solidFill>
                  <a:srgbClr val="2D3741"/>
                </a:solidFill>
              </a:defRPr>
            </a:pPr>
            <a:r>
              <a:t>Cortez, P. (2008). Student Performance [Dataset]. UCI Machine Learning Repository. https://doi.org/10.24432/C5TG7T</a:t>
            </a:r>
          </a:p>
          <a:p>
            <a:pPr>
              <a:spcAft>
                <a:spcPts val="1000"/>
              </a:spcAft>
              <a:defRPr sz="1600">
                <a:solidFill>
                  <a:srgbClr val="2D3741"/>
                </a:solidFill>
              </a:defRPr>
            </a:pPr>
            <a:r>
              <a:t>Cortez, P., &amp; Silva, A. M. G. (2008). Using data mining to predict secondary school student performance. Proceedings of 5th FUture Business Technology Conference.</a:t>
            </a:r>
          </a:p>
          <a:p>
            <a:pPr>
              <a:spcAft>
                <a:spcPts val="1000"/>
              </a:spcAft>
              <a:defRPr sz="1600">
                <a:solidFill>
                  <a:srgbClr val="2D3741"/>
                </a:solidFill>
              </a:defRPr>
            </a:pPr>
            <a:r>
              <a:t>UCI Machine Learning Repository. Student Performance dataset documentation and variable definitions.</a:t>
            </a:r>
          </a:p>
          <a:p>
            <a:pPr>
              <a:spcAft>
                <a:spcPts val="1000"/>
              </a:spcAft>
              <a:defRPr sz="1600">
                <a:solidFill>
                  <a:srgbClr val="2D3741"/>
                </a:solidFill>
              </a:defRPr>
            </a:pPr>
            <a:r>
              <a:t>Kaggle. Student Performance dataset (uploaded dataset used for this analysis).</a:t>
            </a:r>
          </a:p>
        </p:txBody>
      </p:sp>
      <p:sp>
        <p:nvSpPr>
          <p:cNvPr id="5" name="Rounded Rectangle 4"/>
          <p:cNvSpPr/>
          <p:nvPr/>
        </p:nvSpPr>
        <p:spPr>
          <a:xfrm>
            <a:off x="685800" y="5440680"/>
            <a:ext cx="10789920" cy="685800"/>
          </a:xfrm>
          <a:prstGeom prst="round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5550408"/>
            <a:ext cx="10460736" cy="502920"/>
          </a:xfrm>
          <a:prstGeom prst="rect">
            <a:avLst/>
          </a:prstGeom>
          <a:noFill/>
        </p:spPr>
        <p:txBody>
          <a:bodyPr wrap="none">
            <a:spAutoFit/>
          </a:bodyPr>
          <a:lstStyle/>
          <a:p>
            <a:pPr>
              <a:defRPr sz="1200">
                <a:solidFill>
                  <a:srgbClr val="2D3741"/>
                </a:solidFill>
              </a:defRPr>
            </a:pPr>
            <a:r>
              <a:t>Data source used for calculations: uploaded student-por.csv (649 records, 33 columns).</a:t>
            </a:r>
          </a:p>
        </p:txBody>
      </p:sp>
      <p:sp>
        <p:nvSpPr>
          <p:cNvPr id="7" name="Rectangle 6"/>
          <p:cNvSpPr/>
          <p:nvPr/>
        </p:nvSpPr>
        <p:spPr>
          <a:xfrm>
            <a:off x="594360" y="6473952"/>
            <a:ext cx="10972800" cy="18288"/>
          </a:xfrm>
          <a:prstGeom prst="rect">
            <a:avLst/>
          </a:prstGeom>
          <a:solidFill>
            <a:srgbClr val="E8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6510528"/>
            <a:ext cx="10972800" cy="228600"/>
          </a:xfrm>
          <a:prstGeom prst="rect">
            <a:avLst/>
          </a:prstGeom>
          <a:noFill/>
        </p:spPr>
        <p:txBody>
          <a:bodyPr wrap="none">
            <a:spAutoFit/>
          </a:bodyPr>
          <a:lstStyle/>
          <a:p>
            <a:pPr>
              <a:defRPr sz="800">
                <a:solidFill>
                  <a:srgbClr val="646E78"/>
                </a:solidFill>
              </a:defRPr>
            </a:pPr>
            <a:r>
              <a:t>Student Performance Data Analysis  |  Assessment Task 2                         15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94360" y="320040"/>
            <a:ext cx="11000232" cy="731520"/>
          </a:xfrm>
          <a:prstGeom prst="rect">
            <a:avLst/>
          </a:prstGeom>
          <a:noFill/>
          <a:ln/>
        </p:spPr>
        <p:txBody>
          <a:bodyPr wrap="square" lIns="0" tIns="0" rIns="0" bIns="0" rtlCol="0" anchor="ctr"/>
          <a:lstStyle/>
          <a:p>
            <a:pPr algn="ctr" indent="0" marL="0">
              <a:buNone/>
            </a:pPr>
            <a:r>
              <a:rPr lang="en-US" sz="2800" b="1" dirty="0">
                <a:solidFill>
                  <a:srgbClr val="182A40"/>
                </a:solidFill>
                <a:latin typeface="Calibri" pitchFamily="34" charset="0"/>
                <a:ea typeface="Calibri" pitchFamily="34" charset="-122"/>
                <a:cs typeface="Calibri" pitchFamily="34" charset="-120"/>
              </a:rPr>
              <a:t>8. Findings That Surprised Us</a:t>
            </a:r>
            <a:endParaRPr lang="en-US" sz="2800" dirty="0"/>
          </a:p>
        </p:txBody>
      </p:sp>
      <p:sp>
        <p:nvSpPr>
          <p:cNvPr id="3" name="Shape 1"/>
          <p:cNvSpPr/>
          <p:nvPr/>
        </p:nvSpPr>
        <p:spPr>
          <a:xfrm>
            <a:off x="685800" y="5440680"/>
            <a:ext cx="10789920" cy="658368"/>
          </a:xfrm>
          <a:prstGeom prst="roundRect">
            <a:avLst>
              <a:gd name="adj" fmla="val 13889"/>
            </a:avLst>
          </a:prstGeom>
          <a:solidFill>
            <a:srgbClr val="E8F0F2"/>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4" name="Text 2"/>
          <p:cNvSpPr txBox="1"/>
          <p:nvPr/>
        </p:nvSpPr>
        <p:spPr>
          <a:xfrm>
            <a:off x="868680" y="5440680"/>
            <a:ext cx="10424160" cy="658368"/>
          </a:xfrm>
          <a:prstGeom prst="rect">
            <a:avLst/>
          </a:prstGeom>
          <a:noFill/>
          <a:ln/>
        </p:spPr>
        <p:txBody>
          <a:bodyPr wrap="square" lIns="0" tIns="0" rIns="0" bIns="0" rtlCol="0" anchor="ctr"/>
          <a:lstStyle/>
          <a:p>
            <a:pPr algn="ctr" indent="0" marL="0">
              <a:buNone/>
            </a:pPr>
            <a:r>
              <a:rPr lang="en-US" sz="1200" dirty="0">
                <a:solidFill>
                  <a:srgbClr val="2D3741"/>
                </a:solidFill>
                <a:latin typeface="Calibri" pitchFamily="34" charset="0"/>
                <a:ea typeface="Calibri" pitchFamily="34" charset="-122"/>
                <a:cs typeface="Calibri" pitchFamily="34" charset="-120"/>
              </a:rPr>
              <a:t>% failing = share of students with a final grade below 10 out of 20. Observed differences in this sample, not causal effects.</a:t>
            </a:r>
            <a:endParaRPr lang="en-US" sz="1200" dirty="0"/>
          </a:p>
        </p:txBody>
      </p:sp>
      <p:sp>
        <p:nvSpPr>
          <p:cNvPr id="5" name="Shape 3"/>
          <p:cNvSpPr/>
          <p:nvPr/>
        </p:nvSpPr>
        <p:spPr>
          <a:xfrm>
            <a:off x="594360" y="6473952"/>
            <a:ext cx="10972800" cy="18288"/>
          </a:xfrm>
          <a:prstGeom prst="rect">
            <a:avLst/>
          </a:prstGeom>
          <a:solidFill>
            <a:srgbClr val="E8F0F2"/>
          </a:solidFill>
          <a:ln w="12700">
            <a:solidFill>
              <a:srgbClr val="E8F0F2"/>
            </a:solidFill>
            <a:prstDash val="solid"/>
          </a:ln>
        </p:spPr>
      </p:sp>
      <p:sp>
        <p:nvSpPr>
          <p:cNvPr id="6" name="Text 4"/>
          <p:cNvSpPr txBox="1"/>
          <p:nvPr/>
        </p:nvSpPr>
        <p:spPr>
          <a:xfrm>
            <a:off x="594360" y="6510528"/>
            <a:ext cx="10972800" cy="228600"/>
          </a:xfrm>
          <a:prstGeom prst="rect">
            <a:avLst/>
          </a:prstGeom>
          <a:noFill/>
          <a:ln/>
        </p:spPr>
        <p:txBody>
          <a:bodyPr wrap="square" lIns="0" tIns="0" rIns="0" bIns="0" rtlCol="0" anchor="ctr"/>
          <a:lstStyle/>
          <a:p>
            <a:pPr algn="ctr" indent="0" marL="0">
              <a:buNone/>
            </a:pPr>
            <a:r>
              <a:rPr lang="en-US" sz="800" dirty="0">
                <a:solidFill>
                  <a:srgbClr val="646E78"/>
                </a:solidFill>
                <a:latin typeface="Calibri" pitchFamily="34" charset="0"/>
                <a:ea typeface="Calibri" pitchFamily="34" charset="-122"/>
                <a:cs typeface="Calibri" pitchFamily="34" charset="-120"/>
              </a:rPr>
              <a:t>Student Performance Data Analysis  |  Assessment Task 2                         9</a:t>
            </a:r>
            <a:endParaRPr lang="en-US" sz="800" dirty="0"/>
          </a:p>
        </p:txBody>
      </p:sp>
      <p:sp>
        <p:nvSpPr>
          <p:cNvPr id="7" name="Shape 5"/>
          <p:cNvSpPr/>
          <p:nvPr/>
        </p:nvSpPr>
        <p:spPr>
          <a:xfrm>
            <a:off x="685800" y="1280160"/>
            <a:ext cx="6766560" cy="3931920"/>
          </a:xfrm>
          <a:prstGeom prst="roundRect">
            <a:avLst>
              <a:gd name="adj" fmla="val 1860"/>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8" name="Text 6"/>
          <p:cNvSpPr txBox="1"/>
          <p:nvPr/>
        </p:nvSpPr>
        <p:spPr>
          <a:xfrm>
            <a:off x="914400" y="1371600"/>
            <a:ext cx="6309360" cy="548640"/>
          </a:xfrm>
          <a:prstGeom prst="rect">
            <a:avLst/>
          </a:prstGeom>
          <a:noFill/>
          <a:ln/>
        </p:spPr>
        <p:txBody>
          <a:bodyPr wrap="square" lIns="0" tIns="0" rIns="0" bIns="0" rtlCol="0" anchor="ctr"/>
          <a:lstStyle/>
          <a:p>
            <a:pPr indent="0" marL="0">
              <a:buNone/>
            </a:pPr>
            <a:r>
              <a:rPr lang="en-US" sz="1400" b="1" dirty="0">
                <a:solidFill>
                  <a:srgbClr val="182A40"/>
                </a:solidFill>
                <a:latin typeface="Calibri" pitchFamily="34" charset="0"/>
                <a:ea typeface="Calibri" pitchFamily="34" charset="-122"/>
                <a:cs typeface="Calibri" pitchFamily="34" charset="-120"/>
              </a:rPr>
              <a:t>Both very low and very high reported social activity were associated with higher failure rates in this sample</a:t>
            </a:r>
            <a:endParaRPr lang="en-US" sz="1400" dirty="0"/>
          </a:p>
        </p:txBody>
      </p:sp>
      <p:sp>
        <p:nvSpPr>
          <p:cNvPr id="9" name="Text 7"/>
          <p:cNvSpPr txBox="1"/>
          <p:nvPr/>
        </p:nvSpPr>
        <p:spPr>
          <a:xfrm>
            <a:off x="914400" y="1920240"/>
            <a:ext cx="6309360" cy="365760"/>
          </a:xfrm>
          <a:prstGeom prst="rect">
            <a:avLst/>
          </a:prstGeom>
          <a:noFill/>
          <a:ln/>
        </p:spPr>
        <p:txBody>
          <a:bodyPr wrap="square" lIns="0" tIns="0" rIns="0" bIns="0" rtlCol="0" anchor="ctr"/>
          <a:lstStyle/>
          <a:p>
            <a:pPr indent="0" marL="0">
              <a:buNone/>
            </a:pPr>
            <a:r>
              <a:rPr lang="en-US" sz="1100" dirty="0">
                <a:solidFill>
                  <a:srgbClr val="646E78"/>
                </a:solidFill>
                <a:latin typeface="Calibri" pitchFamily="34" charset="0"/>
                <a:ea typeface="Calibri" pitchFamily="34" charset="-122"/>
                <a:cs typeface="Calibri" pitchFamily="34" charset="-120"/>
              </a:rPr>
              <a:t>% failing, by how often the student reports going out with friends. The pattern is non-linear and deserves further investigation.</a:t>
            </a:r>
            <a:endParaRPr lang="en-US" sz="1100" dirty="0"/>
          </a:p>
        </p:txBody>
      </p:sp>
      <p:sp>
        <p:nvSpPr>
          <p:cNvPr id="10" name="Shape 8"/>
          <p:cNvSpPr/>
          <p:nvPr/>
        </p:nvSpPr>
        <p:spPr>
          <a:xfrm>
            <a:off x="1051560" y="3032760"/>
            <a:ext cx="960120" cy="1676400"/>
          </a:xfrm>
          <a:prstGeom prst="rect">
            <a:avLst/>
          </a:prstGeom>
          <a:solidFill>
            <a:srgbClr val="D9640E"/>
          </a:solidFill>
          <a:ln w="12700">
            <a:solidFill>
              <a:srgbClr val="D9640E"/>
            </a:solidFill>
            <a:prstDash val="solid"/>
          </a:ln>
        </p:spPr>
      </p:sp>
      <p:sp>
        <p:nvSpPr>
          <p:cNvPr id="11" name="Text 9"/>
          <p:cNvSpPr txBox="1"/>
          <p:nvPr/>
        </p:nvSpPr>
        <p:spPr>
          <a:xfrm>
            <a:off x="960120" y="2721864"/>
            <a:ext cx="1143000" cy="274320"/>
          </a:xfrm>
          <a:prstGeom prst="rect">
            <a:avLst/>
          </a:prstGeom>
          <a:noFill/>
          <a:ln/>
        </p:spPr>
        <p:txBody>
          <a:bodyPr wrap="square" lIns="0" tIns="0" rIns="0" bIns="0" rtlCol="0" anchor="ctr"/>
          <a:lstStyle/>
          <a:p>
            <a:pPr algn="ctr" indent="0" marL="0">
              <a:buNone/>
            </a:pPr>
            <a:r>
              <a:rPr lang="en-US" sz="1500" b="1" dirty="0">
                <a:solidFill>
                  <a:srgbClr val="D9640E"/>
                </a:solidFill>
                <a:latin typeface="Calibri" pitchFamily="34" charset="0"/>
                <a:ea typeface="Calibri" pitchFamily="34" charset="-122"/>
                <a:cs typeface="Calibri" pitchFamily="34" charset="-120"/>
              </a:rPr>
              <a:t>25%</a:t>
            </a:r>
            <a:endParaRPr lang="en-US" sz="1500" dirty="0"/>
          </a:p>
        </p:txBody>
      </p:sp>
      <p:sp>
        <p:nvSpPr>
          <p:cNvPr id="12" name="Text 10"/>
          <p:cNvSpPr txBox="1"/>
          <p:nvPr/>
        </p:nvSpPr>
        <p:spPr>
          <a:xfrm>
            <a:off x="960120" y="4764024"/>
            <a:ext cx="1143000" cy="274320"/>
          </a:xfrm>
          <a:prstGeom prst="rect">
            <a:avLst/>
          </a:prstGeom>
          <a:noFill/>
          <a:ln/>
        </p:spPr>
        <p:txBody>
          <a:bodyPr wrap="square" lIns="0" tIns="0" rIns="0" bIns="0" rtlCol="0" anchor="ctr"/>
          <a:lstStyle/>
          <a:p>
            <a:pPr algn="ctr" indent="0" marL="0">
              <a:buNone/>
            </a:pPr>
            <a:r>
              <a:rPr lang="en-US" sz="1100" dirty="0">
                <a:solidFill>
                  <a:srgbClr val="2D3741"/>
                </a:solidFill>
                <a:latin typeface="Calibri" pitchFamily="34" charset="0"/>
                <a:ea typeface="Calibri" pitchFamily="34" charset="-122"/>
                <a:cs typeface="Calibri" pitchFamily="34" charset="-120"/>
              </a:rPr>
              <a:t>Very rarely</a:t>
            </a:r>
            <a:endParaRPr lang="en-US" sz="1100" dirty="0"/>
          </a:p>
        </p:txBody>
      </p:sp>
      <p:sp>
        <p:nvSpPr>
          <p:cNvPr id="13" name="Shape 11"/>
          <p:cNvSpPr/>
          <p:nvPr/>
        </p:nvSpPr>
        <p:spPr>
          <a:xfrm>
            <a:off x="2258568" y="3971544"/>
            <a:ext cx="960120" cy="737616"/>
          </a:xfrm>
          <a:prstGeom prst="rect">
            <a:avLst/>
          </a:prstGeom>
          <a:solidFill>
            <a:srgbClr val="1F77B4"/>
          </a:solidFill>
          <a:ln w="12700">
            <a:solidFill>
              <a:srgbClr val="1F77B4"/>
            </a:solidFill>
            <a:prstDash val="solid"/>
          </a:ln>
        </p:spPr>
      </p:sp>
      <p:sp>
        <p:nvSpPr>
          <p:cNvPr id="14" name="Text 12"/>
          <p:cNvSpPr txBox="1"/>
          <p:nvPr/>
        </p:nvSpPr>
        <p:spPr>
          <a:xfrm>
            <a:off x="2167128" y="3660648"/>
            <a:ext cx="1143000" cy="274320"/>
          </a:xfrm>
          <a:prstGeom prst="rect">
            <a:avLst/>
          </a:prstGeom>
          <a:noFill/>
          <a:ln/>
        </p:spPr>
        <p:txBody>
          <a:bodyPr wrap="square" lIns="0" tIns="0" rIns="0" bIns="0" rtlCol="0" anchor="ctr"/>
          <a:lstStyle/>
          <a:p>
            <a:pPr algn="ctr" indent="0" marL="0">
              <a:buNone/>
            </a:pPr>
            <a:r>
              <a:rPr lang="en-US" sz="1500" b="1" dirty="0">
                <a:solidFill>
                  <a:srgbClr val="182A40"/>
                </a:solidFill>
                <a:latin typeface="Calibri" pitchFamily="34" charset="0"/>
                <a:ea typeface="Calibri" pitchFamily="34" charset="-122"/>
                <a:cs typeface="Calibri" pitchFamily="34" charset="-120"/>
              </a:rPr>
              <a:t>11%</a:t>
            </a:r>
            <a:endParaRPr lang="en-US" sz="1500" dirty="0"/>
          </a:p>
        </p:txBody>
      </p:sp>
      <p:sp>
        <p:nvSpPr>
          <p:cNvPr id="15" name="Text 13"/>
          <p:cNvSpPr txBox="1"/>
          <p:nvPr/>
        </p:nvSpPr>
        <p:spPr>
          <a:xfrm>
            <a:off x="2167128" y="4764024"/>
            <a:ext cx="1143000" cy="274320"/>
          </a:xfrm>
          <a:prstGeom prst="rect">
            <a:avLst/>
          </a:prstGeom>
          <a:noFill/>
          <a:ln/>
        </p:spPr>
        <p:txBody>
          <a:bodyPr wrap="square" lIns="0" tIns="0" rIns="0" bIns="0" rtlCol="0" anchor="ctr"/>
          <a:lstStyle/>
          <a:p>
            <a:pPr algn="ctr" indent="0" marL="0">
              <a:buNone/>
            </a:pPr>
            <a:r>
              <a:rPr lang="en-US" sz="1100" dirty="0">
                <a:solidFill>
                  <a:srgbClr val="2D3741"/>
                </a:solidFill>
                <a:latin typeface="Calibri" pitchFamily="34" charset="0"/>
                <a:ea typeface="Calibri" pitchFamily="34" charset="-122"/>
                <a:cs typeface="Calibri" pitchFamily="34" charset="-120"/>
              </a:rPr>
              <a:t>Rarely</a:t>
            </a:r>
            <a:endParaRPr lang="en-US" sz="1100" dirty="0"/>
          </a:p>
        </p:txBody>
      </p:sp>
      <p:sp>
        <p:nvSpPr>
          <p:cNvPr id="16" name="Shape 14"/>
          <p:cNvSpPr/>
          <p:nvPr/>
        </p:nvSpPr>
        <p:spPr>
          <a:xfrm>
            <a:off x="3465576" y="3971544"/>
            <a:ext cx="960120" cy="737616"/>
          </a:xfrm>
          <a:prstGeom prst="rect">
            <a:avLst/>
          </a:prstGeom>
          <a:solidFill>
            <a:srgbClr val="1F77B4"/>
          </a:solidFill>
          <a:ln w="12700">
            <a:solidFill>
              <a:srgbClr val="1F77B4"/>
            </a:solidFill>
            <a:prstDash val="solid"/>
          </a:ln>
        </p:spPr>
      </p:sp>
      <p:sp>
        <p:nvSpPr>
          <p:cNvPr id="17" name="Text 15"/>
          <p:cNvSpPr txBox="1"/>
          <p:nvPr/>
        </p:nvSpPr>
        <p:spPr>
          <a:xfrm>
            <a:off x="3374136" y="3660648"/>
            <a:ext cx="1143000" cy="274320"/>
          </a:xfrm>
          <a:prstGeom prst="rect">
            <a:avLst/>
          </a:prstGeom>
          <a:noFill/>
          <a:ln/>
        </p:spPr>
        <p:txBody>
          <a:bodyPr wrap="square" lIns="0" tIns="0" rIns="0" bIns="0" rtlCol="0" anchor="ctr"/>
          <a:lstStyle/>
          <a:p>
            <a:pPr algn="ctr" indent="0" marL="0">
              <a:buNone/>
            </a:pPr>
            <a:r>
              <a:rPr lang="en-US" sz="1500" b="1" dirty="0">
                <a:solidFill>
                  <a:srgbClr val="182A40"/>
                </a:solidFill>
                <a:latin typeface="Calibri" pitchFamily="34" charset="0"/>
                <a:ea typeface="Calibri" pitchFamily="34" charset="-122"/>
                <a:cs typeface="Calibri" pitchFamily="34" charset="-120"/>
              </a:rPr>
              <a:t>11%</a:t>
            </a:r>
            <a:endParaRPr lang="en-US" sz="1500" dirty="0"/>
          </a:p>
        </p:txBody>
      </p:sp>
      <p:sp>
        <p:nvSpPr>
          <p:cNvPr id="18" name="Text 16"/>
          <p:cNvSpPr txBox="1"/>
          <p:nvPr/>
        </p:nvSpPr>
        <p:spPr>
          <a:xfrm>
            <a:off x="3374136" y="4764024"/>
            <a:ext cx="1143000" cy="274320"/>
          </a:xfrm>
          <a:prstGeom prst="rect">
            <a:avLst/>
          </a:prstGeom>
          <a:noFill/>
          <a:ln/>
        </p:spPr>
        <p:txBody>
          <a:bodyPr wrap="square" lIns="0" tIns="0" rIns="0" bIns="0" rtlCol="0" anchor="ctr"/>
          <a:lstStyle/>
          <a:p>
            <a:pPr algn="ctr" indent="0" marL="0">
              <a:buNone/>
            </a:pPr>
            <a:r>
              <a:rPr lang="en-US" sz="1100" dirty="0">
                <a:solidFill>
                  <a:srgbClr val="2D3741"/>
                </a:solidFill>
                <a:latin typeface="Calibri" pitchFamily="34" charset="0"/>
                <a:ea typeface="Calibri" pitchFamily="34" charset="-122"/>
                <a:cs typeface="Calibri" pitchFamily="34" charset="-120"/>
              </a:rPr>
              <a:t>Sometimes</a:t>
            </a:r>
            <a:endParaRPr lang="en-US" sz="1100" dirty="0"/>
          </a:p>
        </p:txBody>
      </p:sp>
      <p:sp>
        <p:nvSpPr>
          <p:cNvPr id="19" name="Shape 17"/>
          <p:cNvSpPr/>
          <p:nvPr/>
        </p:nvSpPr>
        <p:spPr>
          <a:xfrm>
            <a:off x="4672584" y="3703320"/>
            <a:ext cx="960120" cy="1005840"/>
          </a:xfrm>
          <a:prstGeom prst="rect">
            <a:avLst/>
          </a:prstGeom>
          <a:solidFill>
            <a:srgbClr val="1F77B4"/>
          </a:solidFill>
          <a:ln w="12700">
            <a:solidFill>
              <a:srgbClr val="1F77B4"/>
            </a:solidFill>
            <a:prstDash val="solid"/>
          </a:ln>
        </p:spPr>
      </p:sp>
      <p:sp>
        <p:nvSpPr>
          <p:cNvPr id="20" name="Text 18"/>
          <p:cNvSpPr txBox="1"/>
          <p:nvPr/>
        </p:nvSpPr>
        <p:spPr>
          <a:xfrm>
            <a:off x="4581144" y="3392424"/>
            <a:ext cx="1143000" cy="274320"/>
          </a:xfrm>
          <a:prstGeom prst="rect">
            <a:avLst/>
          </a:prstGeom>
          <a:noFill/>
          <a:ln/>
        </p:spPr>
        <p:txBody>
          <a:bodyPr wrap="square" lIns="0" tIns="0" rIns="0" bIns="0" rtlCol="0" anchor="ctr"/>
          <a:lstStyle/>
          <a:p>
            <a:pPr algn="ctr" indent="0" marL="0">
              <a:buNone/>
            </a:pPr>
            <a:r>
              <a:rPr lang="en-US" sz="1500" b="1" dirty="0">
                <a:solidFill>
                  <a:srgbClr val="182A40"/>
                </a:solidFill>
                <a:latin typeface="Calibri" pitchFamily="34" charset="0"/>
                <a:ea typeface="Calibri" pitchFamily="34" charset="-122"/>
                <a:cs typeface="Calibri" pitchFamily="34" charset="-120"/>
              </a:rPr>
              <a:t>15%</a:t>
            </a:r>
            <a:endParaRPr lang="en-US" sz="1500" dirty="0"/>
          </a:p>
        </p:txBody>
      </p:sp>
      <p:sp>
        <p:nvSpPr>
          <p:cNvPr id="21" name="Text 19"/>
          <p:cNvSpPr txBox="1"/>
          <p:nvPr/>
        </p:nvSpPr>
        <p:spPr>
          <a:xfrm>
            <a:off x="4581144" y="4764024"/>
            <a:ext cx="1143000" cy="274320"/>
          </a:xfrm>
          <a:prstGeom prst="rect">
            <a:avLst/>
          </a:prstGeom>
          <a:noFill/>
          <a:ln/>
        </p:spPr>
        <p:txBody>
          <a:bodyPr wrap="square" lIns="0" tIns="0" rIns="0" bIns="0" rtlCol="0" anchor="ctr"/>
          <a:lstStyle/>
          <a:p>
            <a:pPr algn="ctr" indent="0" marL="0">
              <a:buNone/>
            </a:pPr>
            <a:r>
              <a:rPr lang="en-US" sz="1100" dirty="0">
                <a:solidFill>
                  <a:srgbClr val="2D3741"/>
                </a:solidFill>
                <a:latin typeface="Calibri" pitchFamily="34" charset="0"/>
                <a:ea typeface="Calibri" pitchFamily="34" charset="-122"/>
                <a:cs typeface="Calibri" pitchFamily="34" charset="-120"/>
              </a:rPr>
              <a:t>Often</a:t>
            </a:r>
            <a:endParaRPr lang="en-US" sz="1100" dirty="0"/>
          </a:p>
        </p:txBody>
      </p:sp>
      <p:sp>
        <p:nvSpPr>
          <p:cNvPr id="22" name="Shape 20"/>
          <p:cNvSpPr/>
          <p:nvPr/>
        </p:nvSpPr>
        <p:spPr>
          <a:xfrm>
            <a:off x="5879592" y="3032760"/>
            <a:ext cx="960120" cy="1676400"/>
          </a:xfrm>
          <a:prstGeom prst="rect">
            <a:avLst/>
          </a:prstGeom>
          <a:solidFill>
            <a:srgbClr val="D9640E"/>
          </a:solidFill>
          <a:ln w="12700">
            <a:solidFill>
              <a:srgbClr val="D9640E"/>
            </a:solidFill>
            <a:prstDash val="solid"/>
          </a:ln>
        </p:spPr>
      </p:sp>
      <p:sp>
        <p:nvSpPr>
          <p:cNvPr id="23" name="Text 21"/>
          <p:cNvSpPr txBox="1"/>
          <p:nvPr/>
        </p:nvSpPr>
        <p:spPr>
          <a:xfrm>
            <a:off x="5788152" y="2721864"/>
            <a:ext cx="1143000" cy="274320"/>
          </a:xfrm>
          <a:prstGeom prst="rect">
            <a:avLst/>
          </a:prstGeom>
          <a:noFill/>
          <a:ln/>
        </p:spPr>
        <p:txBody>
          <a:bodyPr wrap="square" lIns="0" tIns="0" rIns="0" bIns="0" rtlCol="0" anchor="ctr"/>
          <a:lstStyle/>
          <a:p>
            <a:pPr algn="ctr" indent="0" marL="0">
              <a:buNone/>
            </a:pPr>
            <a:r>
              <a:rPr lang="en-US" sz="1500" b="1" dirty="0">
                <a:solidFill>
                  <a:srgbClr val="D9640E"/>
                </a:solidFill>
                <a:latin typeface="Calibri" pitchFamily="34" charset="0"/>
                <a:ea typeface="Calibri" pitchFamily="34" charset="-122"/>
                <a:cs typeface="Calibri" pitchFamily="34" charset="-120"/>
              </a:rPr>
              <a:t>25%</a:t>
            </a:r>
            <a:endParaRPr lang="en-US" sz="1500" dirty="0"/>
          </a:p>
        </p:txBody>
      </p:sp>
      <p:sp>
        <p:nvSpPr>
          <p:cNvPr id="24" name="Text 22"/>
          <p:cNvSpPr txBox="1"/>
          <p:nvPr/>
        </p:nvSpPr>
        <p:spPr>
          <a:xfrm>
            <a:off x="5788152" y="4764024"/>
            <a:ext cx="1143000" cy="274320"/>
          </a:xfrm>
          <a:prstGeom prst="rect">
            <a:avLst/>
          </a:prstGeom>
          <a:noFill/>
          <a:ln/>
        </p:spPr>
        <p:txBody>
          <a:bodyPr wrap="square" lIns="0" tIns="0" rIns="0" bIns="0" rtlCol="0" anchor="ctr"/>
          <a:lstStyle/>
          <a:p>
            <a:pPr algn="ctr" indent="0" marL="0">
              <a:buNone/>
            </a:pPr>
            <a:r>
              <a:rPr lang="en-US" sz="1100" dirty="0">
                <a:solidFill>
                  <a:srgbClr val="2D3741"/>
                </a:solidFill>
                <a:latin typeface="Calibri" pitchFamily="34" charset="0"/>
                <a:ea typeface="Calibri" pitchFamily="34" charset="-122"/>
                <a:cs typeface="Calibri" pitchFamily="34" charset="-120"/>
              </a:rPr>
              <a:t>Very often</a:t>
            </a:r>
            <a:endParaRPr lang="en-US" sz="1100" dirty="0"/>
          </a:p>
        </p:txBody>
      </p:sp>
      <p:sp>
        <p:nvSpPr>
          <p:cNvPr id="25" name="Shape 23"/>
          <p:cNvSpPr/>
          <p:nvPr/>
        </p:nvSpPr>
        <p:spPr>
          <a:xfrm>
            <a:off x="960120" y="4709160"/>
            <a:ext cx="6263640" cy="0"/>
          </a:xfrm>
          <a:prstGeom prst="line">
            <a:avLst/>
          </a:prstGeom>
          <a:noFill/>
          <a:ln w="12700">
            <a:solidFill>
              <a:srgbClr val="9AA5B1"/>
            </a:solidFill>
            <a:prstDash val="solid"/>
          </a:ln>
        </p:spPr>
      </p:sp>
      <p:sp>
        <p:nvSpPr>
          <p:cNvPr id="26" name="Shape 24"/>
          <p:cNvSpPr/>
          <p:nvPr/>
        </p:nvSpPr>
        <p:spPr>
          <a:xfrm>
            <a:off x="960120" y="3703320"/>
            <a:ext cx="6263640" cy="0"/>
          </a:xfrm>
          <a:prstGeom prst="line">
            <a:avLst/>
          </a:prstGeom>
          <a:noFill/>
          <a:ln w="12700">
            <a:solidFill>
              <a:srgbClr val="646E78"/>
            </a:solidFill>
            <a:prstDash val="dash"/>
          </a:ln>
        </p:spPr>
      </p:sp>
      <p:sp>
        <p:nvSpPr>
          <p:cNvPr id="27" name="Text 25"/>
          <p:cNvSpPr txBox="1"/>
          <p:nvPr/>
        </p:nvSpPr>
        <p:spPr>
          <a:xfrm>
            <a:off x="2258568" y="3474720"/>
            <a:ext cx="1188720" cy="201168"/>
          </a:xfrm>
          <a:prstGeom prst="rect">
            <a:avLst/>
          </a:prstGeom>
          <a:noFill/>
          <a:ln/>
        </p:spPr>
        <p:txBody>
          <a:bodyPr wrap="square" lIns="0" tIns="0" rIns="0" bIns="0" rtlCol="0" anchor="ctr"/>
          <a:lstStyle/>
          <a:p>
            <a:pPr indent="0" marL="0">
              <a:buNone/>
            </a:pPr>
            <a:r>
              <a:rPr lang="en-US" sz="1000" dirty="0">
                <a:solidFill>
                  <a:srgbClr val="646E78"/>
                </a:solidFill>
                <a:latin typeface="Calibri" pitchFamily="34" charset="0"/>
                <a:ea typeface="Calibri" pitchFamily="34" charset="-122"/>
                <a:cs typeface="Calibri" pitchFamily="34" charset="-120"/>
              </a:rPr>
              <a:t>average 15%</a:t>
            </a:r>
            <a:endParaRPr lang="en-US" sz="1000" dirty="0"/>
          </a:p>
        </p:txBody>
      </p:sp>
      <p:sp>
        <p:nvSpPr>
          <p:cNvPr id="28" name="Shape 26"/>
          <p:cNvSpPr/>
          <p:nvPr/>
        </p:nvSpPr>
        <p:spPr>
          <a:xfrm>
            <a:off x="7726680" y="1280160"/>
            <a:ext cx="3749040" cy="1600200"/>
          </a:xfrm>
          <a:prstGeom prst="roundRect">
            <a:avLst>
              <a:gd name="adj" fmla="val 4571"/>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29" name="Text 27"/>
          <p:cNvSpPr txBox="1"/>
          <p:nvPr/>
        </p:nvSpPr>
        <p:spPr>
          <a:xfrm>
            <a:off x="7909560" y="1417320"/>
            <a:ext cx="3383280" cy="594360"/>
          </a:xfrm>
          <a:prstGeom prst="rect">
            <a:avLst/>
          </a:prstGeom>
          <a:noFill/>
          <a:ln/>
        </p:spPr>
        <p:txBody>
          <a:bodyPr wrap="square" lIns="0" tIns="0" rIns="0" bIns="0" rtlCol="0" anchor="ctr"/>
          <a:lstStyle/>
          <a:p>
            <a:pPr algn="ctr" indent="0" marL="0">
              <a:buNone/>
            </a:pPr>
            <a:r>
              <a:rPr lang="en-US" sz="2800" b="1" dirty="0">
                <a:solidFill>
                  <a:srgbClr val="1E787D"/>
                </a:solidFill>
                <a:latin typeface="Calibri" pitchFamily="34" charset="0"/>
                <a:ea typeface="Calibri" pitchFamily="34" charset="-122"/>
                <a:cs typeface="Calibri" pitchFamily="34" charset="-120"/>
              </a:rPr>
              <a:t>15% vs 15%</a:t>
            </a:r>
            <a:endParaRPr lang="en-US" sz="2800" dirty="0"/>
          </a:p>
        </p:txBody>
      </p:sp>
      <p:sp>
        <p:nvSpPr>
          <p:cNvPr id="30" name="Text 28"/>
          <p:cNvSpPr txBox="1"/>
          <p:nvPr/>
        </p:nvSpPr>
        <p:spPr>
          <a:xfrm>
            <a:off x="7909560" y="2057400"/>
            <a:ext cx="3383280" cy="685800"/>
          </a:xfrm>
          <a:prstGeom prst="rect">
            <a:avLst/>
          </a:prstGeom>
          <a:noFill/>
          <a:ln/>
        </p:spPr>
        <p:txBody>
          <a:bodyPr wrap="square" lIns="0" tIns="0" rIns="0" bIns="0" rtlCol="0" anchor="ctr"/>
          <a:lstStyle/>
          <a:p>
            <a:pPr algn="ctr" indent="0" marL="0">
              <a:buNone/>
            </a:pPr>
            <a:r>
              <a:rPr lang="en-US" sz="1200" dirty="0">
                <a:solidFill>
                  <a:srgbClr val="2D3741"/>
                </a:solidFill>
                <a:latin typeface="Calibri" pitchFamily="34" charset="0"/>
                <a:ea typeface="Calibri" pitchFamily="34" charset="-122"/>
                <a:cs typeface="Calibri" pitchFamily="34" charset="-120"/>
              </a:rPr>
              <a:t>Parents living apart vs together: no real difference in observed failure rates</a:t>
            </a:r>
            <a:endParaRPr lang="en-US" sz="1200" dirty="0"/>
          </a:p>
        </p:txBody>
      </p:sp>
      <p:sp>
        <p:nvSpPr>
          <p:cNvPr id="31" name="Shape 29"/>
          <p:cNvSpPr/>
          <p:nvPr/>
        </p:nvSpPr>
        <p:spPr>
          <a:xfrm>
            <a:off x="7726680" y="3017520"/>
            <a:ext cx="3749040" cy="2194560"/>
          </a:xfrm>
          <a:prstGeom prst="roundRect">
            <a:avLst>
              <a:gd name="adj" fmla="val 3333"/>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32" name="Text 30"/>
          <p:cNvSpPr txBox="1"/>
          <p:nvPr/>
        </p:nvSpPr>
        <p:spPr>
          <a:xfrm>
            <a:off x="7909560" y="3108960"/>
            <a:ext cx="3383280" cy="548640"/>
          </a:xfrm>
          <a:prstGeom prst="rect">
            <a:avLst/>
          </a:prstGeom>
          <a:noFill/>
          <a:ln/>
        </p:spPr>
        <p:txBody>
          <a:bodyPr wrap="square" lIns="0" tIns="0" rIns="0" bIns="0" rtlCol="0" anchor="ctr"/>
          <a:lstStyle/>
          <a:p>
            <a:pPr algn="ctr" indent="0" marL="0">
              <a:buNone/>
            </a:pPr>
            <a:r>
              <a:rPr lang="en-US" sz="2800" b="1" dirty="0">
                <a:solidFill>
                  <a:srgbClr val="1E787D"/>
                </a:solidFill>
                <a:latin typeface="Calibri" pitchFamily="34" charset="0"/>
                <a:ea typeface="Calibri" pitchFamily="34" charset="-122"/>
                <a:cs typeface="Calibri" pitchFamily="34" charset="-120"/>
              </a:rPr>
              <a:t>23% vs 15%</a:t>
            </a:r>
            <a:endParaRPr lang="en-US" sz="2800" dirty="0"/>
          </a:p>
        </p:txBody>
      </p:sp>
      <p:sp>
        <p:nvSpPr>
          <p:cNvPr id="33" name="Text 31"/>
          <p:cNvSpPr txBox="1"/>
          <p:nvPr/>
        </p:nvSpPr>
        <p:spPr>
          <a:xfrm>
            <a:off x="7863840" y="3657600"/>
            <a:ext cx="3474720" cy="1463040"/>
          </a:xfrm>
          <a:prstGeom prst="rect">
            <a:avLst/>
          </a:prstGeom>
          <a:noFill/>
          <a:ln/>
        </p:spPr>
        <p:txBody>
          <a:bodyPr wrap="square" lIns="0" tIns="0" rIns="0" bIns="0" rtlCol="0" anchor="t"/>
          <a:lstStyle/>
          <a:p>
            <a:pPr algn="ctr" indent="0" marL="0">
              <a:buNone/>
            </a:pPr>
            <a:r>
              <a:rPr lang="en-US" sz="1100" dirty="0">
                <a:solidFill>
                  <a:srgbClr val="2D3741"/>
                </a:solidFill>
                <a:latin typeface="Calibri" pitchFamily="34" charset="0"/>
                <a:ea typeface="Calibri" pitchFamily="34" charset="-122"/>
                <a:cs typeface="Calibri" pitchFamily="34" charset="-120"/>
              </a:rPr>
              <a:t>Students receiving paid extra classes had a higher observed failure rate. This may reflect selection: students already struggling may be more likely to receive tutoring. The dataset cannot determine whether tutoring improves outcomes.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94360" y="320040"/>
            <a:ext cx="11000232" cy="731520"/>
          </a:xfrm>
          <a:prstGeom prst="rect">
            <a:avLst/>
          </a:prstGeom>
          <a:noFill/>
          <a:ln/>
        </p:spPr>
        <p:txBody>
          <a:bodyPr wrap="square" lIns="0" tIns="0" rIns="0" bIns="0" rtlCol="0" anchor="ctr"/>
          <a:lstStyle/>
          <a:p>
            <a:pPr algn="ctr" indent="0" marL="0">
              <a:buNone/>
            </a:pPr>
            <a:r>
              <a:rPr lang="en-US" sz="2800" b="1" dirty="0">
                <a:solidFill>
                  <a:srgbClr val="182A40"/>
                </a:solidFill>
                <a:latin typeface="Calibri" pitchFamily="34" charset="0"/>
                <a:ea typeface="Calibri" pitchFamily="34" charset="-122"/>
                <a:cs typeface="Calibri" pitchFamily="34" charset="-120"/>
              </a:rPr>
              <a:t>10. What These Findings Mean for Families and Schools</a:t>
            </a:r>
            <a:endParaRPr lang="en-US" sz="2800" dirty="0"/>
          </a:p>
        </p:txBody>
      </p:sp>
      <p:sp>
        <p:nvSpPr>
          <p:cNvPr id="3" name="Shape 1"/>
          <p:cNvSpPr/>
          <p:nvPr/>
        </p:nvSpPr>
        <p:spPr>
          <a:xfrm>
            <a:off x="685800" y="5440680"/>
            <a:ext cx="10789920" cy="658368"/>
          </a:xfrm>
          <a:prstGeom prst="roundRect">
            <a:avLst>
              <a:gd name="adj" fmla="val 13889"/>
            </a:avLst>
          </a:prstGeom>
          <a:solidFill>
            <a:srgbClr val="E8F0F2"/>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4" name="Text 2"/>
          <p:cNvSpPr txBox="1"/>
          <p:nvPr/>
        </p:nvSpPr>
        <p:spPr>
          <a:xfrm>
            <a:off x="868680" y="5440680"/>
            <a:ext cx="10424160" cy="658368"/>
          </a:xfrm>
          <a:prstGeom prst="rect">
            <a:avLst/>
          </a:prstGeom>
          <a:noFill/>
          <a:ln/>
        </p:spPr>
        <p:txBody>
          <a:bodyPr wrap="square" lIns="0" tIns="0" rIns="0" bIns="0" rtlCol="0" anchor="ctr"/>
          <a:lstStyle/>
          <a:p>
            <a:pPr algn="ctr" indent="0" marL="0">
              <a:buNone/>
            </a:pPr>
            <a:r>
              <a:rPr lang="en-US" sz="1200" dirty="0">
                <a:solidFill>
                  <a:srgbClr val="2D3741"/>
                </a:solidFill>
                <a:latin typeface="Calibri" pitchFamily="34" charset="0"/>
                <a:ea typeface="Calibri" pitchFamily="34" charset="-122"/>
                <a:cs typeface="Calibri" pitchFamily="34" charset="-120"/>
              </a:rPr>
              <a:t>These are possible support responses based on observed associations. They should be evaluated before being scaled up.</a:t>
            </a:r>
            <a:endParaRPr lang="en-US" sz="1200" dirty="0"/>
          </a:p>
        </p:txBody>
      </p:sp>
      <p:sp>
        <p:nvSpPr>
          <p:cNvPr id="5" name="Shape 3"/>
          <p:cNvSpPr/>
          <p:nvPr/>
        </p:nvSpPr>
        <p:spPr>
          <a:xfrm>
            <a:off x="594360" y="6473952"/>
            <a:ext cx="10972800" cy="18288"/>
          </a:xfrm>
          <a:prstGeom prst="rect">
            <a:avLst/>
          </a:prstGeom>
          <a:solidFill>
            <a:srgbClr val="E8F0F2"/>
          </a:solidFill>
          <a:ln w="12700">
            <a:solidFill>
              <a:srgbClr val="E8F0F2"/>
            </a:solidFill>
            <a:prstDash val="solid"/>
          </a:ln>
        </p:spPr>
      </p:sp>
      <p:sp>
        <p:nvSpPr>
          <p:cNvPr id="6" name="Text 4"/>
          <p:cNvSpPr txBox="1"/>
          <p:nvPr/>
        </p:nvSpPr>
        <p:spPr>
          <a:xfrm>
            <a:off x="594360" y="6510528"/>
            <a:ext cx="10972800" cy="228600"/>
          </a:xfrm>
          <a:prstGeom prst="rect">
            <a:avLst/>
          </a:prstGeom>
          <a:noFill/>
          <a:ln/>
        </p:spPr>
        <p:txBody>
          <a:bodyPr wrap="square" lIns="0" tIns="0" rIns="0" bIns="0" rtlCol="0" anchor="ctr"/>
          <a:lstStyle/>
          <a:p>
            <a:pPr algn="ctr" indent="0" marL="0">
              <a:buNone/>
            </a:pPr>
            <a:r>
              <a:rPr lang="en-US" sz="800" dirty="0">
                <a:solidFill>
                  <a:srgbClr val="646E78"/>
                </a:solidFill>
                <a:latin typeface="Calibri" pitchFamily="34" charset="0"/>
                <a:ea typeface="Calibri" pitchFamily="34" charset="-122"/>
                <a:cs typeface="Calibri" pitchFamily="34" charset="-120"/>
              </a:rPr>
              <a:t>Student Performance Data Analysis  |  Assessment Task 2                         11</a:t>
            </a:r>
            <a:endParaRPr lang="en-US" sz="800" dirty="0"/>
          </a:p>
        </p:txBody>
      </p:sp>
      <p:sp>
        <p:nvSpPr>
          <p:cNvPr id="7" name="Text 5"/>
          <p:cNvSpPr txBox="1"/>
          <p:nvPr/>
        </p:nvSpPr>
        <p:spPr>
          <a:xfrm>
            <a:off x="868680" y="1188720"/>
            <a:ext cx="4572000" cy="274320"/>
          </a:xfrm>
          <a:prstGeom prst="rect">
            <a:avLst/>
          </a:prstGeom>
          <a:noFill/>
          <a:ln/>
        </p:spPr>
        <p:txBody>
          <a:bodyPr wrap="square" lIns="0" tIns="0" rIns="0" bIns="0" rtlCol="0" anchor="ctr"/>
          <a:lstStyle/>
          <a:p>
            <a:pPr indent="0" marL="0">
              <a:buNone/>
            </a:pPr>
            <a:r>
              <a:rPr lang="en-US" sz="1100" b="1" dirty="0">
                <a:solidFill>
                  <a:srgbClr val="646E78"/>
                </a:solidFill>
                <a:latin typeface="Calibri" pitchFamily="34" charset="0"/>
                <a:ea typeface="Calibri" pitchFamily="34" charset="-122"/>
                <a:cs typeface="Calibri" pitchFamily="34" charset="-120"/>
              </a:rPr>
              <a:t>FINDING</a:t>
            </a:r>
            <a:endParaRPr lang="en-US" sz="1100" dirty="0"/>
          </a:p>
        </p:txBody>
      </p:sp>
      <p:sp>
        <p:nvSpPr>
          <p:cNvPr id="8" name="Text 6"/>
          <p:cNvSpPr txBox="1"/>
          <p:nvPr/>
        </p:nvSpPr>
        <p:spPr>
          <a:xfrm>
            <a:off x="5669280" y="1188720"/>
            <a:ext cx="5486400" cy="274320"/>
          </a:xfrm>
          <a:prstGeom prst="rect">
            <a:avLst/>
          </a:prstGeom>
          <a:noFill/>
          <a:ln/>
        </p:spPr>
        <p:txBody>
          <a:bodyPr wrap="square" lIns="0" tIns="0" rIns="0" bIns="0" rtlCol="0" anchor="ctr"/>
          <a:lstStyle/>
          <a:p>
            <a:pPr indent="0" marL="0">
              <a:buNone/>
            </a:pPr>
            <a:r>
              <a:rPr lang="en-US" sz="1100" b="1" dirty="0">
                <a:solidFill>
                  <a:srgbClr val="646E78"/>
                </a:solidFill>
                <a:latin typeface="Calibri" pitchFamily="34" charset="0"/>
                <a:ea typeface="Calibri" pitchFamily="34" charset="-122"/>
                <a:cs typeface="Calibri" pitchFamily="34" charset="-120"/>
              </a:rPr>
              <a:t>POSSIBLE SUPPORT RESPONSE</a:t>
            </a:r>
            <a:endParaRPr lang="en-US" sz="1100" dirty="0"/>
          </a:p>
        </p:txBody>
      </p:sp>
      <p:sp>
        <p:nvSpPr>
          <p:cNvPr id="9" name="Shape 7"/>
          <p:cNvSpPr/>
          <p:nvPr/>
        </p:nvSpPr>
        <p:spPr>
          <a:xfrm>
            <a:off x="685800" y="1508760"/>
            <a:ext cx="10789920" cy="658368"/>
          </a:xfrm>
          <a:prstGeom prst="roundRect">
            <a:avLst>
              <a:gd name="adj" fmla="val 11111"/>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10" name="Text 8"/>
          <p:cNvSpPr txBox="1"/>
          <p:nvPr/>
        </p:nvSpPr>
        <p:spPr>
          <a:xfrm>
            <a:off x="868680" y="1508760"/>
            <a:ext cx="4526280" cy="658368"/>
          </a:xfrm>
          <a:prstGeom prst="rect">
            <a:avLst/>
          </a:prstGeom>
          <a:noFill/>
          <a:ln/>
        </p:spPr>
        <p:txBody>
          <a:bodyPr wrap="square" lIns="0" tIns="0" rIns="0" bIns="0" rtlCol="0" anchor="ctr"/>
          <a:lstStyle/>
          <a:p>
            <a:pPr indent="0" marL="0">
              <a:buNone/>
            </a:pPr>
            <a:r>
              <a:rPr lang="en-US" sz="1300" b="1" dirty="0">
                <a:solidFill>
                  <a:srgbClr val="182A40"/>
                </a:solidFill>
                <a:latin typeface="Calibri" pitchFamily="34" charset="0"/>
                <a:ea typeface="Calibri" pitchFamily="34" charset="-122"/>
                <a:cs typeface="Calibri" pitchFamily="34" charset="-120"/>
              </a:rPr>
              <a:t>Term-1 grades identified many students who later failed.</a:t>
            </a:r>
            <a:endParaRPr lang="en-US" sz="1300" dirty="0"/>
          </a:p>
        </p:txBody>
      </p:sp>
      <p:sp>
        <p:nvSpPr>
          <p:cNvPr id="11" name="Text 9"/>
          <p:cNvSpPr txBox="1"/>
          <p:nvPr/>
        </p:nvSpPr>
        <p:spPr>
          <a:xfrm>
            <a:off x="5349240" y="1508760"/>
            <a:ext cx="320040" cy="658368"/>
          </a:xfrm>
          <a:prstGeom prst="rect">
            <a:avLst/>
          </a:prstGeom>
          <a:noFill/>
          <a:ln/>
        </p:spPr>
        <p:txBody>
          <a:bodyPr wrap="square" lIns="0" tIns="0" rIns="0" bIns="0" rtlCol="0" anchor="ctr"/>
          <a:lstStyle/>
          <a:p>
            <a:pPr algn="ctr" indent="0" marL="0">
              <a:buNone/>
            </a:pPr>
            <a:r>
              <a:rPr lang="en-US" sz="1800" dirty="0">
                <a:solidFill>
                  <a:srgbClr val="1E787D"/>
                </a:solidFill>
                <a:latin typeface="Calibri" pitchFamily="34" charset="0"/>
                <a:ea typeface="Calibri" pitchFamily="34" charset="-122"/>
                <a:cs typeface="Calibri" pitchFamily="34" charset="-120"/>
              </a:rPr>
              <a:t>→</a:t>
            </a:r>
            <a:endParaRPr lang="en-US" sz="1800" dirty="0"/>
          </a:p>
        </p:txBody>
      </p:sp>
      <p:sp>
        <p:nvSpPr>
          <p:cNvPr id="12" name="Text 10"/>
          <p:cNvSpPr txBox="1"/>
          <p:nvPr/>
        </p:nvSpPr>
        <p:spPr>
          <a:xfrm>
            <a:off x="5669280" y="1508760"/>
            <a:ext cx="5669280" cy="658368"/>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Schools: use term-1 results as an early-warning signal, not as a permanent label.</a:t>
            </a:r>
            <a:endParaRPr lang="en-US" sz="1300" dirty="0"/>
          </a:p>
        </p:txBody>
      </p:sp>
      <p:sp>
        <p:nvSpPr>
          <p:cNvPr id="13" name="Shape 11"/>
          <p:cNvSpPr/>
          <p:nvPr/>
        </p:nvSpPr>
        <p:spPr>
          <a:xfrm>
            <a:off x="685800" y="2276856"/>
            <a:ext cx="10789920" cy="658368"/>
          </a:xfrm>
          <a:prstGeom prst="roundRect">
            <a:avLst>
              <a:gd name="adj" fmla="val 11111"/>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14" name="Text 12"/>
          <p:cNvSpPr txBox="1"/>
          <p:nvPr/>
        </p:nvSpPr>
        <p:spPr>
          <a:xfrm>
            <a:off x="868680" y="2276856"/>
            <a:ext cx="4526280" cy="658368"/>
          </a:xfrm>
          <a:prstGeom prst="rect">
            <a:avLst/>
          </a:prstGeom>
          <a:noFill/>
          <a:ln/>
        </p:spPr>
        <p:txBody>
          <a:bodyPr wrap="square" lIns="0" tIns="0" rIns="0" bIns="0" rtlCol="0" anchor="ctr"/>
          <a:lstStyle/>
          <a:p>
            <a:pPr indent="0" marL="0">
              <a:buNone/>
            </a:pPr>
            <a:r>
              <a:rPr lang="en-US" sz="1300" b="1" dirty="0">
                <a:solidFill>
                  <a:srgbClr val="182A40"/>
                </a:solidFill>
                <a:latin typeface="Calibri" pitchFamily="34" charset="0"/>
                <a:ea typeface="Calibri" pitchFamily="34" charset="-122"/>
                <a:cs typeface="Calibri" pitchFamily="34" charset="-120"/>
              </a:rPr>
              <a:t>Previous failures were strongly associated with lower grades.</a:t>
            </a:r>
            <a:endParaRPr lang="en-US" sz="1300" dirty="0"/>
          </a:p>
        </p:txBody>
      </p:sp>
      <p:sp>
        <p:nvSpPr>
          <p:cNvPr id="15" name="Text 13"/>
          <p:cNvSpPr txBox="1"/>
          <p:nvPr/>
        </p:nvSpPr>
        <p:spPr>
          <a:xfrm>
            <a:off x="5349240" y="2276856"/>
            <a:ext cx="320040" cy="658368"/>
          </a:xfrm>
          <a:prstGeom prst="rect">
            <a:avLst/>
          </a:prstGeom>
          <a:noFill/>
          <a:ln/>
        </p:spPr>
        <p:txBody>
          <a:bodyPr wrap="square" lIns="0" tIns="0" rIns="0" bIns="0" rtlCol="0" anchor="ctr"/>
          <a:lstStyle/>
          <a:p>
            <a:pPr algn="ctr" indent="0" marL="0">
              <a:buNone/>
            </a:pPr>
            <a:r>
              <a:rPr lang="en-US" sz="1800" dirty="0">
                <a:solidFill>
                  <a:srgbClr val="1E787D"/>
                </a:solidFill>
                <a:latin typeface="Calibri" pitchFamily="34" charset="0"/>
                <a:ea typeface="Calibri" pitchFamily="34" charset="-122"/>
                <a:cs typeface="Calibri" pitchFamily="34" charset="-120"/>
              </a:rPr>
              <a:t>→</a:t>
            </a:r>
            <a:endParaRPr lang="en-US" sz="1800" dirty="0"/>
          </a:p>
        </p:txBody>
      </p:sp>
      <p:sp>
        <p:nvSpPr>
          <p:cNvPr id="16" name="Text 14"/>
          <p:cNvSpPr txBox="1"/>
          <p:nvPr/>
        </p:nvSpPr>
        <p:spPr>
          <a:xfrm>
            <a:off x="5669280" y="2276856"/>
            <a:ext cx="5669280" cy="658368"/>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Schools: offer early support to students with a history of academic difficulty.</a:t>
            </a:r>
            <a:endParaRPr lang="en-US" sz="1300" dirty="0"/>
          </a:p>
        </p:txBody>
      </p:sp>
      <p:sp>
        <p:nvSpPr>
          <p:cNvPr id="17" name="Shape 15"/>
          <p:cNvSpPr/>
          <p:nvPr/>
        </p:nvSpPr>
        <p:spPr>
          <a:xfrm>
            <a:off x="685800" y="3044952"/>
            <a:ext cx="10789920" cy="658368"/>
          </a:xfrm>
          <a:prstGeom prst="roundRect">
            <a:avLst>
              <a:gd name="adj" fmla="val 11111"/>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18" name="Text 16"/>
          <p:cNvSpPr txBox="1"/>
          <p:nvPr/>
        </p:nvSpPr>
        <p:spPr>
          <a:xfrm>
            <a:off x="868680" y="3044952"/>
            <a:ext cx="4526280" cy="658368"/>
          </a:xfrm>
          <a:prstGeom prst="rect">
            <a:avLst/>
          </a:prstGeom>
          <a:noFill/>
          <a:ln/>
        </p:spPr>
        <p:txBody>
          <a:bodyPr wrap="square" lIns="0" tIns="0" rIns="0" bIns="0" rtlCol="0" anchor="ctr"/>
          <a:lstStyle/>
          <a:p>
            <a:pPr indent="0" marL="0">
              <a:buNone/>
            </a:pPr>
            <a:r>
              <a:rPr lang="en-US" sz="1300" b="1" dirty="0">
                <a:solidFill>
                  <a:srgbClr val="182A40"/>
                </a:solidFill>
                <a:latin typeface="Calibri" pitchFamily="34" charset="0"/>
                <a:ea typeface="Calibri" pitchFamily="34" charset="-122"/>
                <a:cs typeface="Calibri" pitchFamily="34" charset="-120"/>
              </a:rPr>
              <a:t>University aspirations were associated with higher grades.</a:t>
            </a:r>
            <a:endParaRPr lang="en-US" sz="1300" dirty="0"/>
          </a:p>
        </p:txBody>
      </p:sp>
      <p:sp>
        <p:nvSpPr>
          <p:cNvPr id="19" name="Text 17"/>
          <p:cNvSpPr txBox="1"/>
          <p:nvPr/>
        </p:nvSpPr>
        <p:spPr>
          <a:xfrm>
            <a:off x="5349240" y="3044952"/>
            <a:ext cx="320040" cy="658368"/>
          </a:xfrm>
          <a:prstGeom prst="rect">
            <a:avLst/>
          </a:prstGeom>
          <a:noFill/>
          <a:ln/>
        </p:spPr>
        <p:txBody>
          <a:bodyPr wrap="square" lIns="0" tIns="0" rIns="0" bIns="0" rtlCol="0" anchor="ctr"/>
          <a:lstStyle/>
          <a:p>
            <a:pPr algn="ctr" indent="0" marL="0">
              <a:buNone/>
            </a:pPr>
            <a:r>
              <a:rPr lang="en-US" sz="1800" dirty="0">
                <a:solidFill>
                  <a:srgbClr val="1E787D"/>
                </a:solidFill>
                <a:latin typeface="Calibri" pitchFamily="34" charset="0"/>
                <a:ea typeface="Calibri" pitchFamily="34" charset="-122"/>
                <a:cs typeface="Calibri" pitchFamily="34" charset="-120"/>
              </a:rPr>
              <a:t>→</a:t>
            </a:r>
            <a:endParaRPr lang="en-US" sz="1800" dirty="0"/>
          </a:p>
        </p:txBody>
      </p:sp>
      <p:sp>
        <p:nvSpPr>
          <p:cNvPr id="20" name="Text 18"/>
          <p:cNvSpPr txBox="1"/>
          <p:nvPr/>
        </p:nvSpPr>
        <p:spPr>
          <a:xfrm>
            <a:off x="5669280" y="3044952"/>
            <a:ext cx="5669280" cy="658368"/>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Families: discuss future goals. Schools: explore goal-setting and career guidance as support strategies.</a:t>
            </a:r>
            <a:endParaRPr lang="en-US" sz="1300" dirty="0"/>
          </a:p>
        </p:txBody>
      </p:sp>
      <p:sp>
        <p:nvSpPr>
          <p:cNvPr id="21" name="Shape 19"/>
          <p:cNvSpPr/>
          <p:nvPr/>
        </p:nvSpPr>
        <p:spPr>
          <a:xfrm>
            <a:off x="685800" y="3813048"/>
            <a:ext cx="10789920" cy="658368"/>
          </a:xfrm>
          <a:prstGeom prst="roundRect">
            <a:avLst>
              <a:gd name="adj" fmla="val 11111"/>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22" name="Text 20"/>
          <p:cNvSpPr txBox="1"/>
          <p:nvPr/>
        </p:nvSpPr>
        <p:spPr>
          <a:xfrm>
            <a:off x="868680" y="3813048"/>
            <a:ext cx="4526280" cy="658368"/>
          </a:xfrm>
          <a:prstGeom prst="rect">
            <a:avLst/>
          </a:prstGeom>
          <a:noFill/>
          <a:ln/>
        </p:spPr>
        <p:txBody>
          <a:bodyPr wrap="square" lIns="0" tIns="0" rIns="0" bIns="0" rtlCol="0" anchor="ctr"/>
          <a:lstStyle/>
          <a:p>
            <a:pPr indent="0" marL="0">
              <a:buNone/>
            </a:pPr>
            <a:r>
              <a:rPr lang="en-US" sz="1300" b="1" dirty="0">
                <a:solidFill>
                  <a:srgbClr val="182A40"/>
                </a:solidFill>
                <a:latin typeface="Calibri" pitchFamily="34" charset="0"/>
                <a:ea typeface="Calibri" pitchFamily="34" charset="-122"/>
                <a:cs typeface="Calibri" pitchFamily="34" charset="-120"/>
              </a:rPr>
              <a:t>Higher reported study time was associated with higher grades.</a:t>
            </a:r>
            <a:endParaRPr lang="en-US" sz="1300" dirty="0"/>
          </a:p>
        </p:txBody>
      </p:sp>
      <p:sp>
        <p:nvSpPr>
          <p:cNvPr id="23" name="Text 21"/>
          <p:cNvSpPr txBox="1"/>
          <p:nvPr/>
        </p:nvSpPr>
        <p:spPr>
          <a:xfrm>
            <a:off x="5349240" y="3813048"/>
            <a:ext cx="320040" cy="658368"/>
          </a:xfrm>
          <a:prstGeom prst="rect">
            <a:avLst/>
          </a:prstGeom>
          <a:noFill/>
          <a:ln/>
        </p:spPr>
        <p:txBody>
          <a:bodyPr wrap="square" lIns="0" tIns="0" rIns="0" bIns="0" rtlCol="0" anchor="ctr"/>
          <a:lstStyle/>
          <a:p>
            <a:pPr algn="ctr" indent="0" marL="0">
              <a:buNone/>
            </a:pPr>
            <a:r>
              <a:rPr lang="en-US" sz="1800" dirty="0">
                <a:solidFill>
                  <a:srgbClr val="1E787D"/>
                </a:solidFill>
                <a:latin typeface="Calibri" pitchFamily="34" charset="0"/>
                <a:ea typeface="Calibri" pitchFamily="34" charset="-122"/>
                <a:cs typeface="Calibri" pitchFamily="34" charset="-120"/>
              </a:rPr>
              <a:t>→</a:t>
            </a:r>
            <a:endParaRPr lang="en-US" sz="1800" dirty="0"/>
          </a:p>
        </p:txBody>
      </p:sp>
      <p:sp>
        <p:nvSpPr>
          <p:cNvPr id="24" name="Text 22"/>
          <p:cNvSpPr txBox="1"/>
          <p:nvPr/>
        </p:nvSpPr>
        <p:spPr>
          <a:xfrm>
            <a:off x="5669280" y="3813048"/>
            <a:ext cx="5669280" cy="658368"/>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Families: help protect regular study time. Schools: evaluate whether study-support programs improve outcomes.</a:t>
            </a:r>
            <a:endParaRPr lang="en-US" sz="1300" dirty="0"/>
          </a:p>
        </p:txBody>
      </p:sp>
      <p:sp>
        <p:nvSpPr>
          <p:cNvPr id="25" name="Shape 23"/>
          <p:cNvSpPr/>
          <p:nvPr/>
        </p:nvSpPr>
        <p:spPr>
          <a:xfrm>
            <a:off x="685800" y="4581144"/>
            <a:ext cx="10789920" cy="658368"/>
          </a:xfrm>
          <a:prstGeom prst="roundRect">
            <a:avLst>
              <a:gd name="adj" fmla="val 11111"/>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26" name="Text 24"/>
          <p:cNvSpPr txBox="1"/>
          <p:nvPr/>
        </p:nvSpPr>
        <p:spPr>
          <a:xfrm>
            <a:off x="868680" y="4581144"/>
            <a:ext cx="4526280" cy="658368"/>
          </a:xfrm>
          <a:prstGeom prst="rect">
            <a:avLst/>
          </a:prstGeom>
          <a:noFill/>
          <a:ln/>
        </p:spPr>
        <p:txBody>
          <a:bodyPr wrap="square" lIns="0" tIns="0" rIns="0" bIns="0" rtlCol="0" anchor="ctr"/>
          <a:lstStyle/>
          <a:p>
            <a:pPr indent="0" marL="0">
              <a:buNone/>
            </a:pPr>
            <a:r>
              <a:rPr lang="en-US" sz="1300" b="1" dirty="0">
                <a:solidFill>
                  <a:srgbClr val="182A40"/>
                </a:solidFill>
                <a:latin typeface="Calibri" pitchFamily="34" charset="0"/>
                <a:ea typeface="Calibri" pitchFamily="34" charset="-122"/>
                <a:cs typeface="Calibri" pitchFamily="34" charset="-120"/>
              </a:rPr>
              <a:t>School-day drinking and very low/high going out were associated with lower grades.</a:t>
            </a:r>
            <a:endParaRPr lang="en-US" sz="1300" dirty="0"/>
          </a:p>
        </p:txBody>
      </p:sp>
      <p:sp>
        <p:nvSpPr>
          <p:cNvPr id="27" name="Text 25"/>
          <p:cNvSpPr txBox="1"/>
          <p:nvPr/>
        </p:nvSpPr>
        <p:spPr>
          <a:xfrm>
            <a:off x="5349240" y="4581144"/>
            <a:ext cx="320040" cy="658368"/>
          </a:xfrm>
          <a:prstGeom prst="rect">
            <a:avLst/>
          </a:prstGeom>
          <a:noFill/>
          <a:ln/>
        </p:spPr>
        <p:txBody>
          <a:bodyPr wrap="square" lIns="0" tIns="0" rIns="0" bIns="0" rtlCol="0" anchor="ctr"/>
          <a:lstStyle/>
          <a:p>
            <a:pPr algn="ctr" indent="0" marL="0">
              <a:buNone/>
            </a:pPr>
            <a:r>
              <a:rPr lang="en-US" sz="1800" dirty="0">
                <a:solidFill>
                  <a:srgbClr val="1E787D"/>
                </a:solidFill>
                <a:latin typeface="Calibri" pitchFamily="34" charset="0"/>
                <a:ea typeface="Calibri" pitchFamily="34" charset="-122"/>
                <a:cs typeface="Calibri" pitchFamily="34" charset="-120"/>
              </a:rPr>
              <a:t>→</a:t>
            </a:r>
            <a:endParaRPr lang="en-US" sz="1800" dirty="0"/>
          </a:p>
        </p:txBody>
      </p:sp>
      <p:sp>
        <p:nvSpPr>
          <p:cNvPr id="28" name="Text 26"/>
          <p:cNvSpPr txBox="1"/>
          <p:nvPr/>
        </p:nvSpPr>
        <p:spPr>
          <a:xfrm>
            <a:off x="5669280" y="4581144"/>
            <a:ext cx="5669280" cy="658368"/>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Families: encourage balanced routines and avoid school-night drinking.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94360" y="320040"/>
            <a:ext cx="11000232" cy="731520"/>
          </a:xfrm>
          <a:prstGeom prst="rect">
            <a:avLst/>
          </a:prstGeom>
          <a:noFill/>
          <a:ln/>
        </p:spPr>
        <p:txBody>
          <a:bodyPr wrap="square" lIns="0" tIns="0" rIns="0" bIns="0" rtlCol="0" anchor="ctr"/>
          <a:lstStyle/>
          <a:p>
            <a:pPr algn="ctr" indent="0" marL="0">
              <a:buNone/>
            </a:pPr>
            <a:r>
              <a:rPr lang="en-US" sz="2800" b="1" dirty="0">
                <a:solidFill>
                  <a:srgbClr val="182A40"/>
                </a:solidFill>
                <a:latin typeface="Calibri" pitchFamily="34" charset="0"/>
                <a:ea typeface="Calibri" pitchFamily="34" charset="-122"/>
                <a:cs typeface="Calibri" pitchFamily="34" charset="-120"/>
              </a:rPr>
              <a:t>7. Other Factors Show Weaker Relationships</a:t>
            </a:r>
            <a:endParaRPr lang="en-US" sz="2800" dirty="0"/>
          </a:p>
        </p:txBody>
      </p:sp>
      <p:sp>
        <p:nvSpPr>
          <p:cNvPr id="3" name="Shape 1"/>
          <p:cNvSpPr/>
          <p:nvPr/>
        </p:nvSpPr>
        <p:spPr>
          <a:xfrm>
            <a:off x="685800" y="5440680"/>
            <a:ext cx="10789920" cy="658368"/>
          </a:xfrm>
          <a:prstGeom prst="roundRect">
            <a:avLst>
              <a:gd name="adj" fmla="val 13889"/>
            </a:avLst>
          </a:prstGeom>
          <a:solidFill>
            <a:srgbClr val="E8F0F2"/>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4" name="Text 2"/>
          <p:cNvSpPr txBox="1"/>
          <p:nvPr/>
        </p:nvSpPr>
        <p:spPr>
          <a:xfrm>
            <a:off x="868680" y="5440680"/>
            <a:ext cx="10424160" cy="658368"/>
          </a:xfrm>
          <a:prstGeom prst="rect">
            <a:avLst/>
          </a:prstGeom>
          <a:noFill/>
          <a:ln/>
        </p:spPr>
        <p:txBody>
          <a:bodyPr wrap="square" lIns="0" tIns="0" rIns="0" bIns="0" rtlCol="0" anchor="ctr"/>
          <a:lstStyle/>
          <a:p>
            <a:pPr algn="ctr" indent="0" marL="0">
              <a:buNone/>
            </a:pPr>
            <a:r>
              <a:rPr lang="en-US" sz="1200" dirty="0">
                <a:solidFill>
                  <a:srgbClr val="2D3741"/>
                </a:solidFill>
                <a:latin typeface="Calibri" pitchFamily="34" charset="0"/>
                <a:ea typeface="Calibri" pitchFamily="34" charset="-122"/>
                <a:cs typeface="Calibri" pitchFamily="34" charset="-120"/>
              </a:rPr>
              <a:t>Correlation ranges from −1 to +1. It measures association, not causation. Full correlation table in backup.</a:t>
            </a:r>
            <a:endParaRPr lang="en-US" sz="1200" dirty="0"/>
          </a:p>
        </p:txBody>
      </p:sp>
      <p:sp>
        <p:nvSpPr>
          <p:cNvPr id="5" name="Shape 3"/>
          <p:cNvSpPr/>
          <p:nvPr/>
        </p:nvSpPr>
        <p:spPr>
          <a:xfrm>
            <a:off x="594360" y="6473952"/>
            <a:ext cx="10972800" cy="18288"/>
          </a:xfrm>
          <a:prstGeom prst="rect">
            <a:avLst/>
          </a:prstGeom>
          <a:solidFill>
            <a:srgbClr val="E8F0F2"/>
          </a:solidFill>
          <a:ln w="12700">
            <a:solidFill>
              <a:srgbClr val="E8F0F2"/>
            </a:solidFill>
            <a:prstDash val="solid"/>
          </a:ln>
        </p:spPr>
      </p:sp>
      <p:sp>
        <p:nvSpPr>
          <p:cNvPr id="6" name="Text 4"/>
          <p:cNvSpPr txBox="1"/>
          <p:nvPr/>
        </p:nvSpPr>
        <p:spPr>
          <a:xfrm>
            <a:off x="594360" y="6510528"/>
            <a:ext cx="10972800" cy="228600"/>
          </a:xfrm>
          <a:prstGeom prst="rect">
            <a:avLst/>
          </a:prstGeom>
          <a:noFill/>
          <a:ln/>
        </p:spPr>
        <p:txBody>
          <a:bodyPr wrap="square" lIns="0" tIns="0" rIns="0" bIns="0" rtlCol="0" anchor="ctr"/>
          <a:lstStyle/>
          <a:p>
            <a:pPr algn="ctr" indent="0" marL="0">
              <a:buNone/>
            </a:pPr>
            <a:r>
              <a:rPr lang="en-US" sz="800" dirty="0">
                <a:solidFill>
                  <a:srgbClr val="646E78"/>
                </a:solidFill>
                <a:latin typeface="Calibri" pitchFamily="34" charset="0"/>
                <a:ea typeface="Calibri" pitchFamily="34" charset="-122"/>
                <a:cs typeface="Calibri" pitchFamily="34" charset="-120"/>
              </a:rPr>
              <a:t>Student Performance Data Analysis  |  Assessment Task 2                         8</a:t>
            </a:r>
            <a:endParaRPr lang="en-US" sz="800" dirty="0"/>
          </a:p>
        </p:txBody>
      </p:sp>
      <p:sp>
        <p:nvSpPr>
          <p:cNvPr id="7" name="Text 5"/>
          <p:cNvSpPr txBox="1"/>
          <p:nvPr/>
        </p:nvSpPr>
        <p:spPr>
          <a:xfrm>
            <a:off x="685800" y="1143000"/>
            <a:ext cx="10789920" cy="365760"/>
          </a:xfrm>
          <a:prstGeom prst="rect">
            <a:avLst/>
          </a:prstGeom>
          <a:noFill/>
          <a:ln/>
        </p:spPr>
        <p:txBody>
          <a:bodyPr wrap="square" lIns="0" tIns="0" rIns="0" bIns="0" rtlCol="0" anchor="ctr"/>
          <a:lstStyle/>
          <a:p>
            <a:pPr algn="ctr" indent="0" marL="0">
              <a:buNone/>
            </a:pPr>
            <a:r>
              <a:rPr lang="en-US" sz="1500" dirty="0">
                <a:solidFill>
                  <a:srgbClr val="2D3741"/>
                </a:solidFill>
                <a:latin typeface="Calibri" pitchFamily="34" charset="0"/>
                <a:ea typeface="Calibri" pitchFamily="34" charset="-122"/>
                <a:cs typeface="Calibri" pitchFamily="34" charset="-120"/>
              </a:rPr>
              <a:t>Not every intuitive factor has a strong relationship with final grades.</a:t>
            </a:r>
            <a:endParaRPr lang="en-US" sz="1500" dirty="0"/>
          </a:p>
        </p:txBody>
      </p:sp>
      <p:sp>
        <p:nvSpPr>
          <p:cNvPr id="8" name="Shape 6"/>
          <p:cNvSpPr/>
          <p:nvPr/>
        </p:nvSpPr>
        <p:spPr>
          <a:xfrm>
            <a:off x="685800" y="1737360"/>
            <a:ext cx="10789920" cy="1005840"/>
          </a:xfrm>
          <a:prstGeom prst="roundRect">
            <a:avLst>
              <a:gd name="adj" fmla="val 7273"/>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9" name="Text 7"/>
          <p:cNvSpPr txBox="1"/>
          <p:nvPr/>
        </p:nvSpPr>
        <p:spPr>
          <a:xfrm>
            <a:off x="914400" y="1847088"/>
            <a:ext cx="2560320" cy="411480"/>
          </a:xfrm>
          <a:prstGeom prst="rect">
            <a:avLst/>
          </a:prstGeom>
          <a:noFill/>
          <a:ln/>
        </p:spPr>
        <p:txBody>
          <a:bodyPr wrap="square" lIns="0" tIns="0" rIns="0" bIns="0" rtlCol="0" anchor="ctr"/>
          <a:lstStyle/>
          <a:p>
            <a:pPr indent="0" marL="0">
              <a:buNone/>
            </a:pPr>
            <a:r>
              <a:rPr lang="en-US" sz="1800" b="1" dirty="0">
                <a:solidFill>
                  <a:srgbClr val="182A40"/>
                </a:solidFill>
                <a:latin typeface="Calibri" pitchFamily="34" charset="0"/>
                <a:ea typeface="Calibri" pitchFamily="34" charset="-122"/>
                <a:cs typeface="Calibri" pitchFamily="34" charset="-120"/>
              </a:rPr>
              <a:t>Previous failures</a:t>
            </a:r>
            <a:endParaRPr lang="en-US" sz="1800" dirty="0"/>
          </a:p>
        </p:txBody>
      </p:sp>
      <p:sp>
        <p:nvSpPr>
          <p:cNvPr id="10" name="Text 8"/>
          <p:cNvSpPr txBox="1"/>
          <p:nvPr/>
        </p:nvSpPr>
        <p:spPr>
          <a:xfrm>
            <a:off x="914400" y="2240280"/>
            <a:ext cx="2560320" cy="365760"/>
          </a:xfrm>
          <a:prstGeom prst="rect">
            <a:avLst/>
          </a:prstGeom>
          <a:noFill/>
          <a:ln/>
        </p:spPr>
        <p:txBody>
          <a:bodyPr wrap="square" lIns="0" tIns="0" rIns="0" bIns="0" rtlCol="0" anchor="ctr"/>
          <a:lstStyle/>
          <a:p>
            <a:pPr indent="0" marL="0">
              <a:buNone/>
            </a:pPr>
            <a:r>
              <a:rPr lang="en-US" sz="1800" b="1" dirty="0">
                <a:solidFill>
                  <a:srgbClr val="1E787D"/>
                </a:solidFill>
                <a:latin typeface="Calibri" pitchFamily="34" charset="0"/>
                <a:ea typeface="Calibri" pitchFamily="34" charset="-122"/>
                <a:cs typeface="Calibri" pitchFamily="34" charset="-120"/>
              </a:rPr>
              <a:t>r = −0.39</a:t>
            </a:r>
            <a:endParaRPr lang="en-US" sz="1800" dirty="0"/>
          </a:p>
        </p:txBody>
      </p:sp>
      <p:sp>
        <p:nvSpPr>
          <p:cNvPr id="11" name="Shape 9"/>
          <p:cNvSpPr/>
          <p:nvPr/>
        </p:nvSpPr>
        <p:spPr>
          <a:xfrm>
            <a:off x="3657600" y="1965960"/>
            <a:ext cx="2743200" cy="201168"/>
          </a:xfrm>
          <a:prstGeom prst="rect">
            <a:avLst/>
          </a:prstGeom>
          <a:solidFill>
            <a:srgbClr val="E8F0F2"/>
          </a:solidFill>
          <a:ln w="12700">
            <a:solidFill>
              <a:srgbClr val="E8F0F2"/>
            </a:solidFill>
            <a:prstDash val="solid"/>
          </a:ln>
        </p:spPr>
      </p:sp>
      <p:sp>
        <p:nvSpPr>
          <p:cNvPr id="12" name="Shape 10"/>
          <p:cNvSpPr/>
          <p:nvPr/>
        </p:nvSpPr>
        <p:spPr>
          <a:xfrm>
            <a:off x="3657600" y="1965960"/>
            <a:ext cx="1069848" cy="201168"/>
          </a:xfrm>
          <a:prstGeom prst="rect">
            <a:avLst/>
          </a:prstGeom>
          <a:solidFill>
            <a:srgbClr val="1E787D"/>
          </a:solidFill>
          <a:ln w="12700">
            <a:solidFill>
              <a:srgbClr val="1E787D"/>
            </a:solidFill>
            <a:prstDash val="solid"/>
          </a:ln>
        </p:spPr>
      </p:sp>
      <p:sp>
        <p:nvSpPr>
          <p:cNvPr id="13" name="Text 11"/>
          <p:cNvSpPr txBox="1"/>
          <p:nvPr/>
        </p:nvSpPr>
        <p:spPr>
          <a:xfrm>
            <a:off x="3657600" y="2240280"/>
            <a:ext cx="2926080" cy="365760"/>
          </a:xfrm>
          <a:prstGeom prst="rect">
            <a:avLst/>
          </a:prstGeom>
          <a:noFill/>
          <a:ln/>
        </p:spPr>
        <p:txBody>
          <a:bodyPr wrap="square" lIns="0" tIns="0" rIns="0" bIns="0" rtlCol="0" anchor="ctr"/>
          <a:lstStyle/>
          <a:p>
            <a:pPr indent="0" marL="0">
              <a:buNone/>
            </a:pPr>
            <a:r>
              <a:rPr lang="en-US" sz="1200" dirty="0">
                <a:solidFill>
                  <a:srgbClr val="2D3741"/>
                </a:solidFill>
                <a:latin typeface="Calibri" pitchFamily="34" charset="0"/>
                <a:ea typeface="Calibri" pitchFamily="34" charset="-122"/>
                <a:cs typeface="Calibri" pitchFamily="34" charset="-120"/>
              </a:rPr>
              <a:t>moderate negative association</a:t>
            </a:r>
            <a:endParaRPr lang="en-US" sz="1200" dirty="0"/>
          </a:p>
        </p:txBody>
      </p:sp>
      <p:sp>
        <p:nvSpPr>
          <p:cNvPr id="14" name="Text 12"/>
          <p:cNvSpPr txBox="1"/>
          <p:nvPr/>
        </p:nvSpPr>
        <p:spPr>
          <a:xfrm>
            <a:off x="6858000" y="1828800"/>
            <a:ext cx="4434840" cy="822960"/>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No previous failures averaged 12.5; one previous failure averaged 8.6</a:t>
            </a:r>
            <a:endParaRPr lang="en-US" sz="1300" dirty="0"/>
          </a:p>
        </p:txBody>
      </p:sp>
      <p:sp>
        <p:nvSpPr>
          <p:cNvPr id="15" name="Shape 13"/>
          <p:cNvSpPr/>
          <p:nvPr/>
        </p:nvSpPr>
        <p:spPr>
          <a:xfrm>
            <a:off x="685800" y="2926080"/>
            <a:ext cx="10789920" cy="1005840"/>
          </a:xfrm>
          <a:prstGeom prst="roundRect">
            <a:avLst>
              <a:gd name="adj" fmla="val 7273"/>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16" name="Text 14"/>
          <p:cNvSpPr txBox="1"/>
          <p:nvPr/>
        </p:nvSpPr>
        <p:spPr>
          <a:xfrm>
            <a:off x="914400" y="3035808"/>
            <a:ext cx="2560320" cy="411480"/>
          </a:xfrm>
          <a:prstGeom prst="rect">
            <a:avLst/>
          </a:prstGeom>
          <a:noFill/>
          <a:ln/>
        </p:spPr>
        <p:txBody>
          <a:bodyPr wrap="square" lIns="0" tIns="0" rIns="0" bIns="0" rtlCol="0" anchor="ctr"/>
          <a:lstStyle/>
          <a:p>
            <a:pPr indent="0" marL="0">
              <a:buNone/>
            </a:pPr>
            <a:r>
              <a:rPr lang="en-US" sz="1800" b="1" dirty="0">
                <a:solidFill>
                  <a:srgbClr val="182A40"/>
                </a:solidFill>
                <a:latin typeface="Calibri" pitchFamily="34" charset="0"/>
                <a:ea typeface="Calibri" pitchFamily="34" charset="-122"/>
                <a:cs typeface="Calibri" pitchFamily="34" charset="-120"/>
              </a:rPr>
              <a:t>Study time</a:t>
            </a:r>
            <a:endParaRPr lang="en-US" sz="1800" dirty="0"/>
          </a:p>
        </p:txBody>
      </p:sp>
      <p:sp>
        <p:nvSpPr>
          <p:cNvPr id="17" name="Text 15"/>
          <p:cNvSpPr txBox="1"/>
          <p:nvPr/>
        </p:nvSpPr>
        <p:spPr>
          <a:xfrm>
            <a:off x="914400" y="3429000"/>
            <a:ext cx="2560320" cy="365760"/>
          </a:xfrm>
          <a:prstGeom prst="rect">
            <a:avLst/>
          </a:prstGeom>
          <a:noFill/>
          <a:ln/>
        </p:spPr>
        <p:txBody>
          <a:bodyPr wrap="square" lIns="0" tIns="0" rIns="0" bIns="0" rtlCol="0" anchor="ctr"/>
          <a:lstStyle/>
          <a:p>
            <a:pPr indent="0" marL="0">
              <a:buNone/>
            </a:pPr>
            <a:r>
              <a:rPr lang="en-US" sz="1800" b="1" dirty="0">
                <a:solidFill>
                  <a:srgbClr val="1E787D"/>
                </a:solidFill>
                <a:latin typeface="Calibri" pitchFamily="34" charset="0"/>
                <a:ea typeface="Calibri" pitchFamily="34" charset="-122"/>
                <a:cs typeface="Calibri" pitchFamily="34" charset="-120"/>
              </a:rPr>
              <a:t>r = 0.25</a:t>
            </a:r>
            <a:endParaRPr lang="en-US" sz="1800" dirty="0"/>
          </a:p>
        </p:txBody>
      </p:sp>
      <p:sp>
        <p:nvSpPr>
          <p:cNvPr id="18" name="Shape 16"/>
          <p:cNvSpPr/>
          <p:nvPr/>
        </p:nvSpPr>
        <p:spPr>
          <a:xfrm>
            <a:off x="3657600" y="3154680"/>
            <a:ext cx="2743200" cy="201168"/>
          </a:xfrm>
          <a:prstGeom prst="rect">
            <a:avLst/>
          </a:prstGeom>
          <a:solidFill>
            <a:srgbClr val="E8F0F2"/>
          </a:solidFill>
          <a:ln w="12700">
            <a:solidFill>
              <a:srgbClr val="E8F0F2"/>
            </a:solidFill>
            <a:prstDash val="solid"/>
          </a:ln>
        </p:spPr>
      </p:sp>
      <p:sp>
        <p:nvSpPr>
          <p:cNvPr id="19" name="Shape 17"/>
          <p:cNvSpPr/>
          <p:nvPr/>
        </p:nvSpPr>
        <p:spPr>
          <a:xfrm>
            <a:off x="3657600" y="3154680"/>
            <a:ext cx="685800" cy="201168"/>
          </a:xfrm>
          <a:prstGeom prst="rect">
            <a:avLst/>
          </a:prstGeom>
          <a:solidFill>
            <a:srgbClr val="1E787D"/>
          </a:solidFill>
          <a:ln w="12700">
            <a:solidFill>
              <a:srgbClr val="1E787D"/>
            </a:solidFill>
            <a:prstDash val="solid"/>
          </a:ln>
        </p:spPr>
      </p:sp>
      <p:sp>
        <p:nvSpPr>
          <p:cNvPr id="20" name="Text 18"/>
          <p:cNvSpPr txBox="1"/>
          <p:nvPr/>
        </p:nvSpPr>
        <p:spPr>
          <a:xfrm>
            <a:off x="3657600" y="3429000"/>
            <a:ext cx="2926080" cy="365760"/>
          </a:xfrm>
          <a:prstGeom prst="rect">
            <a:avLst/>
          </a:prstGeom>
          <a:noFill/>
          <a:ln/>
        </p:spPr>
        <p:txBody>
          <a:bodyPr wrap="square" lIns="0" tIns="0" rIns="0" bIns="0" rtlCol="0" anchor="ctr"/>
          <a:lstStyle/>
          <a:p>
            <a:pPr indent="0" marL="0">
              <a:buNone/>
            </a:pPr>
            <a:r>
              <a:rPr lang="en-US" sz="1200" dirty="0">
                <a:solidFill>
                  <a:srgbClr val="2D3741"/>
                </a:solidFill>
                <a:latin typeface="Calibri" pitchFamily="34" charset="0"/>
                <a:ea typeface="Calibri" pitchFamily="34" charset="-122"/>
                <a:cs typeface="Calibri" pitchFamily="34" charset="-120"/>
              </a:rPr>
              <a:t>weak-to-moderate positive association</a:t>
            </a:r>
            <a:endParaRPr lang="en-US" sz="1200" dirty="0"/>
          </a:p>
        </p:txBody>
      </p:sp>
      <p:sp>
        <p:nvSpPr>
          <p:cNvPr id="21" name="Text 19"/>
          <p:cNvSpPr txBox="1"/>
          <p:nvPr/>
        </p:nvSpPr>
        <p:spPr>
          <a:xfrm>
            <a:off x="6858000" y="3017520"/>
            <a:ext cx="4434840" cy="822960"/>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&lt;2 hours averaged 10.8; 5–10 hours averaged 13.2</a:t>
            </a:r>
            <a:endParaRPr lang="en-US" sz="1300" dirty="0"/>
          </a:p>
        </p:txBody>
      </p:sp>
      <p:sp>
        <p:nvSpPr>
          <p:cNvPr id="22" name="Shape 20"/>
          <p:cNvSpPr/>
          <p:nvPr/>
        </p:nvSpPr>
        <p:spPr>
          <a:xfrm>
            <a:off x="685800" y="4114800"/>
            <a:ext cx="10789920" cy="1005840"/>
          </a:xfrm>
          <a:prstGeom prst="roundRect">
            <a:avLst>
              <a:gd name="adj" fmla="val 7273"/>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23" name="Text 21"/>
          <p:cNvSpPr txBox="1"/>
          <p:nvPr/>
        </p:nvSpPr>
        <p:spPr>
          <a:xfrm>
            <a:off x="914400" y="4224528"/>
            <a:ext cx="2560320" cy="411480"/>
          </a:xfrm>
          <a:prstGeom prst="rect">
            <a:avLst/>
          </a:prstGeom>
          <a:noFill/>
          <a:ln/>
        </p:spPr>
        <p:txBody>
          <a:bodyPr wrap="square" lIns="0" tIns="0" rIns="0" bIns="0" rtlCol="0" anchor="ctr"/>
          <a:lstStyle/>
          <a:p>
            <a:pPr indent="0" marL="0">
              <a:buNone/>
            </a:pPr>
            <a:r>
              <a:rPr lang="en-US" sz="1800" b="1" dirty="0">
                <a:solidFill>
                  <a:srgbClr val="182A40"/>
                </a:solidFill>
                <a:latin typeface="Calibri" pitchFamily="34" charset="0"/>
                <a:ea typeface="Calibri" pitchFamily="34" charset="-122"/>
                <a:cs typeface="Calibri" pitchFamily="34" charset="-120"/>
              </a:rPr>
              <a:t>Absences</a:t>
            </a:r>
            <a:endParaRPr lang="en-US" sz="1800" dirty="0"/>
          </a:p>
        </p:txBody>
      </p:sp>
      <p:sp>
        <p:nvSpPr>
          <p:cNvPr id="24" name="Text 22"/>
          <p:cNvSpPr txBox="1"/>
          <p:nvPr/>
        </p:nvSpPr>
        <p:spPr>
          <a:xfrm>
            <a:off x="914400" y="4617720"/>
            <a:ext cx="2560320" cy="365760"/>
          </a:xfrm>
          <a:prstGeom prst="rect">
            <a:avLst/>
          </a:prstGeom>
          <a:noFill/>
          <a:ln/>
        </p:spPr>
        <p:txBody>
          <a:bodyPr wrap="square" lIns="0" tIns="0" rIns="0" bIns="0" rtlCol="0" anchor="ctr"/>
          <a:lstStyle/>
          <a:p>
            <a:pPr indent="0" marL="0">
              <a:buNone/>
            </a:pPr>
            <a:r>
              <a:rPr lang="en-US" sz="1800" b="1" dirty="0">
                <a:solidFill>
                  <a:srgbClr val="1E787D"/>
                </a:solidFill>
                <a:latin typeface="Calibri" pitchFamily="34" charset="0"/>
                <a:ea typeface="Calibri" pitchFamily="34" charset="-122"/>
                <a:cs typeface="Calibri" pitchFamily="34" charset="-120"/>
              </a:rPr>
              <a:t>r = −0.09</a:t>
            </a:r>
            <a:endParaRPr lang="en-US" sz="1800" dirty="0"/>
          </a:p>
        </p:txBody>
      </p:sp>
      <p:sp>
        <p:nvSpPr>
          <p:cNvPr id="25" name="Shape 23"/>
          <p:cNvSpPr/>
          <p:nvPr/>
        </p:nvSpPr>
        <p:spPr>
          <a:xfrm>
            <a:off x="3657600" y="4343400"/>
            <a:ext cx="2743200" cy="201168"/>
          </a:xfrm>
          <a:prstGeom prst="rect">
            <a:avLst/>
          </a:prstGeom>
          <a:solidFill>
            <a:srgbClr val="E8F0F2"/>
          </a:solidFill>
          <a:ln w="12700">
            <a:solidFill>
              <a:srgbClr val="E8F0F2"/>
            </a:solidFill>
            <a:prstDash val="solid"/>
          </a:ln>
        </p:spPr>
      </p:sp>
      <p:sp>
        <p:nvSpPr>
          <p:cNvPr id="26" name="Shape 24"/>
          <p:cNvSpPr/>
          <p:nvPr/>
        </p:nvSpPr>
        <p:spPr>
          <a:xfrm>
            <a:off x="3657600" y="4343400"/>
            <a:ext cx="246888" cy="201168"/>
          </a:xfrm>
          <a:prstGeom prst="rect">
            <a:avLst/>
          </a:prstGeom>
          <a:solidFill>
            <a:srgbClr val="1E787D"/>
          </a:solidFill>
          <a:ln w="12700">
            <a:solidFill>
              <a:srgbClr val="1E787D"/>
            </a:solidFill>
            <a:prstDash val="solid"/>
          </a:ln>
        </p:spPr>
      </p:sp>
      <p:sp>
        <p:nvSpPr>
          <p:cNvPr id="27" name="Text 25"/>
          <p:cNvSpPr txBox="1"/>
          <p:nvPr/>
        </p:nvSpPr>
        <p:spPr>
          <a:xfrm>
            <a:off x="3657600" y="4617720"/>
            <a:ext cx="2926080" cy="365760"/>
          </a:xfrm>
          <a:prstGeom prst="rect">
            <a:avLst/>
          </a:prstGeom>
          <a:noFill/>
          <a:ln/>
        </p:spPr>
        <p:txBody>
          <a:bodyPr wrap="square" lIns="0" tIns="0" rIns="0" bIns="0" rtlCol="0" anchor="ctr"/>
          <a:lstStyle/>
          <a:p>
            <a:pPr indent="0" marL="0">
              <a:buNone/>
            </a:pPr>
            <a:r>
              <a:rPr lang="en-US" sz="1200" dirty="0">
                <a:solidFill>
                  <a:srgbClr val="2D3741"/>
                </a:solidFill>
                <a:latin typeface="Calibri" pitchFamily="34" charset="0"/>
                <a:ea typeface="Calibri" pitchFamily="34" charset="-122"/>
                <a:cs typeface="Calibri" pitchFamily="34" charset="-120"/>
              </a:rPr>
              <a:t>weak negative association</a:t>
            </a:r>
            <a:endParaRPr lang="en-US" sz="1200" dirty="0"/>
          </a:p>
        </p:txBody>
      </p:sp>
      <p:sp>
        <p:nvSpPr>
          <p:cNvPr id="28" name="Text 26"/>
          <p:cNvSpPr txBox="1"/>
          <p:nvPr/>
        </p:nvSpPr>
        <p:spPr>
          <a:xfrm>
            <a:off x="6858000" y="4206240"/>
            <a:ext cx="4434840" cy="822960"/>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0–5 absences averaged 12.0; 11–20 absences averaged 10.6</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94360" y="320040"/>
            <a:ext cx="11000232" cy="731520"/>
          </a:xfrm>
          <a:prstGeom prst="rect">
            <a:avLst/>
          </a:prstGeom>
          <a:noFill/>
          <a:ln/>
        </p:spPr>
        <p:txBody>
          <a:bodyPr wrap="square" lIns="0" tIns="0" rIns="0" bIns="0" rtlCol="0" anchor="ctr"/>
          <a:lstStyle/>
          <a:p>
            <a:pPr algn="ctr" indent="0" marL="0">
              <a:buNone/>
            </a:pPr>
            <a:r>
              <a:rPr lang="en-US" sz="2800" b="1" dirty="0">
                <a:solidFill>
                  <a:srgbClr val="182A40"/>
                </a:solidFill>
                <a:latin typeface="Calibri" pitchFamily="34" charset="0"/>
                <a:ea typeface="Calibri" pitchFamily="34" charset="-122"/>
                <a:cs typeface="Calibri" pitchFamily="34" charset="-120"/>
              </a:rPr>
              <a:t>12. Responsible Use &amp; Next Steps</a:t>
            </a:r>
            <a:endParaRPr lang="en-US" sz="2800" dirty="0"/>
          </a:p>
        </p:txBody>
      </p:sp>
      <p:sp>
        <p:nvSpPr>
          <p:cNvPr id="3" name="Shape 1"/>
          <p:cNvSpPr/>
          <p:nvPr/>
        </p:nvSpPr>
        <p:spPr>
          <a:xfrm>
            <a:off x="685800" y="5440680"/>
            <a:ext cx="10789920" cy="658368"/>
          </a:xfrm>
          <a:prstGeom prst="roundRect">
            <a:avLst>
              <a:gd name="adj" fmla="val 13889"/>
            </a:avLst>
          </a:prstGeom>
          <a:solidFill>
            <a:srgbClr val="E8F0F2"/>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4" name="Text 2"/>
          <p:cNvSpPr txBox="1"/>
          <p:nvPr/>
        </p:nvSpPr>
        <p:spPr>
          <a:xfrm>
            <a:off x="868680" y="5440680"/>
            <a:ext cx="10424160" cy="658368"/>
          </a:xfrm>
          <a:prstGeom prst="rect">
            <a:avLst/>
          </a:prstGeom>
          <a:noFill/>
          <a:ln/>
        </p:spPr>
        <p:txBody>
          <a:bodyPr wrap="square" lIns="0" tIns="0" rIns="0" bIns="0" rtlCol="0" anchor="ctr"/>
          <a:lstStyle/>
          <a:p>
            <a:pPr algn="ctr" indent="0" marL="0">
              <a:buNone/>
            </a:pPr>
            <a:r>
              <a:rPr lang="en-US" sz="1200" dirty="0">
                <a:solidFill>
                  <a:srgbClr val="2D3741"/>
                </a:solidFill>
                <a:latin typeface="Calibri" pitchFamily="34" charset="0"/>
                <a:ea typeface="Calibri" pitchFamily="34" charset="-122"/>
                <a:cs typeface="Calibri" pitchFamily="34" charset="-120"/>
              </a:rPr>
              <a:t>Use the analysis to guide support, not to label individual students.</a:t>
            </a:r>
            <a:endParaRPr lang="en-US" sz="1200" dirty="0"/>
          </a:p>
        </p:txBody>
      </p:sp>
      <p:sp>
        <p:nvSpPr>
          <p:cNvPr id="5" name="Shape 3"/>
          <p:cNvSpPr/>
          <p:nvPr/>
        </p:nvSpPr>
        <p:spPr>
          <a:xfrm>
            <a:off x="594360" y="6473952"/>
            <a:ext cx="10972800" cy="18288"/>
          </a:xfrm>
          <a:prstGeom prst="rect">
            <a:avLst/>
          </a:prstGeom>
          <a:solidFill>
            <a:srgbClr val="E8F0F2"/>
          </a:solidFill>
          <a:ln w="12700">
            <a:solidFill>
              <a:srgbClr val="E8F0F2"/>
            </a:solidFill>
            <a:prstDash val="solid"/>
          </a:ln>
        </p:spPr>
      </p:sp>
      <p:sp>
        <p:nvSpPr>
          <p:cNvPr id="6" name="Text 4"/>
          <p:cNvSpPr txBox="1"/>
          <p:nvPr/>
        </p:nvSpPr>
        <p:spPr>
          <a:xfrm>
            <a:off x="594360" y="6510528"/>
            <a:ext cx="10972800" cy="228600"/>
          </a:xfrm>
          <a:prstGeom prst="rect">
            <a:avLst/>
          </a:prstGeom>
          <a:noFill/>
          <a:ln/>
        </p:spPr>
        <p:txBody>
          <a:bodyPr wrap="square" lIns="0" tIns="0" rIns="0" bIns="0" rtlCol="0" anchor="ctr"/>
          <a:lstStyle/>
          <a:p>
            <a:pPr algn="ctr" indent="0" marL="0">
              <a:buNone/>
            </a:pPr>
            <a:r>
              <a:rPr lang="en-US" sz="800" dirty="0">
                <a:solidFill>
                  <a:srgbClr val="646E78"/>
                </a:solidFill>
                <a:latin typeface="Calibri" pitchFamily="34" charset="0"/>
                <a:ea typeface="Calibri" pitchFamily="34" charset="-122"/>
                <a:cs typeface="Calibri" pitchFamily="34" charset="-120"/>
              </a:rPr>
              <a:t>Student Performance Data Analysis  |  Assessment Task 2                         13</a:t>
            </a:r>
            <a:endParaRPr lang="en-US" sz="800" dirty="0"/>
          </a:p>
        </p:txBody>
      </p:sp>
      <p:sp>
        <p:nvSpPr>
          <p:cNvPr id="7" name="Shape 5"/>
          <p:cNvSpPr/>
          <p:nvPr/>
        </p:nvSpPr>
        <p:spPr>
          <a:xfrm>
            <a:off x="685800" y="1234440"/>
            <a:ext cx="5303520" cy="3977640"/>
          </a:xfrm>
          <a:prstGeom prst="roundRect">
            <a:avLst>
              <a:gd name="adj" fmla="val 1839"/>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8" name="Text 6"/>
          <p:cNvSpPr txBox="1"/>
          <p:nvPr/>
        </p:nvSpPr>
        <p:spPr>
          <a:xfrm>
            <a:off x="960120" y="1371600"/>
            <a:ext cx="4754880" cy="411480"/>
          </a:xfrm>
          <a:prstGeom prst="rect">
            <a:avLst/>
          </a:prstGeom>
          <a:noFill/>
          <a:ln/>
        </p:spPr>
        <p:txBody>
          <a:bodyPr wrap="square" lIns="0" tIns="0" rIns="0" bIns="0" rtlCol="0" anchor="ctr"/>
          <a:lstStyle/>
          <a:p>
            <a:pPr indent="0" marL="0">
              <a:buNone/>
            </a:pPr>
            <a:r>
              <a:rPr lang="en-US" sz="1900" b="1" dirty="0">
                <a:solidFill>
                  <a:srgbClr val="1E787D"/>
                </a:solidFill>
                <a:latin typeface="Calibri" pitchFamily="34" charset="0"/>
                <a:ea typeface="Calibri" pitchFamily="34" charset="-122"/>
                <a:cs typeface="Calibri" pitchFamily="34" charset="-120"/>
              </a:rPr>
              <a:t>Responsible use</a:t>
            </a:r>
            <a:endParaRPr lang="en-US" sz="1900" dirty="0"/>
          </a:p>
        </p:txBody>
      </p:sp>
      <p:sp>
        <p:nvSpPr>
          <p:cNvPr id="9" name="Text 7"/>
          <p:cNvSpPr txBox="1"/>
          <p:nvPr/>
        </p:nvSpPr>
        <p:spPr>
          <a:xfrm>
            <a:off x="960120" y="1874520"/>
            <a:ext cx="475488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3741"/>
                </a:solidFill>
                <a:latin typeface="Calibri" pitchFamily="34" charset="0"/>
                <a:ea typeface="Calibri" pitchFamily="34" charset="-122"/>
                <a:cs typeface="Calibri" pitchFamily="34" charset="-120"/>
              </a:rPr>
              <a:t>Protect student privacy; never report information that could identify individuals.</a:t>
            </a:r>
            <a:endParaRPr lang="en-US" sz="1400" dirty="0"/>
          </a:p>
          <a:p>
            <a:pPr marL="342900" indent="-342900">
              <a:spcAft>
                <a:spcPts val="800"/>
              </a:spcAft>
              <a:buSzPct val="100000"/>
              <a:buChar char="•"/>
            </a:pPr>
            <a:r>
              <a:rPr lang="en-US" sz="1400" dirty="0">
                <a:solidFill>
                  <a:srgbClr val="2D3741"/>
                </a:solidFill>
                <a:latin typeface="Calibri" pitchFamily="34" charset="0"/>
                <a:ea typeface="Calibri" pitchFamily="34" charset="-122"/>
                <a:cs typeface="Calibri" pitchFamily="34" charset="-120"/>
              </a:rPr>
              <a:t>Do not turn statistical patterns into labels for individual students.</a:t>
            </a:r>
            <a:endParaRPr lang="en-US" sz="1400" dirty="0"/>
          </a:p>
          <a:p>
            <a:pPr marL="342900" indent="-342900">
              <a:spcAft>
                <a:spcPts val="800"/>
              </a:spcAft>
              <a:buSzPct val="100000"/>
              <a:buChar char="•"/>
            </a:pPr>
            <a:r>
              <a:rPr lang="en-US" sz="1400" dirty="0">
                <a:solidFill>
                  <a:srgbClr val="2D3741"/>
                </a:solidFill>
                <a:latin typeface="Calibri" pitchFamily="34" charset="0"/>
                <a:ea typeface="Calibri" pitchFamily="34" charset="-122"/>
                <a:cs typeface="Calibri" pitchFamily="34" charset="-120"/>
              </a:rPr>
              <a:t>Findings come from two Portuguese schools and may not generalise to other settings.</a:t>
            </a:r>
            <a:endParaRPr lang="en-US" sz="1400" dirty="0"/>
          </a:p>
          <a:p>
            <a:pPr marL="342900" indent="-342900">
              <a:spcAft>
                <a:spcPts val="800"/>
              </a:spcAft>
              <a:buSzPct val="100000"/>
              <a:buChar char="•"/>
            </a:pPr>
            <a:r>
              <a:rPr lang="en-US" sz="1400" dirty="0">
                <a:solidFill>
                  <a:srgbClr val="2D3741"/>
                </a:solidFill>
                <a:latin typeface="Calibri" pitchFamily="34" charset="0"/>
                <a:ea typeface="Calibri" pitchFamily="34" charset="-122"/>
                <a:cs typeface="Calibri" pitchFamily="34" charset="-120"/>
              </a:rPr>
              <a:t>When working with Aboriginal and Torres Strait Islander communities, respect community authority, cultural protocols and data sovereignty. This dataset contains no such community data.</a:t>
            </a:r>
            <a:endParaRPr lang="en-US" sz="1400" dirty="0"/>
          </a:p>
        </p:txBody>
      </p:sp>
      <p:sp>
        <p:nvSpPr>
          <p:cNvPr id="10" name="Shape 8"/>
          <p:cNvSpPr/>
          <p:nvPr/>
        </p:nvSpPr>
        <p:spPr>
          <a:xfrm>
            <a:off x="6172200" y="1234440"/>
            <a:ext cx="5303520" cy="3977640"/>
          </a:xfrm>
          <a:prstGeom prst="roundRect">
            <a:avLst>
              <a:gd name="adj" fmla="val 1839"/>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11" name="Text 9"/>
          <p:cNvSpPr txBox="1"/>
          <p:nvPr/>
        </p:nvSpPr>
        <p:spPr>
          <a:xfrm>
            <a:off x="6446520" y="1371600"/>
            <a:ext cx="4754880" cy="411480"/>
          </a:xfrm>
          <a:prstGeom prst="rect">
            <a:avLst/>
          </a:prstGeom>
          <a:noFill/>
          <a:ln/>
        </p:spPr>
        <p:txBody>
          <a:bodyPr wrap="square" lIns="0" tIns="0" rIns="0" bIns="0" rtlCol="0" anchor="ctr"/>
          <a:lstStyle/>
          <a:p>
            <a:pPr indent="0" marL="0">
              <a:buNone/>
            </a:pPr>
            <a:r>
              <a:rPr lang="en-US" sz="1900" b="1" dirty="0">
                <a:solidFill>
                  <a:srgbClr val="1F77B4"/>
                </a:solidFill>
                <a:latin typeface="Calibri" pitchFamily="34" charset="0"/>
                <a:ea typeface="Calibri" pitchFamily="34" charset="-122"/>
                <a:cs typeface="Calibri" pitchFamily="34" charset="-120"/>
              </a:rPr>
              <a:t>Next steps</a:t>
            </a:r>
            <a:endParaRPr lang="en-US" sz="1900" dirty="0"/>
          </a:p>
        </p:txBody>
      </p:sp>
      <p:sp>
        <p:nvSpPr>
          <p:cNvPr id="12" name="Text 10"/>
          <p:cNvSpPr txBox="1"/>
          <p:nvPr/>
        </p:nvSpPr>
        <p:spPr>
          <a:xfrm>
            <a:off x="6446520" y="1874520"/>
            <a:ext cx="475488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3741"/>
                </a:solidFill>
                <a:latin typeface="Calibri" pitchFamily="34" charset="0"/>
                <a:ea typeface="Calibri" pitchFamily="34" charset="-122"/>
                <a:cs typeface="Calibri" pitchFamily="34" charset="-120"/>
              </a:rPr>
              <a:t>Test the findings and the model on local, more recent data.</a:t>
            </a:r>
            <a:endParaRPr lang="en-US" sz="1400" dirty="0"/>
          </a:p>
          <a:p>
            <a:pPr marL="342900" indent="-342900">
              <a:spcAft>
                <a:spcPts val="800"/>
              </a:spcAft>
              <a:buSzPct val="100000"/>
              <a:buChar char="•"/>
            </a:pPr>
            <a:r>
              <a:rPr lang="en-US" sz="1400" dirty="0">
                <a:solidFill>
                  <a:srgbClr val="2D3741"/>
                </a:solidFill>
                <a:latin typeface="Calibri" pitchFamily="34" charset="0"/>
                <a:ea typeface="Calibri" pitchFamily="34" charset="-122"/>
                <a:cs typeface="Calibri" pitchFamily="34" charset="-120"/>
              </a:rPr>
              <a:t>Follow students over time to understand how outcomes change.</a:t>
            </a:r>
            <a:endParaRPr lang="en-US" sz="1400" dirty="0"/>
          </a:p>
          <a:p>
            <a:pPr marL="342900" indent="-342900">
              <a:spcAft>
                <a:spcPts val="800"/>
              </a:spcAft>
              <a:buSzPct val="100000"/>
              <a:buChar char="•"/>
            </a:pPr>
            <a:r>
              <a:rPr lang="en-US" sz="1400" dirty="0">
                <a:solidFill>
                  <a:srgbClr val="2D3741"/>
                </a:solidFill>
                <a:latin typeface="Calibri" pitchFamily="34" charset="0"/>
                <a:ea typeface="Calibri" pitchFamily="34" charset="-122"/>
                <a:cs typeface="Calibri" pitchFamily="34" charset="-120"/>
              </a:rPr>
              <a:t>Evaluate support interventions before scaling them up.</a:t>
            </a:r>
            <a:endParaRPr lang="en-US" sz="1400" dirty="0"/>
          </a:p>
          <a:p>
            <a:pPr marL="342900" indent="-342900">
              <a:spcAft>
                <a:spcPts val="800"/>
              </a:spcAft>
              <a:buSzPct val="100000"/>
              <a:buChar char="•"/>
            </a:pPr>
            <a:r>
              <a:rPr lang="en-US" sz="1400" dirty="0">
                <a:solidFill>
                  <a:srgbClr val="2D3741"/>
                </a:solidFill>
                <a:latin typeface="Calibri" pitchFamily="34" charset="0"/>
                <a:ea typeface="Calibri" pitchFamily="34" charset="-122"/>
                <a:cs typeface="Calibri" pitchFamily="34" charset="-120"/>
              </a:rPr>
              <a:t>Investigate why students with previous failures and very low/high social activity have lower outcomes.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94360" y="320040"/>
            <a:ext cx="11000232" cy="731520"/>
          </a:xfrm>
          <a:prstGeom prst="rect">
            <a:avLst/>
          </a:prstGeom>
          <a:noFill/>
          <a:ln/>
        </p:spPr>
        <p:txBody>
          <a:bodyPr wrap="square" lIns="0" tIns="0" rIns="0" bIns="0" rtlCol="0" anchor="ctr"/>
          <a:lstStyle/>
          <a:p>
            <a:pPr algn="ctr" indent="0" marL="0">
              <a:buNone/>
            </a:pPr>
            <a:r>
              <a:rPr lang="en-US" sz="2800" b="1" dirty="0">
                <a:solidFill>
                  <a:srgbClr val="182A40"/>
                </a:solidFill>
                <a:latin typeface="Calibri" pitchFamily="34" charset="0"/>
                <a:ea typeface="Calibri" pitchFamily="34" charset="-122"/>
                <a:cs typeface="Calibri" pitchFamily="34" charset="-120"/>
              </a:rPr>
              <a:t>Backup: Full Regression Model</a:t>
            </a:r>
            <a:endParaRPr lang="en-US" sz="2800" dirty="0"/>
          </a:p>
        </p:txBody>
      </p:sp>
      <p:sp>
        <p:nvSpPr>
          <p:cNvPr id="3" name="Shape 1"/>
          <p:cNvSpPr/>
          <p:nvPr/>
        </p:nvSpPr>
        <p:spPr>
          <a:xfrm>
            <a:off x="685800" y="5440680"/>
            <a:ext cx="10789920" cy="658368"/>
          </a:xfrm>
          <a:prstGeom prst="roundRect">
            <a:avLst>
              <a:gd name="adj" fmla="val 13889"/>
            </a:avLst>
          </a:prstGeom>
          <a:solidFill>
            <a:srgbClr val="E8F0F2"/>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4" name="Text 2"/>
          <p:cNvSpPr txBox="1"/>
          <p:nvPr/>
        </p:nvSpPr>
        <p:spPr>
          <a:xfrm>
            <a:off x="868680" y="5440680"/>
            <a:ext cx="10424160" cy="658368"/>
          </a:xfrm>
          <a:prstGeom prst="rect">
            <a:avLst/>
          </a:prstGeom>
          <a:noFill/>
          <a:ln/>
        </p:spPr>
        <p:txBody>
          <a:bodyPr wrap="square" lIns="0" tIns="0" rIns="0" bIns="0" rtlCol="0" anchor="ctr"/>
          <a:lstStyle/>
          <a:p>
            <a:pPr algn="ctr" indent="0" marL="0">
              <a:buNone/>
            </a:pPr>
            <a:r>
              <a:rPr lang="en-US" sz="1200" dirty="0">
                <a:solidFill>
                  <a:srgbClr val="2D3741"/>
                </a:solidFill>
                <a:latin typeface="Calibri" pitchFamily="34" charset="0"/>
                <a:ea typeface="Calibri" pitchFamily="34" charset="-122"/>
                <a:cs typeface="Calibri" pitchFamily="34" charset="-120"/>
              </a:rPr>
              <a:t>Linear regression on G3, 649 students. G1 and G2 excluded. Coefficients are adjusted associations, not causal effects.</a:t>
            </a:r>
            <a:endParaRPr lang="en-US" sz="1200" dirty="0"/>
          </a:p>
        </p:txBody>
      </p:sp>
      <p:sp>
        <p:nvSpPr>
          <p:cNvPr id="5" name="Shape 3"/>
          <p:cNvSpPr/>
          <p:nvPr/>
        </p:nvSpPr>
        <p:spPr>
          <a:xfrm>
            <a:off x="594360" y="6473952"/>
            <a:ext cx="10972800" cy="18288"/>
          </a:xfrm>
          <a:prstGeom prst="rect">
            <a:avLst/>
          </a:prstGeom>
          <a:solidFill>
            <a:srgbClr val="E8F0F2"/>
          </a:solidFill>
          <a:ln w="12700">
            <a:solidFill>
              <a:srgbClr val="E8F0F2"/>
            </a:solidFill>
            <a:prstDash val="solid"/>
          </a:ln>
        </p:spPr>
      </p:sp>
      <p:sp>
        <p:nvSpPr>
          <p:cNvPr id="6" name="Text 4"/>
          <p:cNvSpPr txBox="1"/>
          <p:nvPr/>
        </p:nvSpPr>
        <p:spPr>
          <a:xfrm>
            <a:off x="594360" y="6510528"/>
            <a:ext cx="10972800" cy="228600"/>
          </a:xfrm>
          <a:prstGeom prst="rect">
            <a:avLst/>
          </a:prstGeom>
          <a:noFill/>
          <a:ln/>
        </p:spPr>
        <p:txBody>
          <a:bodyPr wrap="square" lIns="0" tIns="0" rIns="0" bIns="0" rtlCol="0" anchor="ctr"/>
          <a:lstStyle/>
          <a:p>
            <a:pPr algn="ctr" indent="0" marL="0">
              <a:buNone/>
            </a:pPr>
            <a:r>
              <a:rPr lang="en-US" sz="800" dirty="0">
                <a:solidFill>
                  <a:srgbClr val="646E78"/>
                </a:solidFill>
                <a:latin typeface="Calibri" pitchFamily="34" charset="0"/>
                <a:ea typeface="Calibri" pitchFamily="34" charset="-122"/>
                <a:cs typeface="Calibri" pitchFamily="34" charset="-120"/>
              </a:rPr>
              <a:t>Student Performance Data Analysis  |  Assessment Task 2                         B2</a:t>
            </a:r>
            <a:endParaRPr lang="en-US" sz="800" dirty="0"/>
          </a:p>
        </p:txBody>
      </p:sp>
      <p:sp>
        <p:nvSpPr>
          <p:cNvPr id="7" name="Shape 5"/>
          <p:cNvSpPr/>
          <p:nvPr/>
        </p:nvSpPr>
        <p:spPr>
          <a:xfrm>
            <a:off x="685800" y="1234440"/>
            <a:ext cx="6035040" cy="4069080"/>
          </a:xfrm>
          <a:prstGeom prst="roundRect">
            <a:avLst>
              <a:gd name="adj" fmla="val 1798"/>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8" name="Text 6"/>
          <p:cNvSpPr txBox="1"/>
          <p:nvPr/>
        </p:nvSpPr>
        <p:spPr>
          <a:xfrm>
            <a:off x="914400" y="1371600"/>
            <a:ext cx="4206240" cy="347472"/>
          </a:xfrm>
          <a:prstGeom prst="rect">
            <a:avLst/>
          </a:prstGeom>
          <a:noFill/>
          <a:ln/>
        </p:spPr>
        <p:txBody>
          <a:bodyPr wrap="square" lIns="0" tIns="0" rIns="0" bIns="0" rtlCol="0" anchor="ctr"/>
          <a:lstStyle/>
          <a:p>
            <a:pPr indent="0" marL="0">
              <a:buNone/>
            </a:pPr>
            <a:r>
              <a:rPr lang="en-US" sz="1300" b="1" dirty="0">
                <a:solidFill>
                  <a:srgbClr val="182A40"/>
                </a:solidFill>
                <a:latin typeface="Calibri" pitchFamily="34" charset="0"/>
                <a:ea typeface="Calibri" pitchFamily="34" charset="-122"/>
                <a:cs typeface="Calibri" pitchFamily="34" charset="-120"/>
              </a:rPr>
              <a:t>Intercept</a:t>
            </a:r>
            <a:endParaRPr lang="en-US" sz="1300" dirty="0"/>
          </a:p>
        </p:txBody>
      </p:sp>
      <p:sp>
        <p:nvSpPr>
          <p:cNvPr id="9" name="Text 7"/>
          <p:cNvSpPr txBox="1"/>
          <p:nvPr/>
        </p:nvSpPr>
        <p:spPr>
          <a:xfrm>
            <a:off x="5120640" y="1371600"/>
            <a:ext cx="1371600" cy="347472"/>
          </a:xfrm>
          <a:prstGeom prst="rect">
            <a:avLst/>
          </a:prstGeom>
          <a:noFill/>
          <a:ln/>
        </p:spPr>
        <p:txBody>
          <a:bodyPr wrap="square" lIns="0" tIns="0" rIns="0" bIns="0" rtlCol="0" anchor="ctr"/>
          <a:lstStyle/>
          <a:p>
            <a:pPr algn="r" indent="0" marL="0">
              <a:buNone/>
            </a:pPr>
            <a:r>
              <a:rPr lang="en-US" sz="1300" b="1" dirty="0">
                <a:solidFill>
                  <a:srgbClr val="1E787D"/>
                </a:solidFill>
                <a:latin typeface="Calibri" pitchFamily="34" charset="0"/>
                <a:ea typeface="Calibri" pitchFamily="34" charset="-122"/>
                <a:cs typeface="Calibri" pitchFamily="34" charset="-120"/>
              </a:rPr>
              <a:t>11.17</a:t>
            </a:r>
            <a:endParaRPr lang="en-US" sz="1300" dirty="0"/>
          </a:p>
        </p:txBody>
      </p:sp>
      <p:sp>
        <p:nvSpPr>
          <p:cNvPr id="10" name="Text 8"/>
          <p:cNvSpPr txBox="1"/>
          <p:nvPr/>
        </p:nvSpPr>
        <p:spPr>
          <a:xfrm>
            <a:off x="914400" y="1755648"/>
            <a:ext cx="4206240" cy="347472"/>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University aspiration (yes = 1)</a:t>
            </a:r>
            <a:endParaRPr lang="en-US" sz="1300" dirty="0"/>
          </a:p>
        </p:txBody>
      </p:sp>
      <p:sp>
        <p:nvSpPr>
          <p:cNvPr id="11" name="Text 9"/>
          <p:cNvSpPr txBox="1"/>
          <p:nvPr/>
        </p:nvSpPr>
        <p:spPr>
          <a:xfrm>
            <a:off x="5120640" y="1755648"/>
            <a:ext cx="1371600" cy="347472"/>
          </a:xfrm>
          <a:prstGeom prst="rect">
            <a:avLst/>
          </a:prstGeom>
          <a:noFill/>
          <a:ln/>
        </p:spPr>
        <p:txBody>
          <a:bodyPr wrap="square" lIns="0" tIns="0" rIns="0" bIns="0" rtlCol="0" anchor="ctr"/>
          <a:lstStyle/>
          <a:p>
            <a:pPr algn="r" indent="0" marL="0">
              <a:buNone/>
            </a:pPr>
            <a:r>
              <a:rPr lang="en-US" sz="1300" b="1" dirty="0">
                <a:solidFill>
                  <a:srgbClr val="1E787D"/>
                </a:solidFill>
                <a:latin typeface="Calibri" pitchFamily="34" charset="0"/>
                <a:ea typeface="Calibri" pitchFamily="34" charset="-122"/>
                <a:cs typeface="Calibri" pitchFamily="34" charset="-120"/>
              </a:rPr>
              <a:t>+1.71</a:t>
            </a:r>
            <a:endParaRPr lang="en-US" sz="1300" dirty="0"/>
          </a:p>
        </p:txBody>
      </p:sp>
      <p:sp>
        <p:nvSpPr>
          <p:cNvPr id="12" name="Text 10"/>
          <p:cNvSpPr txBox="1"/>
          <p:nvPr/>
        </p:nvSpPr>
        <p:spPr>
          <a:xfrm>
            <a:off x="914400" y="2139696"/>
            <a:ext cx="4206240" cy="347472"/>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Study-time category (1–4)</a:t>
            </a:r>
            <a:endParaRPr lang="en-US" sz="1300" dirty="0"/>
          </a:p>
        </p:txBody>
      </p:sp>
      <p:sp>
        <p:nvSpPr>
          <p:cNvPr id="13" name="Text 11"/>
          <p:cNvSpPr txBox="1"/>
          <p:nvPr/>
        </p:nvSpPr>
        <p:spPr>
          <a:xfrm>
            <a:off x="5120640" y="2139696"/>
            <a:ext cx="1371600" cy="347472"/>
          </a:xfrm>
          <a:prstGeom prst="rect">
            <a:avLst/>
          </a:prstGeom>
          <a:noFill/>
          <a:ln/>
        </p:spPr>
        <p:txBody>
          <a:bodyPr wrap="square" lIns="0" tIns="0" rIns="0" bIns="0" rtlCol="0" anchor="ctr"/>
          <a:lstStyle/>
          <a:p>
            <a:pPr algn="r" indent="0" marL="0">
              <a:buNone/>
            </a:pPr>
            <a:r>
              <a:rPr lang="en-US" sz="1300" b="1" dirty="0">
                <a:solidFill>
                  <a:srgbClr val="1E787D"/>
                </a:solidFill>
                <a:latin typeface="Calibri" pitchFamily="34" charset="0"/>
                <a:ea typeface="Calibri" pitchFamily="34" charset="-122"/>
                <a:cs typeface="Calibri" pitchFamily="34" charset="-120"/>
              </a:rPr>
              <a:t>+0.50</a:t>
            </a:r>
            <a:endParaRPr lang="en-US" sz="1300" dirty="0"/>
          </a:p>
        </p:txBody>
      </p:sp>
      <p:sp>
        <p:nvSpPr>
          <p:cNvPr id="14" name="Text 12"/>
          <p:cNvSpPr txBox="1"/>
          <p:nvPr/>
        </p:nvSpPr>
        <p:spPr>
          <a:xfrm>
            <a:off x="914400" y="2523744"/>
            <a:ext cx="4206240" cy="347472"/>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School-day drinking (1–5)</a:t>
            </a:r>
            <a:endParaRPr lang="en-US" sz="1300" dirty="0"/>
          </a:p>
        </p:txBody>
      </p:sp>
      <p:sp>
        <p:nvSpPr>
          <p:cNvPr id="15" name="Text 13"/>
          <p:cNvSpPr txBox="1"/>
          <p:nvPr/>
        </p:nvSpPr>
        <p:spPr>
          <a:xfrm>
            <a:off x="5120640" y="2523744"/>
            <a:ext cx="1371600" cy="347472"/>
          </a:xfrm>
          <a:prstGeom prst="rect">
            <a:avLst/>
          </a:prstGeom>
          <a:noFill/>
          <a:ln/>
        </p:spPr>
        <p:txBody>
          <a:bodyPr wrap="square" lIns="0" tIns="0" rIns="0" bIns="0" rtlCol="0" anchor="ctr"/>
          <a:lstStyle/>
          <a:p>
            <a:pPr algn="r" indent="0" marL="0">
              <a:buNone/>
            </a:pPr>
            <a:r>
              <a:rPr lang="en-US" sz="1300" b="1" dirty="0">
                <a:solidFill>
                  <a:srgbClr val="1E787D"/>
                </a:solidFill>
                <a:latin typeface="Calibri" pitchFamily="34" charset="0"/>
                <a:ea typeface="Calibri" pitchFamily="34" charset="-122"/>
                <a:cs typeface="Calibri" pitchFamily="34" charset="-120"/>
              </a:rPr>
              <a:t>−0.40</a:t>
            </a:r>
            <a:endParaRPr lang="en-US" sz="1300" dirty="0"/>
          </a:p>
        </p:txBody>
      </p:sp>
      <p:sp>
        <p:nvSpPr>
          <p:cNvPr id="16" name="Text 14"/>
          <p:cNvSpPr txBox="1"/>
          <p:nvPr/>
        </p:nvSpPr>
        <p:spPr>
          <a:xfrm>
            <a:off x="914400" y="2907792"/>
            <a:ext cx="4206240" cy="347472"/>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Very low/high going out (yes = 1)</a:t>
            </a:r>
            <a:endParaRPr lang="en-US" sz="1300" dirty="0"/>
          </a:p>
        </p:txBody>
      </p:sp>
      <p:sp>
        <p:nvSpPr>
          <p:cNvPr id="17" name="Text 15"/>
          <p:cNvSpPr txBox="1"/>
          <p:nvPr/>
        </p:nvSpPr>
        <p:spPr>
          <a:xfrm>
            <a:off x="5120640" y="2907792"/>
            <a:ext cx="1371600" cy="347472"/>
          </a:xfrm>
          <a:prstGeom prst="rect">
            <a:avLst/>
          </a:prstGeom>
          <a:noFill/>
          <a:ln/>
        </p:spPr>
        <p:txBody>
          <a:bodyPr wrap="square" lIns="0" tIns="0" rIns="0" bIns="0" rtlCol="0" anchor="ctr"/>
          <a:lstStyle/>
          <a:p>
            <a:pPr algn="r" indent="0" marL="0">
              <a:buNone/>
            </a:pPr>
            <a:r>
              <a:rPr lang="en-US" sz="1300" b="1" dirty="0">
                <a:solidFill>
                  <a:srgbClr val="1E787D"/>
                </a:solidFill>
                <a:latin typeface="Calibri" pitchFamily="34" charset="0"/>
                <a:ea typeface="Calibri" pitchFamily="34" charset="-122"/>
                <a:cs typeface="Calibri" pitchFamily="34" charset="-120"/>
              </a:rPr>
              <a:t>−0.78</a:t>
            </a:r>
            <a:endParaRPr lang="en-US" sz="1300" dirty="0"/>
          </a:p>
        </p:txBody>
      </p:sp>
      <p:sp>
        <p:nvSpPr>
          <p:cNvPr id="18" name="Text 16"/>
          <p:cNvSpPr txBox="1"/>
          <p:nvPr/>
        </p:nvSpPr>
        <p:spPr>
          <a:xfrm>
            <a:off x="914400" y="3291840"/>
            <a:ext cx="4206240" cy="347472"/>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Previous failures (0–3)</a:t>
            </a:r>
            <a:endParaRPr lang="en-US" sz="1300" dirty="0"/>
          </a:p>
        </p:txBody>
      </p:sp>
      <p:sp>
        <p:nvSpPr>
          <p:cNvPr id="19" name="Text 17"/>
          <p:cNvSpPr txBox="1"/>
          <p:nvPr/>
        </p:nvSpPr>
        <p:spPr>
          <a:xfrm>
            <a:off x="5120640" y="3291840"/>
            <a:ext cx="1371600" cy="347472"/>
          </a:xfrm>
          <a:prstGeom prst="rect">
            <a:avLst/>
          </a:prstGeom>
          <a:noFill/>
          <a:ln/>
        </p:spPr>
        <p:txBody>
          <a:bodyPr wrap="square" lIns="0" tIns="0" rIns="0" bIns="0" rtlCol="0" anchor="ctr"/>
          <a:lstStyle/>
          <a:p>
            <a:pPr algn="r" indent="0" marL="0">
              <a:buNone/>
            </a:pPr>
            <a:r>
              <a:rPr lang="en-US" sz="1300" b="1" dirty="0">
                <a:solidFill>
                  <a:srgbClr val="1E787D"/>
                </a:solidFill>
                <a:latin typeface="Calibri" pitchFamily="34" charset="0"/>
                <a:ea typeface="Calibri" pitchFamily="34" charset="-122"/>
                <a:cs typeface="Calibri" pitchFamily="34" charset="-120"/>
              </a:rPr>
              <a:t>−1.43</a:t>
            </a:r>
            <a:endParaRPr lang="en-US" sz="1300" dirty="0"/>
          </a:p>
        </p:txBody>
      </p:sp>
      <p:sp>
        <p:nvSpPr>
          <p:cNvPr id="20" name="Text 18"/>
          <p:cNvSpPr txBox="1"/>
          <p:nvPr/>
        </p:nvSpPr>
        <p:spPr>
          <a:xfrm>
            <a:off x="914400" y="3675888"/>
            <a:ext cx="4206240" cy="347472"/>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School MS (vs GP)</a:t>
            </a:r>
            <a:endParaRPr lang="en-US" sz="1300" dirty="0"/>
          </a:p>
        </p:txBody>
      </p:sp>
      <p:sp>
        <p:nvSpPr>
          <p:cNvPr id="21" name="Text 19"/>
          <p:cNvSpPr txBox="1"/>
          <p:nvPr/>
        </p:nvSpPr>
        <p:spPr>
          <a:xfrm>
            <a:off x="5120640" y="3675888"/>
            <a:ext cx="1371600" cy="347472"/>
          </a:xfrm>
          <a:prstGeom prst="rect">
            <a:avLst/>
          </a:prstGeom>
          <a:noFill/>
          <a:ln/>
        </p:spPr>
        <p:txBody>
          <a:bodyPr wrap="square" lIns="0" tIns="0" rIns="0" bIns="0" rtlCol="0" anchor="ctr"/>
          <a:lstStyle/>
          <a:p>
            <a:pPr algn="r" indent="0" marL="0">
              <a:buNone/>
            </a:pPr>
            <a:r>
              <a:rPr lang="en-US" sz="1300" b="1" dirty="0">
                <a:solidFill>
                  <a:srgbClr val="1E787D"/>
                </a:solidFill>
                <a:latin typeface="Calibri" pitchFamily="34" charset="0"/>
                <a:ea typeface="Calibri" pitchFamily="34" charset="-122"/>
                <a:cs typeface="Calibri" pitchFamily="34" charset="-120"/>
              </a:rPr>
              <a:t>−1.36</a:t>
            </a:r>
            <a:endParaRPr lang="en-US" sz="1300" dirty="0"/>
          </a:p>
        </p:txBody>
      </p:sp>
      <p:sp>
        <p:nvSpPr>
          <p:cNvPr id="22" name="Text 20"/>
          <p:cNvSpPr txBox="1"/>
          <p:nvPr/>
        </p:nvSpPr>
        <p:spPr>
          <a:xfrm>
            <a:off x="914400" y="4059936"/>
            <a:ext cx="4206240" cy="347472"/>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Extra school support (yes = 1)*</a:t>
            </a:r>
            <a:endParaRPr lang="en-US" sz="1300" dirty="0"/>
          </a:p>
        </p:txBody>
      </p:sp>
      <p:sp>
        <p:nvSpPr>
          <p:cNvPr id="23" name="Text 21"/>
          <p:cNvSpPr txBox="1"/>
          <p:nvPr/>
        </p:nvSpPr>
        <p:spPr>
          <a:xfrm>
            <a:off x="5120640" y="4059936"/>
            <a:ext cx="1371600" cy="347472"/>
          </a:xfrm>
          <a:prstGeom prst="rect">
            <a:avLst/>
          </a:prstGeom>
          <a:noFill/>
          <a:ln/>
        </p:spPr>
        <p:txBody>
          <a:bodyPr wrap="square" lIns="0" tIns="0" rIns="0" bIns="0" rtlCol="0" anchor="ctr"/>
          <a:lstStyle/>
          <a:p>
            <a:pPr algn="r" indent="0" marL="0">
              <a:buNone/>
            </a:pPr>
            <a:r>
              <a:rPr lang="en-US" sz="1300" b="1" dirty="0">
                <a:solidFill>
                  <a:srgbClr val="1E787D"/>
                </a:solidFill>
                <a:latin typeface="Calibri" pitchFamily="34" charset="0"/>
                <a:ea typeface="Calibri" pitchFamily="34" charset="-122"/>
                <a:cs typeface="Calibri" pitchFamily="34" charset="-120"/>
              </a:rPr>
              <a:t>−1.29</a:t>
            </a:r>
            <a:endParaRPr lang="en-US" sz="1300" dirty="0"/>
          </a:p>
        </p:txBody>
      </p:sp>
      <p:sp>
        <p:nvSpPr>
          <p:cNvPr id="24" name="Text 22"/>
          <p:cNvSpPr txBox="1"/>
          <p:nvPr/>
        </p:nvSpPr>
        <p:spPr>
          <a:xfrm>
            <a:off x="914400" y="4443984"/>
            <a:ext cx="4206240" cy="347472"/>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Father's education (0–4)</a:t>
            </a:r>
            <a:endParaRPr lang="en-US" sz="1300" dirty="0"/>
          </a:p>
        </p:txBody>
      </p:sp>
      <p:sp>
        <p:nvSpPr>
          <p:cNvPr id="25" name="Text 23"/>
          <p:cNvSpPr txBox="1"/>
          <p:nvPr/>
        </p:nvSpPr>
        <p:spPr>
          <a:xfrm>
            <a:off x="5120640" y="4443984"/>
            <a:ext cx="1371600" cy="347472"/>
          </a:xfrm>
          <a:prstGeom prst="rect">
            <a:avLst/>
          </a:prstGeom>
          <a:noFill/>
          <a:ln/>
        </p:spPr>
        <p:txBody>
          <a:bodyPr wrap="square" lIns="0" tIns="0" rIns="0" bIns="0" rtlCol="0" anchor="ctr"/>
          <a:lstStyle/>
          <a:p>
            <a:pPr algn="r" indent="0" marL="0">
              <a:buNone/>
            </a:pPr>
            <a:r>
              <a:rPr lang="en-US" sz="1300" b="1" dirty="0">
                <a:solidFill>
                  <a:srgbClr val="1E787D"/>
                </a:solidFill>
                <a:latin typeface="Calibri" pitchFamily="34" charset="0"/>
                <a:ea typeface="Calibri" pitchFamily="34" charset="-122"/>
                <a:cs typeface="Calibri" pitchFamily="34" charset="-120"/>
              </a:rPr>
              <a:t>+0.28</a:t>
            </a:r>
            <a:endParaRPr lang="en-US" sz="1300" dirty="0"/>
          </a:p>
        </p:txBody>
      </p:sp>
      <p:sp>
        <p:nvSpPr>
          <p:cNvPr id="26" name="Text 24"/>
          <p:cNvSpPr txBox="1"/>
          <p:nvPr/>
        </p:nvSpPr>
        <p:spPr>
          <a:xfrm>
            <a:off x="914400" y="4828032"/>
            <a:ext cx="4206240" cy="347472"/>
          </a:xfrm>
          <a:prstGeom prst="rect">
            <a:avLst/>
          </a:prstGeom>
          <a:noFill/>
          <a:ln/>
        </p:spPr>
        <p:txBody>
          <a:bodyPr wrap="square" lIns="0" tIns="0" rIns="0" bIns="0" rtlCol="0" anchor="ctr"/>
          <a:lstStyle/>
          <a:p>
            <a:pPr indent="0" marL="0">
              <a:buNone/>
            </a:pPr>
            <a:r>
              <a:rPr lang="en-US" sz="1300" dirty="0">
                <a:solidFill>
                  <a:srgbClr val="2D3741"/>
                </a:solidFill>
                <a:latin typeface="Calibri" pitchFamily="34" charset="0"/>
                <a:ea typeface="Calibri" pitchFamily="34" charset="-122"/>
                <a:cs typeface="Calibri" pitchFamily="34" charset="-120"/>
              </a:rPr>
              <a:t>Self-rated health (1–5)</a:t>
            </a:r>
            <a:endParaRPr lang="en-US" sz="1300" dirty="0"/>
          </a:p>
        </p:txBody>
      </p:sp>
      <p:sp>
        <p:nvSpPr>
          <p:cNvPr id="27" name="Text 25"/>
          <p:cNvSpPr txBox="1"/>
          <p:nvPr/>
        </p:nvSpPr>
        <p:spPr>
          <a:xfrm>
            <a:off x="5120640" y="4828032"/>
            <a:ext cx="1371600" cy="347472"/>
          </a:xfrm>
          <a:prstGeom prst="rect">
            <a:avLst/>
          </a:prstGeom>
          <a:noFill/>
          <a:ln/>
        </p:spPr>
        <p:txBody>
          <a:bodyPr wrap="square" lIns="0" tIns="0" rIns="0" bIns="0" rtlCol="0" anchor="ctr"/>
          <a:lstStyle/>
          <a:p>
            <a:pPr algn="r" indent="0" marL="0">
              <a:buNone/>
            </a:pPr>
            <a:r>
              <a:rPr lang="en-US" sz="1300" b="1" dirty="0">
                <a:solidFill>
                  <a:srgbClr val="1E787D"/>
                </a:solidFill>
                <a:latin typeface="Calibri" pitchFamily="34" charset="0"/>
                <a:ea typeface="Calibri" pitchFamily="34" charset="-122"/>
                <a:cs typeface="Calibri" pitchFamily="34" charset="-120"/>
              </a:rPr>
              <a:t>−0.20</a:t>
            </a:r>
            <a:endParaRPr lang="en-US" sz="1300" dirty="0"/>
          </a:p>
        </p:txBody>
      </p:sp>
      <p:sp>
        <p:nvSpPr>
          <p:cNvPr id="28" name="Shape 26"/>
          <p:cNvSpPr/>
          <p:nvPr/>
        </p:nvSpPr>
        <p:spPr>
          <a:xfrm>
            <a:off x="6949440" y="1234440"/>
            <a:ext cx="4526280" cy="4069080"/>
          </a:xfrm>
          <a:prstGeom prst="roundRect">
            <a:avLst>
              <a:gd name="adj" fmla="val 1798"/>
            </a:avLst>
          </a:prstGeom>
          <a:solidFill>
            <a:srgbClr val="FFFFFF"/>
          </a:solidFill>
          <a:ln w="12700">
            <a:solidFill>
              <a:srgbClr val="E8F0F2"/>
            </a:solidFill>
            <a:prstDash val="solid"/>
          </a:ln>
          <a:effectLst>
            <a:outerShdw sx="100000" sy="100000" kx="0" ky="0" algn="bl" rotWithShape="0" blurRad="50800" dist="25400" dir="5400000">
              <a:srgbClr val="000000">
                <a:alpha val="18000"/>
              </a:srgbClr>
            </a:outerShdw>
          </a:effectLst>
        </p:spPr>
      </p:sp>
      <p:sp>
        <p:nvSpPr>
          <p:cNvPr id="29" name="Text 27"/>
          <p:cNvSpPr txBox="1"/>
          <p:nvPr/>
        </p:nvSpPr>
        <p:spPr>
          <a:xfrm>
            <a:off x="7178040" y="1417320"/>
            <a:ext cx="4114800" cy="713232"/>
          </a:xfrm>
          <a:prstGeom prst="rect">
            <a:avLst/>
          </a:prstGeom>
          <a:noFill/>
          <a:ln/>
        </p:spPr>
        <p:txBody>
          <a:bodyPr wrap="square" lIns="0" tIns="0" rIns="0" bIns="0" rtlCol="0" anchor="t"/>
          <a:lstStyle/>
          <a:p>
            <a:pPr indent="0" marL="0">
              <a:buNone/>
            </a:pPr>
            <a:r>
              <a:rPr lang="en-US" sz="1300" b="1" dirty="0">
                <a:solidFill>
                  <a:srgbClr val="182A40"/>
                </a:solidFill>
                <a:latin typeface="Calibri" pitchFamily="34" charset="0"/>
                <a:ea typeface="Calibri" pitchFamily="34" charset="-122"/>
                <a:cs typeface="Calibri" pitchFamily="34" charset="-120"/>
              </a:rPr>
              <a:t>Selection</a:t>
            </a:r>
            <a:endParaRPr lang="en-US" sz="1300" dirty="0"/>
          </a:p>
          <a:p>
            <a:pPr indent="0" marL="0">
              <a:buNone/>
            </a:pPr>
            <a:r>
              <a:rPr lang="en-US" sz="1200" dirty="0">
                <a:solidFill>
                  <a:srgbClr val="2D3741"/>
                </a:solidFill>
                <a:latin typeface="Calibri" pitchFamily="34" charset="0"/>
                <a:ea typeface="Calibri" pitchFamily="34" charset="-122"/>
                <a:cs typeface="Calibri" pitchFamily="34" charset="-120"/>
              </a:rPr>
              <a:t>Backward elimination kept 9 of 39 survey factors (forward selection: 10; 8 shared)</a:t>
            </a:r>
            <a:endParaRPr lang="en-US" sz="1300" dirty="0"/>
          </a:p>
        </p:txBody>
      </p:sp>
      <p:sp>
        <p:nvSpPr>
          <p:cNvPr id="30" name="Text 28"/>
          <p:cNvSpPr txBox="1"/>
          <p:nvPr/>
        </p:nvSpPr>
        <p:spPr>
          <a:xfrm>
            <a:off x="7178040" y="2185416"/>
            <a:ext cx="4114800" cy="713232"/>
          </a:xfrm>
          <a:prstGeom prst="rect">
            <a:avLst/>
          </a:prstGeom>
          <a:noFill/>
          <a:ln/>
        </p:spPr>
        <p:txBody>
          <a:bodyPr wrap="square" lIns="0" tIns="0" rIns="0" bIns="0" rtlCol="0" anchor="t"/>
          <a:lstStyle/>
          <a:p>
            <a:pPr indent="0" marL="0">
              <a:buNone/>
            </a:pPr>
            <a:r>
              <a:rPr lang="en-US" sz="1300" b="1" dirty="0">
                <a:solidFill>
                  <a:srgbClr val="182A40"/>
                </a:solidFill>
                <a:latin typeface="Calibri" pitchFamily="34" charset="0"/>
                <a:ea typeface="Calibri" pitchFamily="34" charset="-122"/>
                <a:cs typeface="Calibri" pitchFamily="34" charset="-120"/>
              </a:rPr>
              <a:t>R²</a:t>
            </a:r>
            <a:endParaRPr lang="en-US" sz="1300" dirty="0"/>
          </a:p>
          <a:p>
            <a:pPr indent="0" marL="0">
              <a:buNone/>
            </a:pPr>
            <a:r>
              <a:rPr lang="en-US" sz="1200" dirty="0">
                <a:solidFill>
                  <a:srgbClr val="2D3741"/>
                </a:solidFill>
                <a:latin typeface="Calibri" pitchFamily="34" charset="0"/>
                <a:ea typeface="Calibri" pitchFamily="34" charset="-122"/>
                <a:cs typeface="Calibri" pitchFamily="34" charset="-120"/>
              </a:rPr>
              <a:t>0.33</a:t>
            </a:r>
            <a:endParaRPr lang="en-US" sz="1300" dirty="0"/>
          </a:p>
        </p:txBody>
      </p:sp>
      <p:sp>
        <p:nvSpPr>
          <p:cNvPr id="31" name="Text 29"/>
          <p:cNvSpPr txBox="1"/>
          <p:nvPr/>
        </p:nvSpPr>
        <p:spPr>
          <a:xfrm>
            <a:off x="7178040" y="2953512"/>
            <a:ext cx="4114800" cy="713232"/>
          </a:xfrm>
          <a:prstGeom prst="rect">
            <a:avLst/>
          </a:prstGeom>
          <a:noFill/>
          <a:ln/>
        </p:spPr>
        <p:txBody>
          <a:bodyPr wrap="square" lIns="0" tIns="0" rIns="0" bIns="0" rtlCol="0" anchor="t"/>
          <a:lstStyle/>
          <a:p>
            <a:pPr indent="0" marL="0">
              <a:buNone/>
            </a:pPr>
            <a:r>
              <a:rPr lang="en-US" sz="1300" b="1" dirty="0">
                <a:solidFill>
                  <a:srgbClr val="182A40"/>
                </a:solidFill>
                <a:latin typeface="Calibri" pitchFamily="34" charset="0"/>
                <a:ea typeface="Calibri" pitchFamily="34" charset="-122"/>
                <a:cs typeface="Calibri" pitchFamily="34" charset="-120"/>
              </a:rPr>
              <a:t>Cross-validated R²</a:t>
            </a:r>
            <a:endParaRPr lang="en-US" sz="1300" dirty="0"/>
          </a:p>
          <a:p>
            <a:pPr indent="0" marL="0">
              <a:buNone/>
            </a:pPr>
            <a:r>
              <a:rPr lang="en-US" sz="1200" dirty="0">
                <a:solidFill>
                  <a:srgbClr val="2D3741"/>
                </a:solidFill>
                <a:latin typeface="Calibri" pitchFamily="34" charset="0"/>
                <a:ea typeface="Calibri" pitchFamily="34" charset="-122"/>
                <a:cs typeface="Calibri" pitchFamily="34" charset="-120"/>
              </a:rPr>
              <a:t>0.275 (all 39 factors: 0.25)</a:t>
            </a:r>
            <a:endParaRPr lang="en-US" sz="1300" dirty="0"/>
          </a:p>
        </p:txBody>
      </p:sp>
      <p:sp>
        <p:nvSpPr>
          <p:cNvPr id="32" name="Text 30"/>
          <p:cNvSpPr txBox="1"/>
          <p:nvPr/>
        </p:nvSpPr>
        <p:spPr>
          <a:xfrm>
            <a:off x="7178040" y="3721608"/>
            <a:ext cx="4114800" cy="713232"/>
          </a:xfrm>
          <a:prstGeom prst="rect">
            <a:avLst/>
          </a:prstGeom>
          <a:noFill/>
          <a:ln/>
        </p:spPr>
        <p:txBody>
          <a:bodyPr wrap="square" lIns="0" tIns="0" rIns="0" bIns="0" rtlCol="0" anchor="t"/>
          <a:lstStyle/>
          <a:p>
            <a:pPr indent="0" marL="0">
              <a:buNone/>
            </a:pPr>
            <a:r>
              <a:rPr lang="en-US" sz="1300" b="1" dirty="0">
                <a:solidFill>
                  <a:srgbClr val="182A40"/>
                </a:solidFill>
                <a:latin typeface="Calibri" pitchFamily="34" charset="0"/>
                <a:ea typeface="Calibri" pitchFamily="34" charset="-122"/>
                <a:cs typeface="Calibri" pitchFamily="34" charset="-120"/>
              </a:rPr>
              <a:t>Typical prediction error</a:t>
            </a:r>
            <a:endParaRPr lang="en-US" sz="1300" dirty="0"/>
          </a:p>
          <a:p>
            <a:pPr indent="0" marL="0">
              <a:buNone/>
            </a:pPr>
            <a:r>
              <a:rPr lang="en-US" sz="1200" dirty="0">
                <a:solidFill>
                  <a:srgbClr val="2D3741"/>
                </a:solidFill>
                <a:latin typeface="Calibri" pitchFamily="34" charset="0"/>
                <a:ea typeface="Calibri" pitchFamily="34" charset="-122"/>
                <a:cs typeface="Calibri" pitchFamily="34" charset="-120"/>
              </a:rPr>
              <a:t>about 2.7 points</a:t>
            </a:r>
            <a:endParaRPr lang="en-US" sz="1300" dirty="0"/>
          </a:p>
        </p:txBody>
      </p:sp>
      <p:sp>
        <p:nvSpPr>
          <p:cNvPr id="33" name="Text 31"/>
          <p:cNvSpPr txBox="1"/>
          <p:nvPr/>
        </p:nvSpPr>
        <p:spPr>
          <a:xfrm>
            <a:off x="7178040" y="4489704"/>
            <a:ext cx="4114800" cy="713232"/>
          </a:xfrm>
          <a:prstGeom prst="rect">
            <a:avLst/>
          </a:prstGeom>
          <a:noFill/>
          <a:ln/>
        </p:spPr>
        <p:txBody>
          <a:bodyPr wrap="square" lIns="0" tIns="0" rIns="0" bIns="0" rtlCol="0" anchor="t"/>
          <a:lstStyle/>
          <a:p>
            <a:pPr indent="0" marL="0">
              <a:buNone/>
            </a:pPr>
            <a:r>
              <a:rPr lang="en-US" sz="1300" b="1" dirty="0">
                <a:solidFill>
                  <a:srgbClr val="182A40"/>
                </a:solidFill>
                <a:latin typeface="Calibri" pitchFamily="34" charset="0"/>
                <a:ea typeface="Calibri" pitchFamily="34" charset="-122"/>
                <a:cs typeface="Calibri" pitchFamily="34" charset="-120"/>
              </a:rPr>
              <a:t>*Note</a:t>
            </a:r>
            <a:endParaRPr lang="en-US" sz="1300" dirty="0"/>
          </a:p>
          <a:p>
            <a:pPr indent="0" marL="0">
              <a:buNone/>
            </a:pPr>
            <a:r>
              <a:rPr lang="en-US" sz="1200" dirty="0">
                <a:solidFill>
                  <a:srgbClr val="2D3741"/>
                </a:solidFill>
                <a:latin typeface="Calibri" pitchFamily="34" charset="0"/>
                <a:ea typeface="Calibri" pitchFamily="34" charset="-122"/>
                <a:cs typeface="Calibri" pitchFamily="34" charset="-120"/>
              </a:rPr>
              <a:t>Extra support may be received mainly by students already struggling (selection)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2038</Words>
  <Application>Microsoft Office PowerPoint</Application>
  <PresentationFormat>Widescreen</PresentationFormat>
  <Paragraphs>202</Paragraphs>
  <Slides>19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Tuan Tran</cp:lastModifiedBy>
  <cp:revision>2</cp:revision>
  <dcterms:created xsi:type="dcterms:W3CDTF">2013-01-27T09:14:16Z</dcterms:created>
  <dcterms:modified xsi:type="dcterms:W3CDTF">2026-10-01T10:36:21Z</dcterms:modified>
  <cp:category/>
</cp:coreProperties>
</file>