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embeddedFontLst>
    <p:embeddedFont>
      <p:font typeface="Int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41E191-F2DA-4451-8307-E90BBA42723E}">
  <a:tblStyle styleId="{6841E191-F2DA-4451-8307-E90BBA4272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6.xml"/><Relationship Id="rId22" Type="http://schemas.openxmlformats.org/officeDocument/2006/relationships/font" Target="fonts/Inter-boldItalic.fntdata"/><Relationship Id="rId10" Type="http://schemas.openxmlformats.org/officeDocument/2006/relationships/slide" Target="slides/slide5.xml"/><Relationship Id="rId21" Type="http://schemas.openxmlformats.org/officeDocument/2006/relationships/font" Target="fonts/Inter-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30 seconds. Introduce the team and the one-line story: we used real school data to see what goes along with final grades, so a school leader can decide where to put support. Replace [Team name] and [Presenter names]. The timing plan across all 13 slides comes to about 13 minutes, inside the 10 to 15 minute limit.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Speak to a non-technical audience. Say who the decision-maker is (a principal), what they must decide (where to put limited support) and how our analysis helps. Do not use any statistics on this slide.</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Read the aim once in plain words, then the three questions. Say associated with, never causes. If the team changes the research questions, update this slide first, then the findings slide so the two match.</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Real survey and school-report data from two Portuguese secondary schools, published by Cortez and Silva in 2008. Fill in the number of students in the file you used and say whether it is the Maths or the Portuguese language file. Mention that the data is about minors and that we only look at group patterns, never individuals.</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Keep it short: the audience cares that the data was checked, not about the code. Fill in the counts from the cleaning notebook. Explain why G1 and G2 were left out: they are earlier grades that almost give away the final grade, so keeping them would make the question trivial. Confirm this decision as a team before presenting. Also mention that the 1 to 5 ratings (study time, alcohol, going out) are treated as ordered ratings, not exact measurements.</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Insert the histogram of G3 from the EDA notebook. Say what a typical grade looks like, how spread out grades are, and mention any spike at zero. One message only. Use large fonts and plain axis labels, for example Final grade (0 to 20) and Number of students.</a:t>
            </a:r>
            <a:endParaRPr/>
          </a:p>
        </p:txBody>
      </p:sp>
      <p:sp>
        <p:nvSpPr>
          <p:cNvPr id="104" name="Google Shape;1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Insert one simple chart, for example average final grade by study time, or by number of past failures. Label the axes in plain words. Say which direction the pattern goes and how big it looks, then link back to Question 1.</a:t>
            </a:r>
            <a:endParaRPr/>
          </a:p>
        </p:txBody>
      </p:sp>
      <p:sp>
        <p:nvSpPr>
          <p:cNvPr id="120" name="Google Shape;12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Insert one simple chart, for example average final grade by alcohol use or by how often students go out. Say clearly that this shows association only, not cause. Link back to Question 2.</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1.5 minutes. Explain regression in one sentence: it compares students who are alike in everything else and asks how much the grade changes when one factor differs. Fill in R squared in plain words, meaning the share of differences in grades the model explains. Mention the assumption checks the modelling lead ran and any problems found. Keep jargon out; this audience is non-technical.</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1.5 minutes. Replace each card with one of the three strongest factors from the model: the factor's name, and the size and direction of its effect in grade points out of 20, holding the other factors equal. Answer the three research questions directly. Say again that this is association, not cause.</a:t>
            </a:r>
            <a:endParaRPr/>
          </a:p>
        </p:txBody>
      </p:sp>
      <p:sp>
        <p:nvSpPr>
          <p:cNvPr id="178" name="Google Shape;17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For each finding, give one practical option for a school leader. Be careful with wording: these are options supported by association, not proof that an action will raise grades. Think about what a principal could actually do with a small budget.</a:t>
            </a:r>
            <a:endParaRPr/>
          </a:p>
        </p:txBody>
      </p:sp>
      <p:sp>
        <p:nvSpPr>
          <p:cNvPr id="200" name="Google Shape;20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1 minute. Be honest and specific, because clearly stated limitations carry marks. For each row, say what it does to our conclusion. Update the sample-size row with the exact number of students you used, and the two-schools row if you combine both files.</a:t>
            </a:r>
            <a:endParaRPr/>
          </a:p>
        </p:txBody>
      </p:sp>
      <p:sp>
        <p:nvSpPr>
          <p:cNvPr id="221" name="Google Shape;22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30 seconds, then questions. Give one sentence a non-technical listener could repeat. Likely questions to prepare for: Why is the fit only moderate? What should a school actually do with this? Why did you leave out earlier grades? Can this apply to Australian students? Decide in advance who answers which.</a:t>
            </a:r>
            <a:endParaRPr/>
          </a:p>
        </p:txBody>
      </p:sp>
      <p:sp>
        <p:nvSpPr>
          <p:cNvPr id="231" name="Google Shape;2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90" Type="http://schemas.openxmlformats.org/officeDocument/2006/relationships/image" Target="../media/chart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90" Type="http://schemas.openxmlformats.org/officeDocument/2006/relationships/image" Target="../media/chart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90" Type="http://schemas.openxmlformats.org/officeDocument/2006/relationships/image" Target="../media/chart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4B"/>
        </a:solidFill>
      </p:bgPr>
    </p:bg>
    <p:spTree>
      <p:nvGrpSpPr>
        <p:cNvPr id="15" name="Shape 15"/>
        <p:cNvGrpSpPr/>
        <p:nvPr/>
      </p:nvGrpSpPr>
      <p:grpSpPr>
        <a:xfrm>
          <a:off x="0" y="0"/>
          <a:ext cx="0" cy="0"/>
          <a:chOff x="0" y="0"/>
          <a:chExt cx="0" cy="0"/>
        </a:xfrm>
      </p:grpSpPr>
      <p:sp>
        <p:nvSpPr>
          <p:cNvPr id="16" name="Google Shape;16;p3"/>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400"/>
              <a:buFont typeface="Inter"/>
              <a:buNone/>
            </a:pPr>
            <a:r>
              <a:rPr b="1" i="0" lang="en-US" sz="1400" u="none" cap="none" strike="noStrike">
                <a:solidFill>
                  <a:srgbClr val="8FB0FF"/>
                </a:solidFill>
                <a:latin typeface="Inter"/>
                <a:ea typeface="Inter"/>
                <a:cs typeface="Inter"/>
                <a:sym typeface="Inter"/>
              </a:rPr>
              <a:t>STDS ASSESSMENT TASK 2B · GROUP PRESENTATION</a:t>
            </a:r>
            <a:endParaRPr b="0" i="0" sz="1400" u="none" cap="none" strike="noStrike">
              <a:solidFill>
                <a:schemeClr val="dk1"/>
              </a:solidFill>
              <a:latin typeface="Calibri"/>
              <a:ea typeface="Calibri"/>
              <a:cs typeface="Calibri"/>
              <a:sym typeface="Calibri"/>
            </a:endParaRPr>
          </a:p>
        </p:txBody>
      </p:sp>
      <p:sp>
        <p:nvSpPr>
          <p:cNvPr id="17" name="Google Shape;17;p3"/>
          <p:cNvSpPr/>
          <p:nvPr/>
        </p:nvSpPr>
        <p:spPr>
          <a:xfrm>
            <a:off x="812800" y="2089200"/>
            <a:ext cx="889000" cy="76200"/>
          </a:xfrm>
          <a:prstGeom prst="roundRect">
            <a:avLst>
              <a:gd fmla="val 50000" name="adj"/>
            </a:avLst>
          </a:prstGeom>
          <a:solidFill>
            <a:srgbClr val="F18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12800" y="2368600"/>
            <a:ext cx="10883392" cy="1518841"/>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4F6FB"/>
              </a:buClr>
              <a:buSzPts val="5600"/>
              <a:buFont typeface="Inter"/>
              <a:buNone/>
            </a:pPr>
            <a:r>
              <a:rPr b="1" i="0" lang="en-US" sz="5600" u="none" cap="none" strike="noStrike">
                <a:solidFill>
                  <a:srgbClr val="F4F6FB"/>
                </a:solidFill>
                <a:latin typeface="Inter"/>
                <a:ea typeface="Inter"/>
                <a:cs typeface="Inter"/>
                <a:sym typeface="Inter"/>
              </a:rPr>
              <a:t>What goes along with a student's final grade?</a:t>
            </a:r>
            <a:endParaRPr b="0" i="0" sz="5600" u="none" cap="none" strike="noStrike">
              <a:solidFill>
                <a:schemeClr val="dk1"/>
              </a:solidFill>
              <a:latin typeface="Calibri"/>
              <a:ea typeface="Calibri"/>
              <a:cs typeface="Calibri"/>
              <a:sym typeface="Calibri"/>
            </a:endParaRPr>
          </a:p>
        </p:txBody>
      </p:sp>
      <p:sp>
        <p:nvSpPr>
          <p:cNvPr id="19" name="Google Shape;19;p3"/>
          <p:cNvSpPr/>
          <p:nvPr/>
        </p:nvSpPr>
        <p:spPr>
          <a:xfrm>
            <a:off x="812800" y="4065240"/>
            <a:ext cx="8502650" cy="711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C9D4EE"/>
              </a:buClr>
              <a:buSzPts val="2000"/>
              <a:buFont typeface="Inter"/>
              <a:buNone/>
            </a:pPr>
            <a:r>
              <a:rPr b="0" i="0" lang="en-US" sz="2000" u="none" cap="none" strike="noStrike">
                <a:solidFill>
                  <a:srgbClr val="C9D4EE"/>
                </a:solidFill>
                <a:latin typeface="Inter"/>
                <a:ea typeface="Inter"/>
                <a:cs typeface="Inter"/>
                <a:sym typeface="Inter"/>
              </a:rPr>
              <a:t>Findings from real school data, for a school leader deciding where to focus student support</a:t>
            </a:r>
            <a:endParaRPr b="0" i="0" sz="2000" u="none" cap="none" strike="noStrike">
              <a:solidFill>
                <a:schemeClr val="dk1"/>
              </a:solidFill>
              <a:latin typeface="Calibri"/>
              <a:ea typeface="Calibri"/>
              <a:cs typeface="Calibri"/>
              <a:sym typeface="Calibri"/>
            </a:endParaRPr>
          </a:p>
        </p:txBody>
      </p:sp>
      <p:sp>
        <p:nvSpPr>
          <p:cNvPr id="20" name="Google Shape;20;p3"/>
          <p:cNvSpPr/>
          <p:nvPr/>
        </p:nvSpPr>
        <p:spPr>
          <a:xfrm>
            <a:off x="812800" y="5778500"/>
            <a:ext cx="10883392"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4EE"/>
              </a:buClr>
              <a:buSzPts val="1500"/>
              <a:buFont typeface="Inter"/>
              <a:buNone/>
            </a:pPr>
            <a:r>
              <a:rPr b="0" i="0" lang="en-US" sz="1500" u="none" cap="none" strike="noStrike">
                <a:solidFill>
                  <a:srgbClr val="C9D4EE"/>
                </a:solidFill>
                <a:latin typeface="Inter"/>
                <a:ea typeface="Inter"/>
                <a:cs typeface="Inter"/>
                <a:sym typeface="Inter"/>
              </a:rPr>
              <a:t>[Team name] · [Presenter names]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5" name="Shape 25"/>
        <p:cNvGrpSpPr/>
        <p:nvPr/>
      </p:nvGrpSpPr>
      <p:grpSpPr>
        <a:xfrm>
          <a:off x="0" y="0"/>
          <a:ext cx="0" cy="0"/>
          <a:chOff x="0" y="0"/>
          <a:chExt cx="0" cy="0"/>
        </a:xfrm>
      </p:grpSpPr>
      <p:sp>
        <p:nvSpPr>
          <p:cNvPr id="26" name="Google Shape;26;p4"/>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CONTEXT</a:t>
            </a:r>
            <a:endParaRPr b="0" i="0" sz="1300" u="none" cap="none" strike="noStrike">
              <a:solidFill>
                <a:schemeClr val="dk1"/>
              </a:solidFill>
              <a:latin typeface="Calibri"/>
              <a:ea typeface="Calibri"/>
              <a:cs typeface="Calibri"/>
              <a:sym typeface="Calibri"/>
            </a:endParaRPr>
          </a:p>
        </p:txBody>
      </p:sp>
      <p:sp>
        <p:nvSpPr>
          <p:cNvPr id="27" name="Google Shape;27;p4"/>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The problem we are solving</a:t>
            </a:r>
            <a:endParaRPr b="0" i="0" sz="3600" u="none" cap="none" strike="noStrike">
              <a:solidFill>
                <a:schemeClr val="dk1"/>
              </a:solidFill>
              <a:latin typeface="Calibri"/>
              <a:ea typeface="Calibri"/>
              <a:cs typeface="Calibri"/>
              <a:sym typeface="Calibri"/>
            </a:endParaRPr>
          </a:p>
        </p:txBody>
      </p:sp>
      <p:sp>
        <p:nvSpPr>
          <p:cNvPr id="28" name="Google Shape;28;p4"/>
          <p:cNvSpPr/>
          <p:nvPr/>
        </p:nvSpPr>
        <p:spPr>
          <a:xfrm>
            <a:off x="812800" y="1927820"/>
            <a:ext cx="9810750" cy="7556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2213F"/>
              </a:buClr>
              <a:buSzPts val="2300"/>
              <a:buFont typeface="Inter"/>
              <a:buNone/>
            </a:pPr>
            <a:r>
              <a:rPr b="1" i="0" lang="en-US" sz="2300" u="none" cap="none" strike="noStrike">
                <a:solidFill>
                  <a:srgbClr val="12213F"/>
                </a:solidFill>
                <a:latin typeface="Inter"/>
                <a:ea typeface="Inter"/>
                <a:cs typeface="Inter"/>
                <a:sym typeface="Inter"/>
              </a:rPr>
              <a:t>A school has limited time, budget and staff for student support, so it has to choose who to help first.</a:t>
            </a:r>
            <a:endParaRPr b="0" i="0" sz="2300" u="none" cap="none" strike="noStrike">
              <a:solidFill>
                <a:schemeClr val="dk1"/>
              </a:solidFill>
              <a:latin typeface="Calibri"/>
              <a:ea typeface="Calibri"/>
              <a:cs typeface="Calibri"/>
              <a:sym typeface="Calibri"/>
            </a:endParaRPr>
          </a:p>
        </p:txBody>
      </p:sp>
      <p:sp>
        <p:nvSpPr>
          <p:cNvPr id="29" name="Google Shape;29;p4"/>
          <p:cNvSpPr/>
          <p:nvPr/>
        </p:nvSpPr>
        <p:spPr>
          <a:xfrm>
            <a:off x="819150" y="2969220"/>
            <a:ext cx="3373934" cy="1861741"/>
          </a:xfrm>
          <a:prstGeom prst="roundRect">
            <a:avLst>
              <a:gd fmla="val 648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d="30" name="Google Shape;30;p4"/>
          <p:cNvPicPr preferRelativeResize="0"/>
          <p:nvPr/>
        </p:nvPicPr>
        <p:blipFill rotWithShape="1">
          <a:blip r:embed="rId3">
            <a:alphaModFix/>
          </a:blip>
          <a:srcRect b="0" l="0" r="0" t="0"/>
          <a:stretch/>
        </p:blipFill>
        <p:spPr>
          <a:xfrm>
            <a:off x="1079500" y="3229570"/>
            <a:ext cx="406400" cy="406400"/>
          </a:xfrm>
          <a:prstGeom prst="rect">
            <a:avLst/>
          </a:prstGeom>
          <a:noFill/>
          <a:ln>
            <a:noFill/>
          </a:ln>
        </p:spPr>
      </p:pic>
      <p:sp>
        <p:nvSpPr>
          <p:cNvPr id="31" name="Google Shape;31;p4"/>
          <p:cNvSpPr/>
          <p:nvPr/>
        </p:nvSpPr>
        <p:spPr>
          <a:xfrm>
            <a:off x="1079500" y="3724870"/>
            <a:ext cx="2938831"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Who decides</a:t>
            </a:r>
            <a:endParaRPr b="0" i="0" sz="1700" u="none" cap="none" strike="noStrike">
              <a:solidFill>
                <a:schemeClr val="dk1"/>
              </a:solidFill>
              <a:latin typeface="Calibri"/>
              <a:ea typeface="Calibri"/>
              <a:cs typeface="Calibri"/>
              <a:sym typeface="Calibri"/>
            </a:endParaRPr>
          </a:p>
        </p:txBody>
      </p:sp>
      <p:sp>
        <p:nvSpPr>
          <p:cNvPr id="32" name="Google Shape;32;p4"/>
          <p:cNvSpPr/>
          <p:nvPr/>
        </p:nvSpPr>
        <p:spPr>
          <a:xfrm>
            <a:off x="1079500" y="4072830"/>
            <a:ext cx="2938831"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A principal or student-support lead</a:t>
            </a:r>
            <a:endParaRPr b="0" i="0" sz="1400" u="none" cap="none" strike="noStrike">
              <a:solidFill>
                <a:schemeClr val="dk1"/>
              </a:solidFill>
              <a:latin typeface="Calibri"/>
              <a:ea typeface="Calibri"/>
              <a:cs typeface="Calibri"/>
              <a:sym typeface="Calibri"/>
            </a:endParaRPr>
          </a:p>
        </p:txBody>
      </p:sp>
      <p:sp>
        <p:nvSpPr>
          <p:cNvPr id="33" name="Google Shape;33;p4"/>
          <p:cNvSpPr/>
          <p:nvPr/>
        </p:nvSpPr>
        <p:spPr>
          <a:xfrm>
            <a:off x="4408984" y="2969220"/>
            <a:ext cx="3373983" cy="1861741"/>
          </a:xfrm>
          <a:prstGeom prst="roundRect">
            <a:avLst>
              <a:gd fmla="val 648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34" name="Google Shape;34;p4"/>
          <p:cNvPicPr preferRelativeResize="0"/>
          <p:nvPr/>
        </p:nvPicPr>
        <p:blipFill rotWithShape="1">
          <a:blip r:embed="rId4">
            <a:alphaModFix/>
          </a:blip>
          <a:srcRect b="0" l="0" r="0" t="0"/>
          <a:stretch/>
        </p:blipFill>
        <p:spPr>
          <a:xfrm>
            <a:off x="4669334" y="3229570"/>
            <a:ext cx="406400" cy="406400"/>
          </a:xfrm>
          <a:prstGeom prst="rect">
            <a:avLst/>
          </a:prstGeom>
          <a:noFill/>
          <a:ln>
            <a:noFill/>
          </a:ln>
        </p:spPr>
      </p:pic>
      <p:sp>
        <p:nvSpPr>
          <p:cNvPr id="35" name="Google Shape;35;p4"/>
          <p:cNvSpPr/>
          <p:nvPr/>
        </p:nvSpPr>
        <p:spPr>
          <a:xfrm>
            <a:off x="4669334" y="3724870"/>
            <a:ext cx="293888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The decision</a:t>
            </a:r>
            <a:endParaRPr b="0" i="0" sz="1700" u="none" cap="none" strike="noStrike">
              <a:solidFill>
                <a:schemeClr val="dk1"/>
              </a:solidFill>
              <a:latin typeface="Calibri"/>
              <a:ea typeface="Calibri"/>
              <a:cs typeface="Calibri"/>
              <a:sym typeface="Calibri"/>
            </a:endParaRPr>
          </a:p>
        </p:txBody>
      </p:sp>
      <p:sp>
        <p:nvSpPr>
          <p:cNvPr id="36" name="Google Shape;36;p4"/>
          <p:cNvSpPr/>
          <p:nvPr/>
        </p:nvSpPr>
        <p:spPr>
          <a:xfrm>
            <a:off x="4669334" y="4072830"/>
            <a:ext cx="293888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Where to direct tutoring and support first</a:t>
            </a:r>
            <a:endParaRPr b="0" i="0" sz="1400" u="none" cap="none" strike="noStrike">
              <a:solidFill>
                <a:schemeClr val="dk1"/>
              </a:solidFill>
              <a:latin typeface="Calibri"/>
              <a:ea typeface="Calibri"/>
              <a:cs typeface="Calibri"/>
              <a:sym typeface="Calibri"/>
            </a:endParaRPr>
          </a:p>
        </p:txBody>
      </p:sp>
      <p:sp>
        <p:nvSpPr>
          <p:cNvPr id="37" name="Google Shape;37;p4"/>
          <p:cNvSpPr/>
          <p:nvPr/>
        </p:nvSpPr>
        <p:spPr>
          <a:xfrm>
            <a:off x="7998867" y="2969220"/>
            <a:ext cx="3373983" cy="1861741"/>
          </a:xfrm>
          <a:prstGeom prst="roundRect">
            <a:avLst>
              <a:gd fmla="val 648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38" name="Google Shape;38;p4"/>
          <p:cNvPicPr preferRelativeResize="0"/>
          <p:nvPr/>
        </p:nvPicPr>
        <p:blipFill rotWithShape="1">
          <a:blip r:embed="rId5">
            <a:alphaModFix/>
          </a:blip>
          <a:srcRect b="0" l="0" r="0" t="0"/>
          <a:stretch/>
        </p:blipFill>
        <p:spPr>
          <a:xfrm>
            <a:off x="8259217" y="3229570"/>
            <a:ext cx="406400" cy="406400"/>
          </a:xfrm>
          <a:prstGeom prst="rect">
            <a:avLst/>
          </a:prstGeom>
          <a:noFill/>
          <a:ln>
            <a:noFill/>
          </a:ln>
        </p:spPr>
      </p:pic>
      <p:sp>
        <p:nvSpPr>
          <p:cNvPr id="39" name="Google Shape;39;p4"/>
          <p:cNvSpPr/>
          <p:nvPr/>
        </p:nvSpPr>
        <p:spPr>
          <a:xfrm>
            <a:off x="8259217" y="3724870"/>
            <a:ext cx="2938882"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What we offer</a:t>
            </a:r>
            <a:endParaRPr b="0" i="0" sz="1700" u="none" cap="none" strike="noStrike">
              <a:solidFill>
                <a:schemeClr val="dk1"/>
              </a:solidFill>
              <a:latin typeface="Calibri"/>
              <a:ea typeface="Calibri"/>
              <a:cs typeface="Calibri"/>
              <a:sym typeface="Calibri"/>
            </a:endParaRPr>
          </a:p>
        </p:txBody>
      </p:sp>
      <p:sp>
        <p:nvSpPr>
          <p:cNvPr id="40" name="Google Shape;40;p4"/>
          <p:cNvSpPr/>
          <p:nvPr/>
        </p:nvSpPr>
        <p:spPr>
          <a:xfrm>
            <a:off x="8259217" y="4072830"/>
            <a:ext cx="2938882"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Evidence on which factors go along with final grades</a:t>
            </a:r>
            <a:endParaRPr b="0" i="0" sz="1400" u="none" cap="none" strike="noStrike">
              <a:solidFill>
                <a:schemeClr val="dk1"/>
              </a:solidFill>
              <a:latin typeface="Calibri"/>
              <a:ea typeface="Calibri"/>
              <a:cs typeface="Calibri"/>
              <a:sym typeface="Calibri"/>
            </a:endParaRPr>
          </a:p>
        </p:txBody>
      </p:sp>
      <p:sp>
        <p:nvSpPr>
          <p:cNvPr id="41" name="Google Shape;41;p4"/>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6" name="Shape 46"/>
        <p:cNvGrpSpPr/>
        <p:nvPr/>
      </p:nvGrpSpPr>
      <p:grpSpPr>
        <a:xfrm>
          <a:off x="0" y="0"/>
          <a:ext cx="0" cy="0"/>
          <a:chOff x="0" y="0"/>
          <a:chExt cx="0" cy="0"/>
        </a:xfrm>
      </p:grpSpPr>
      <p:sp>
        <p:nvSpPr>
          <p:cNvPr id="47" name="Google Shape;47;p5"/>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CONTEXT</a:t>
            </a:r>
            <a:endParaRPr b="0" i="0" sz="1300" u="none" cap="none" strike="noStrike">
              <a:solidFill>
                <a:schemeClr val="dk1"/>
              </a:solidFill>
              <a:latin typeface="Calibri"/>
              <a:ea typeface="Calibri"/>
              <a:cs typeface="Calibri"/>
              <a:sym typeface="Calibri"/>
            </a:endParaRPr>
          </a:p>
        </p:txBody>
      </p:sp>
      <p:sp>
        <p:nvSpPr>
          <p:cNvPr id="48" name="Google Shape;48;p5"/>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Our question</a:t>
            </a:r>
            <a:endParaRPr b="0" i="0" sz="3600" u="none" cap="none" strike="noStrike">
              <a:solidFill>
                <a:schemeClr val="dk1"/>
              </a:solidFill>
              <a:latin typeface="Calibri"/>
              <a:ea typeface="Calibri"/>
              <a:cs typeface="Calibri"/>
              <a:sym typeface="Calibri"/>
            </a:endParaRPr>
          </a:p>
        </p:txBody>
      </p:sp>
      <p:sp>
        <p:nvSpPr>
          <p:cNvPr id="49" name="Google Shape;49;p5"/>
          <p:cNvSpPr/>
          <p:nvPr/>
        </p:nvSpPr>
        <p:spPr>
          <a:xfrm>
            <a:off x="812800" y="1927820"/>
            <a:ext cx="4605834" cy="2940050"/>
          </a:xfrm>
          <a:prstGeom prst="roundRect">
            <a:avLst>
              <a:gd fmla="val 5184" name="adj"/>
            </a:avLst>
          </a:prstGeom>
          <a:solidFill>
            <a:srgbClr val="0B1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117600" y="2232620"/>
            <a:ext cx="4116121"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300"/>
              <a:buFont typeface="Inter"/>
              <a:buNone/>
            </a:pPr>
            <a:r>
              <a:rPr b="1" i="0" lang="en-US" sz="1300" u="none" cap="none" strike="noStrike">
                <a:solidFill>
                  <a:srgbClr val="8FB0FF"/>
                </a:solidFill>
                <a:latin typeface="Inter"/>
                <a:ea typeface="Inter"/>
                <a:cs typeface="Inter"/>
                <a:sym typeface="Inter"/>
              </a:rPr>
              <a:t>AIM</a:t>
            </a:r>
            <a:endParaRPr b="0" i="0" sz="1300" u="none" cap="none" strike="noStrike">
              <a:solidFill>
                <a:schemeClr val="dk1"/>
              </a:solidFill>
              <a:latin typeface="Calibri"/>
              <a:ea typeface="Calibri"/>
              <a:cs typeface="Calibri"/>
              <a:sym typeface="Calibri"/>
            </a:endParaRPr>
          </a:p>
        </p:txBody>
      </p:sp>
      <p:sp>
        <p:nvSpPr>
          <p:cNvPr id="51" name="Google Shape;51;p5"/>
          <p:cNvSpPr/>
          <p:nvPr/>
        </p:nvSpPr>
        <p:spPr>
          <a:xfrm>
            <a:off x="1117600" y="2590750"/>
            <a:ext cx="4116121" cy="1346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4F6FB"/>
              </a:buClr>
              <a:buSzPts val="2000"/>
              <a:buFont typeface="Inter"/>
              <a:buNone/>
            </a:pPr>
            <a:r>
              <a:rPr b="1" i="0" lang="en-US" sz="2000" u="none" cap="none" strike="noStrike">
                <a:solidFill>
                  <a:srgbClr val="F4F6FB"/>
                </a:solidFill>
                <a:latin typeface="Inter"/>
                <a:ea typeface="Inter"/>
                <a:cs typeface="Inter"/>
                <a:sym typeface="Inter"/>
              </a:rPr>
              <a:t>Find which student, family and lifestyle factors are most strongly associated with final grade (G3).</a:t>
            </a:r>
            <a:endParaRPr b="0" i="0" sz="2000" u="none" cap="none" strike="noStrike">
              <a:solidFill>
                <a:schemeClr val="dk1"/>
              </a:solidFill>
              <a:latin typeface="Calibri"/>
              <a:ea typeface="Calibri"/>
              <a:cs typeface="Calibri"/>
              <a:sym typeface="Calibri"/>
            </a:endParaRPr>
          </a:p>
        </p:txBody>
      </p:sp>
      <p:sp>
        <p:nvSpPr>
          <p:cNvPr id="52" name="Google Shape;52;p5"/>
          <p:cNvSpPr/>
          <p:nvPr/>
        </p:nvSpPr>
        <p:spPr>
          <a:xfrm>
            <a:off x="1117600" y="4038550"/>
            <a:ext cx="411612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4EE"/>
              </a:buClr>
              <a:buSzPts val="1400"/>
              <a:buFont typeface="Inter"/>
              <a:buNone/>
            </a:pPr>
            <a:r>
              <a:rPr b="0" i="0" lang="en-US" sz="1400" u="none" cap="none" strike="noStrike">
                <a:solidFill>
                  <a:srgbClr val="C9D4EE"/>
                </a:solidFill>
                <a:latin typeface="Inter"/>
                <a:ea typeface="Inter"/>
                <a:cs typeface="Inter"/>
                <a:sym typeface="Inter"/>
              </a:rPr>
              <a:t>G3 is the final grade, scored out of 20.</a:t>
            </a:r>
            <a:endParaRPr b="0" i="0" sz="1400" u="none" cap="none" strike="noStrike">
              <a:solidFill>
                <a:schemeClr val="dk1"/>
              </a:solidFill>
              <a:latin typeface="Calibri"/>
              <a:ea typeface="Calibri"/>
              <a:cs typeface="Calibri"/>
              <a:sym typeface="Calibri"/>
            </a:endParaRPr>
          </a:p>
        </p:txBody>
      </p:sp>
      <p:sp>
        <p:nvSpPr>
          <p:cNvPr id="53" name="Google Shape;53;p5"/>
          <p:cNvSpPr/>
          <p:nvPr/>
        </p:nvSpPr>
        <p:spPr>
          <a:xfrm>
            <a:off x="5628184" y="1934170"/>
            <a:ext cx="5744617" cy="882650"/>
          </a:xfrm>
          <a:prstGeom prst="roundRect">
            <a:avLst>
              <a:gd fmla="val 13669"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5837734" y="2179935"/>
            <a:ext cx="40640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2200"/>
              <a:buFont typeface="Inter"/>
              <a:buNone/>
            </a:pPr>
            <a:r>
              <a:rPr b="1" i="0" lang="en-US" sz="2200" u="none" cap="none" strike="noStrike">
                <a:solidFill>
                  <a:srgbClr val="0E4AEB"/>
                </a:solidFill>
                <a:latin typeface="Inter"/>
                <a:ea typeface="Inter"/>
                <a:cs typeface="Inter"/>
                <a:sym typeface="Inter"/>
              </a:rPr>
              <a:t>1</a:t>
            </a:r>
            <a:endParaRPr b="0" i="0" sz="2200" u="none" cap="none" strike="noStrike">
              <a:solidFill>
                <a:schemeClr val="dk1"/>
              </a:solidFill>
              <a:latin typeface="Calibri"/>
              <a:ea typeface="Calibri"/>
              <a:cs typeface="Calibri"/>
              <a:sym typeface="Calibri"/>
            </a:endParaRPr>
          </a:p>
        </p:txBody>
      </p:sp>
      <p:sp>
        <p:nvSpPr>
          <p:cNvPr id="55" name="Google Shape;55;p5"/>
          <p:cNvSpPr/>
          <p:nvPr/>
        </p:nvSpPr>
        <p:spPr>
          <a:xfrm>
            <a:off x="6345734" y="2118320"/>
            <a:ext cx="496204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2213F"/>
              </a:buClr>
              <a:buSzPts val="1500"/>
              <a:buFont typeface="Inter"/>
              <a:buNone/>
            </a:pPr>
            <a:r>
              <a:rPr b="0" i="0" lang="en-US" sz="1500" u="none" cap="none" strike="noStrike">
                <a:solidFill>
                  <a:srgbClr val="12213F"/>
                </a:solidFill>
                <a:latin typeface="Inter"/>
                <a:ea typeface="Inter"/>
                <a:cs typeface="Inter"/>
                <a:sym typeface="Inter"/>
              </a:rPr>
              <a:t>Which factors (study time, past failures, absences, family) go with higher or lower grades?</a:t>
            </a:r>
            <a:endParaRPr b="0" i="0" sz="1500" u="none" cap="none" strike="noStrike">
              <a:solidFill>
                <a:schemeClr val="dk1"/>
              </a:solidFill>
              <a:latin typeface="Calibri"/>
              <a:ea typeface="Calibri"/>
              <a:cs typeface="Calibri"/>
              <a:sym typeface="Calibri"/>
            </a:endParaRPr>
          </a:p>
        </p:txBody>
      </p:sp>
      <p:sp>
        <p:nvSpPr>
          <p:cNvPr id="56" name="Google Shape;56;p5"/>
          <p:cNvSpPr/>
          <p:nvPr/>
        </p:nvSpPr>
        <p:spPr>
          <a:xfrm>
            <a:off x="5628184" y="2956520"/>
            <a:ext cx="5744617" cy="882650"/>
          </a:xfrm>
          <a:prstGeom prst="roundRect">
            <a:avLst>
              <a:gd fmla="val 13669"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5837734" y="3202285"/>
            <a:ext cx="40640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2200"/>
              <a:buFont typeface="Inter"/>
              <a:buNone/>
            </a:pPr>
            <a:r>
              <a:rPr b="1" i="0" lang="en-US" sz="2200" u="none" cap="none" strike="noStrike">
                <a:solidFill>
                  <a:srgbClr val="0E4AEB"/>
                </a:solidFill>
                <a:latin typeface="Inter"/>
                <a:ea typeface="Inter"/>
                <a:cs typeface="Inter"/>
                <a:sym typeface="Inter"/>
              </a:rPr>
              <a:t>2</a:t>
            </a:r>
            <a:endParaRPr b="0" i="0" sz="2200" u="none" cap="none" strike="noStrike">
              <a:solidFill>
                <a:schemeClr val="dk1"/>
              </a:solidFill>
              <a:latin typeface="Calibri"/>
              <a:ea typeface="Calibri"/>
              <a:cs typeface="Calibri"/>
              <a:sym typeface="Calibri"/>
            </a:endParaRPr>
          </a:p>
        </p:txBody>
      </p:sp>
      <p:sp>
        <p:nvSpPr>
          <p:cNvPr id="58" name="Google Shape;58;p5"/>
          <p:cNvSpPr/>
          <p:nvPr/>
        </p:nvSpPr>
        <p:spPr>
          <a:xfrm>
            <a:off x="6345734" y="3140670"/>
            <a:ext cx="496204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2213F"/>
              </a:buClr>
              <a:buSzPts val="1500"/>
              <a:buFont typeface="Inter"/>
              <a:buNone/>
            </a:pPr>
            <a:r>
              <a:rPr b="0" i="0" lang="en-US" sz="1500" u="none" cap="none" strike="noStrike">
                <a:solidFill>
                  <a:srgbClr val="12213F"/>
                </a:solidFill>
                <a:latin typeface="Inter"/>
                <a:ea typeface="Inter"/>
                <a:cs typeface="Inter"/>
                <a:sym typeface="Inter"/>
              </a:rPr>
              <a:t>Do alcohol use and going out go with lower grades, after allowing for study time?</a:t>
            </a:r>
            <a:endParaRPr b="0" i="0" sz="1500" u="none" cap="none" strike="noStrike">
              <a:solidFill>
                <a:schemeClr val="dk1"/>
              </a:solidFill>
              <a:latin typeface="Calibri"/>
              <a:ea typeface="Calibri"/>
              <a:cs typeface="Calibri"/>
              <a:sym typeface="Calibri"/>
            </a:endParaRPr>
          </a:p>
        </p:txBody>
      </p:sp>
      <p:sp>
        <p:nvSpPr>
          <p:cNvPr id="59" name="Google Shape;59;p5"/>
          <p:cNvSpPr/>
          <p:nvPr/>
        </p:nvSpPr>
        <p:spPr>
          <a:xfrm>
            <a:off x="5628184" y="3978870"/>
            <a:ext cx="5744617" cy="882650"/>
          </a:xfrm>
          <a:prstGeom prst="roundRect">
            <a:avLst>
              <a:gd fmla="val 13669"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5837734" y="4224635"/>
            <a:ext cx="406400"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2200"/>
              <a:buFont typeface="Inter"/>
              <a:buNone/>
            </a:pPr>
            <a:r>
              <a:rPr b="1" i="0" lang="en-US" sz="2200" u="none" cap="none" strike="noStrike">
                <a:solidFill>
                  <a:srgbClr val="0E4AEB"/>
                </a:solidFill>
                <a:latin typeface="Inter"/>
                <a:ea typeface="Inter"/>
                <a:cs typeface="Inter"/>
                <a:sym typeface="Inter"/>
              </a:rPr>
              <a:t>3</a:t>
            </a:r>
            <a:endParaRPr b="0" i="0" sz="2200" u="none" cap="none" strike="noStrike">
              <a:solidFill>
                <a:schemeClr val="dk1"/>
              </a:solidFill>
              <a:latin typeface="Calibri"/>
              <a:ea typeface="Calibri"/>
              <a:cs typeface="Calibri"/>
              <a:sym typeface="Calibri"/>
            </a:endParaRPr>
          </a:p>
        </p:txBody>
      </p:sp>
      <p:sp>
        <p:nvSpPr>
          <p:cNvPr id="61" name="Google Shape;61;p5"/>
          <p:cNvSpPr/>
          <p:nvPr/>
        </p:nvSpPr>
        <p:spPr>
          <a:xfrm>
            <a:off x="6345734" y="4163020"/>
            <a:ext cx="496204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2213F"/>
              </a:buClr>
              <a:buSzPts val="1500"/>
              <a:buFont typeface="Inter"/>
              <a:buNone/>
            </a:pPr>
            <a:r>
              <a:rPr b="0" i="0" lang="en-US" sz="1500" u="none" cap="none" strike="noStrike">
                <a:solidFill>
                  <a:srgbClr val="12213F"/>
                </a:solidFill>
                <a:latin typeface="Inter"/>
                <a:ea typeface="Inter"/>
                <a:cs typeface="Inter"/>
                <a:sym typeface="Inter"/>
              </a:rPr>
              <a:t>Does school and family support go with better grades, or flag students already struggling?</a:t>
            </a:r>
            <a:endParaRPr b="0" i="0" sz="1500" u="none" cap="none" strike="noStrike">
              <a:solidFill>
                <a:schemeClr val="dk1"/>
              </a:solidFill>
              <a:latin typeface="Calibri"/>
              <a:ea typeface="Calibri"/>
              <a:cs typeface="Calibri"/>
              <a:sym typeface="Calibri"/>
            </a:endParaRPr>
          </a:p>
        </p:txBody>
      </p:sp>
      <p:sp>
        <p:nvSpPr>
          <p:cNvPr id="62" name="Google Shape;62;p5"/>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7" name="Shape 67"/>
        <p:cNvGrpSpPr/>
        <p:nvPr/>
      </p:nvGrpSpPr>
      <p:grpSpPr>
        <a:xfrm>
          <a:off x="0" y="0"/>
          <a:ext cx="0" cy="0"/>
          <a:chOff x="0" y="0"/>
          <a:chExt cx="0" cy="0"/>
        </a:xfrm>
      </p:grpSpPr>
      <p:sp>
        <p:nvSpPr>
          <p:cNvPr id="68" name="Google Shape;68;p6"/>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DATA</a:t>
            </a:r>
            <a:endParaRPr b="0" i="0" sz="1300" u="none" cap="none" strike="noStrike">
              <a:solidFill>
                <a:schemeClr val="dk1"/>
              </a:solidFill>
              <a:latin typeface="Calibri"/>
              <a:ea typeface="Calibri"/>
              <a:cs typeface="Calibri"/>
              <a:sym typeface="Calibri"/>
            </a:endParaRPr>
          </a:p>
        </p:txBody>
      </p:sp>
      <p:sp>
        <p:nvSpPr>
          <p:cNvPr id="69" name="Google Shape;69;p6"/>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The data</a:t>
            </a:r>
            <a:endParaRPr b="0" i="0" sz="3600" u="none" cap="none" strike="noStrike">
              <a:solidFill>
                <a:schemeClr val="dk1"/>
              </a:solidFill>
              <a:latin typeface="Calibri"/>
              <a:ea typeface="Calibri"/>
              <a:cs typeface="Calibri"/>
              <a:sym typeface="Calibri"/>
            </a:endParaRPr>
          </a:p>
        </p:txBody>
      </p:sp>
      <p:graphicFrame>
        <p:nvGraphicFramePr>
          <p:cNvPr id="70" name="Google Shape;70;p6"/>
          <p:cNvGraphicFramePr/>
          <p:nvPr/>
        </p:nvGraphicFramePr>
        <p:xfrm>
          <a:off x="825500" y="1940520"/>
          <a:ext cx="3000000" cy="3000000"/>
        </p:xfrm>
        <a:graphic>
          <a:graphicData uri="http://schemas.openxmlformats.org/drawingml/2006/table">
            <a:tbl>
              <a:tblPr>
                <a:noFill/>
                <a:tableStyleId>{6841E191-F2DA-4451-8307-E90BBA42723E}</a:tableStyleId>
              </a:tblPr>
              <a:tblGrid>
                <a:gridCol w="1900025"/>
                <a:gridCol w="4433375"/>
              </a:tblGrid>
              <a:tr h="359325">
                <a:tc>
                  <a:txBody>
                    <a:bodyPr/>
                    <a:lstStyle/>
                    <a:p>
                      <a:pPr indent="0" lvl="0" marL="0" marR="0" rtl="0" algn="l">
                        <a:lnSpc>
                          <a:spcPct val="140000"/>
                        </a:lnSpc>
                        <a:spcBef>
                          <a:spcPts val="0"/>
                        </a:spcBef>
                        <a:spcAft>
                          <a:spcPts val="0"/>
                        </a:spcAft>
                        <a:buClr>
                          <a:srgbClr val="F4F6FB"/>
                        </a:buClr>
                        <a:buSzPts val="1300"/>
                        <a:buFont typeface="Inter"/>
                        <a:buNone/>
                      </a:pPr>
                      <a:r>
                        <a:rPr b="1" lang="en-US" sz="1300" u="none" cap="none" strike="noStrike">
                          <a:solidFill>
                            <a:srgbClr val="F4F6FB"/>
                          </a:solidFill>
                          <a:latin typeface="Inter"/>
                          <a:ea typeface="Inter"/>
                          <a:cs typeface="Inter"/>
                          <a:sym typeface="Inter"/>
                        </a:rPr>
                        <a:t>Group</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0D1D3F"/>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0D1D3F"/>
                      </a:solidFill>
                      <a:prstDash val="solid"/>
                      <a:round/>
                      <a:headEnd len="sm" w="sm" type="none"/>
                      <a:tailEnd len="sm" w="sm" type="none"/>
                    </a:lnB>
                    <a:solidFill>
                      <a:srgbClr val="0B1F4B"/>
                    </a:solidFill>
                  </a:tcPr>
                </a:tc>
                <a:tc>
                  <a:txBody>
                    <a:bodyPr/>
                    <a:lstStyle/>
                    <a:p>
                      <a:pPr indent="0" lvl="0" marL="0" marR="0" rtl="0" algn="l">
                        <a:lnSpc>
                          <a:spcPct val="140000"/>
                        </a:lnSpc>
                        <a:spcBef>
                          <a:spcPts val="0"/>
                        </a:spcBef>
                        <a:spcAft>
                          <a:spcPts val="0"/>
                        </a:spcAft>
                        <a:buClr>
                          <a:srgbClr val="F4F6FB"/>
                        </a:buClr>
                        <a:buSzPts val="1300"/>
                        <a:buFont typeface="Inter"/>
                        <a:buNone/>
                      </a:pPr>
                      <a:r>
                        <a:rPr b="1" lang="en-US" sz="1300" u="none" cap="none" strike="noStrike">
                          <a:solidFill>
                            <a:srgbClr val="F4F6FB"/>
                          </a:solidFill>
                          <a:latin typeface="Inter"/>
                          <a:ea typeface="Inter"/>
                          <a:cs typeface="Inter"/>
                          <a:sym typeface="Inter"/>
                        </a:rPr>
                        <a:t>Examples of what is recorded</a:t>
                      </a:r>
                      <a:endParaRPr sz="1300" u="none" cap="none" strike="noStrike">
                        <a:latin typeface="Inter"/>
                        <a:ea typeface="Inter"/>
                        <a:cs typeface="Inter"/>
                        <a:sym typeface="Inter"/>
                      </a:endParaRPr>
                    </a:p>
                  </a:txBody>
                  <a:tcPr marT="57775" marB="57775" marR="57775" marL="57775">
                    <a:lnL cap="flat" cmpd="sng" w="12700">
                      <a:solidFill>
                        <a:srgbClr val="0D1D3F"/>
                      </a:solidFill>
                      <a:prstDash val="solid"/>
                      <a:round/>
                      <a:headEnd len="sm" w="sm" type="none"/>
                      <a:tailEnd len="sm" w="sm" type="none"/>
                    </a:lnL>
                    <a:lnR cap="flat" cmpd="sng" w="12700">
                      <a:solidFill>
                        <a:srgbClr val="0D1D3F"/>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0D1D3F"/>
                      </a:solidFill>
                      <a:prstDash val="solid"/>
                      <a:round/>
                      <a:headEnd len="sm" w="sm" type="none"/>
                      <a:tailEnd len="sm" w="sm" type="none"/>
                    </a:lnB>
                    <a:solidFill>
                      <a:srgbClr val="0B1F4B"/>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Student</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0D1D3F"/>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age, sex, absences, past class failures</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0D1D3F"/>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Study and school</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study time, school support, wants higher education</a:t>
                      </a:r>
                      <a:endParaRPr sz="1300" u="none" cap="none" strike="noStrike">
                        <a:latin typeface="Inter"/>
                        <a:ea typeface="Inter"/>
                        <a:cs typeface="Inter"/>
                        <a:sym typeface="Inter"/>
                      </a:endParaRPr>
                    </a:p>
                  </a:txBody>
                  <a:tcPr marT="57775" marB="57775" marR="57775" marL="57775">
                    <a:lnL cap="flat" cmpd="sng" w="12700">
                      <a:solidFill>
                        <a:srgbClr val="BBC0CB"/>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r>
              <a:tr h="590450">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Family</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parents' education, family support, family relationships</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Lifestyle</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free time, going out, alcohol use, health</a:t>
                      </a:r>
                      <a:endParaRPr sz="1300" u="none" cap="none" strike="noStrike">
                        <a:latin typeface="Inter"/>
                        <a:ea typeface="Inter"/>
                        <a:cs typeface="Inter"/>
                        <a:sym typeface="Inter"/>
                      </a:endParaRPr>
                    </a:p>
                  </a:txBody>
                  <a:tcPr marT="57775" marB="57775" marR="57775" marL="57775">
                    <a:lnL cap="flat" cmpd="sng" w="12700">
                      <a:solidFill>
                        <a:srgbClr val="BBC0CB"/>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Outcome</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G3, the final grade (0 to 20)</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bl>
          </a:graphicData>
        </a:graphic>
      </p:graphicFrame>
      <p:sp>
        <p:nvSpPr>
          <p:cNvPr id="71" name="Google Shape;71;p6"/>
          <p:cNvSpPr/>
          <p:nvPr/>
        </p:nvSpPr>
        <p:spPr>
          <a:xfrm>
            <a:off x="7412881" y="1927820"/>
            <a:ext cx="3966319" cy="977850"/>
          </a:xfrm>
          <a:prstGeom prst="roundRect">
            <a:avLst>
              <a:gd fmla="val 12988" name="adj"/>
            </a:avLst>
          </a:prstGeom>
          <a:solidFill>
            <a:srgbClr val="0E4A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7616081" y="2080220"/>
            <a:ext cx="3666717"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4F6FB"/>
              </a:buClr>
              <a:buSzPts val="2800"/>
              <a:buFont typeface="Inter"/>
              <a:buNone/>
            </a:pPr>
            <a:r>
              <a:rPr b="1" i="0" lang="en-US" sz="2800" u="none" cap="none" strike="noStrike">
                <a:solidFill>
                  <a:srgbClr val="F4F6FB"/>
                </a:solidFill>
                <a:latin typeface="Inter"/>
                <a:ea typeface="Inter"/>
                <a:cs typeface="Inter"/>
                <a:sym typeface="Inter"/>
              </a:rPr>
              <a:t>33</a:t>
            </a:r>
            <a:endParaRPr b="0" i="0" sz="2800" u="none" cap="none" strike="noStrike">
              <a:solidFill>
                <a:schemeClr val="dk1"/>
              </a:solidFill>
              <a:latin typeface="Calibri"/>
              <a:ea typeface="Calibri"/>
              <a:cs typeface="Calibri"/>
              <a:sym typeface="Calibri"/>
            </a:endParaRPr>
          </a:p>
        </p:txBody>
      </p:sp>
      <p:sp>
        <p:nvSpPr>
          <p:cNvPr id="73" name="Google Shape;73;p6"/>
          <p:cNvSpPr/>
          <p:nvPr/>
        </p:nvSpPr>
        <p:spPr>
          <a:xfrm>
            <a:off x="7616081" y="2522141"/>
            <a:ext cx="3666717"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6FB"/>
              </a:buClr>
              <a:buSzPts val="1300"/>
              <a:buFont typeface="Inter"/>
              <a:buNone/>
            </a:pPr>
            <a:r>
              <a:rPr b="0" i="0" lang="en-US" sz="1300" u="none" cap="none" strike="noStrike">
                <a:solidFill>
                  <a:srgbClr val="F4F6FB"/>
                </a:solidFill>
                <a:latin typeface="Inter"/>
                <a:ea typeface="Inter"/>
                <a:cs typeface="Inter"/>
                <a:sym typeface="Inter"/>
              </a:rPr>
              <a:t>attributes recorded per student</a:t>
            </a:r>
            <a:endParaRPr b="0" i="0" sz="1300" u="none" cap="none" strike="noStrike">
              <a:solidFill>
                <a:schemeClr val="dk1"/>
              </a:solidFill>
              <a:latin typeface="Calibri"/>
              <a:ea typeface="Calibri"/>
              <a:cs typeface="Calibri"/>
              <a:sym typeface="Calibri"/>
            </a:endParaRPr>
          </a:p>
        </p:txBody>
      </p:sp>
      <p:sp>
        <p:nvSpPr>
          <p:cNvPr id="74" name="Google Shape;74;p6"/>
          <p:cNvSpPr/>
          <p:nvPr/>
        </p:nvSpPr>
        <p:spPr>
          <a:xfrm>
            <a:off x="7412881" y="3032671"/>
            <a:ext cx="3966319" cy="977850"/>
          </a:xfrm>
          <a:prstGeom prst="roundRect">
            <a:avLst>
              <a:gd fmla="val 12988" name="adj"/>
            </a:avLst>
          </a:prstGeom>
          <a:solidFill>
            <a:srgbClr val="0E4A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7616081" y="3185071"/>
            <a:ext cx="3666717"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4F6FB"/>
              </a:buClr>
              <a:buSzPts val="2800"/>
              <a:buFont typeface="Inter"/>
              <a:buNone/>
            </a:pPr>
            <a:r>
              <a:rPr b="1" i="0" lang="en-US" sz="2800" u="none" cap="none" strike="noStrike">
                <a:solidFill>
                  <a:srgbClr val="F4F6FB"/>
                </a:solidFill>
                <a:latin typeface="Inter"/>
                <a:ea typeface="Inter"/>
                <a:cs typeface="Inter"/>
                <a:sym typeface="Inter"/>
              </a:rPr>
              <a:t>0 to 20</a:t>
            </a:r>
            <a:endParaRPr b="0" i="0" sz="2800" u="none" cap="none" strike="noStrike">
              <a:solidFill>
                <a:schemeClr val="dk1"/>
              </a:solidFill>
              <a:latin typeface="Calibri"/>
              <a:ea typeface="Calibri"/>
              <a:cs typeface="Calibri"/>
              <a:sym typeface="Calibri"/>
            </a:endParaRPr>
          </a:p>
        </p:txBody>
      </p:sp>
      <p:sp>
        <p:nvSpPr>
          <p:cNvPr id="76" name="Google Shape;76;p6"/>
          <p:cNvSpPr/>
          <p:nvPr/>
        </p:nvSpPr>
        <p:spPr>
          <a:xfrm>
            <a:off x="7616081" y="3626991"/>
            <a:ext cx="3666717"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6FB"/>
              </a:buClr>
              <a:buSzPts val="1300"/>
              <a:buFont typeface="Inter"/>
              <a:buNone/>
            </a:pPr>
            <a:r>
              <a:rPr b="0" i="0" lang="en-US" sz="1300" u="none" cap="none" strike="noStrike">
                <a:solidFill>
                  <a:srgbClr val="F4F6FB"/>
                </a:solidFill>
                <a:latin typeface="Inter"/>
                <a:ea typeface="Inter"/>
                <a:cs typeface="Inter"/>
                <a:sym typeface="Inter"/>
              </a:rPr>
              <a:t>scale of the final grade, G3</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7422406" y="4147046"/>
            <a:ext cx="3947269" cy="996900"/>
          </a:xfrm>
          <a:prstGeom prst="roundRect">
            <a:avLst>
              <a:gd fmla="val 11784" name="adj"/>
            </a:avLst>
          </a:prstGeom>
          <a:solidFill>
            <a:srgbClr val="FBFCFE"/>
          </a:solidFill>
          <a:ln cap="flat" cmpd="sng" w="19050">
            <a:solidFill>
              <a:srgbClr val="0E4AEB"/>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7635131" y="4308971"/>
            <a:ext cx="3627474" cy="41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5309"/>
              </a:buClr>
              <a:buSzPts val="2800"/>
              <a:buFont typeface="Inter"/>
              <a:buNone/>
            </a:pPr>
            <a:r>
              <a:rPr b="1" i="0" lang="en-US" sz="2800" u="none" cap="none" strike="noStrike">
                <a:solidFill>
                  <a:srgbClr val="0B1F4B"/>
                </a:solidFill>
                <a:latin typeface="Inter"/>
                <a:ea typeface="Inter"/>
                <a:cs typeface="Inter"/>
                <a:sym typeface="Inter"/>
              </a:rPr>
              <a:t>649</a:t>
            </a:r>
            <a:endParaRPr b="0" i="0" sz="2800" u="none" cap="none" strike="noStrike">
              <a:solidFill>
                <a:schemeClr val="dk1"/>
              </a:solidFill>
              <a:latin typeface="Calibri"/>
              <a:ea typeface="Calibri"/>
              <a:cs typeface="Calibri"/>
              <a:sym typeface="Calibri"/>
            </a:endParaRPr>
          </a:p>
        </p:txBody>
      </p:sp>
      <p:sp>
        <p:nvSpPr>
          <p:cNvPr id="79" name="Google Shape;79;p6"/>
          <p:cNvSpPr/>
          <p:nvPr/>
        </p:nvSpPr>
        <p:spPr>
          <a:xfrm>
            <a:off x="7635131" y="4750891"/>
            <a:ext cx="3627474"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300"/>
              <a:buFont typeface="Inter"/>
              <a:buNone/>
            </a:pPr>
            <a:r>
              <a:rPr b="0" i="0" lang="en-US" sz="1300" u="none" cap="none" strike="noStrike">
                <a:solidFill>
                  <a:srgbClr val="54607A"/>
                </a:solidFill>
                <a:latin typeface="Inter"/>
                <a:ea typeface="Inter"/>
                <a:cs typeface="Inter"/>
                <a:sym typeface="Inter"/>
              </a:rPr>
              <a:t>students (Portuguese course file)</a:t>
            </a:r>
            <a:endParaRPr b="0" i="0" sz="1300" u="none" cap="none" strike="noStrike">
              <a:solidFill>
                <a:schemeClr val="dk1"/>
              </a:solidFill>
              <a:latin typeface="Calibri"/>
              <a:ea typeface="Calibri"/>
              <a:cs typeface="Calibri"/>
              <a:sym typeface="Calibri"/>
            </a:endParaRPr>
          </a:p>
        </p:txBody>
      </p:sp>
      <p:sp>
        <p:nvSpPr>
          <p:cNvPr id="80" name="Google Shape;80;p6"/>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5" name="Shape 85"/>
        <p:cNvGrpSpPr/>
        <p:nvPr/>
      </p:nvGrpSpPr>
      <p:grpSpPr>
        <a:xfrm>
          <a:off x="0" y="0"/>
          <a:ext cx="0" cy="0"/>
          <a:chOff x="0" y="0"/>
          <a:chExt cx="0" cy="0"/>
        </a:xfrm>
      </p:grpSpPr>
      <p:sp>
        <p:nvSpPr>
          <p:cNvPr id="86" name="Google Shape;86;p7"/>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DATA</a:t>
            </a:r>
            <a:endParaRPr b="0" i="0" sz="1300" u="none" cap="none" strike="noStrike">
              <a:solidFill>
                <a:schemeClr val="dk1"/>
              </a:solidFill>
              <a:latin typeface="Calibri"/>
              <a:ea typeface="Calibri"/>
              <a:cs typeface="Calibri"/>
              <a:sym typeface="Calibri"/>
            </a:endParaRPr>
          </a:p>
        </p:txBody>
      </p:sp>
      <p:sp>
        <p:nvSpPr>
          <p:cNvPr id="87" name="Google Shape;87;p7"/>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Preparing the data</a:t>
            </a:r>
            <a:endParaRPr b="0" i="0" sz="3600" u="none" cap="none" strike="noStrike">
              <a:solidFill>
                <a:schemeClr val="dk1"/>
              </a:solidFill>
              <a:latin typeface="Calibri"/>
              <a:ea typeface="Calibri"/>
              <a:cs typeface="Calibri"/>
              <a:sym typeface="Calibri"/>
            </a:endParaRPr>
          </a:p>
        </p:txBody>
      </p:sp>
      <p:sp>
        <p:nvSpPr>
          <p:cNvPr id="88" name="Google Shape;88;p7"/>
          <p:cNvSpPr/>
          <p:nvPr/>
        </p:nvSpPr>
        <p:spPr>
          <a:xfrm>
            <a:off x="819150" y="1934170"/>
            <a:ext cx="5168900" cy="1302941"/>
          </a:xfrm>
          <a:prstGeom prst="roundRect">
            <a:avLst>
              <a:gd fmla="val 926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1054100" y="2169120"/>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Checked for gaps and duplicates</a:t>
            </a:r>
            <a:endParaRPr b="0" i="0" sz="1700" u="none" cap="none" strike="noStrike">
              <a:solidFill>
                <a:schemeClr val="dk1"/>
              </a:solidFill>
              <a:latin typeface="Calibri"/>
              <a:ea typeface="Calibri"/>
              <a:cs typeface="Calibri"/>
              <a:sym typeface="Calibri"/>
            </a:endParaRPr>
          </a:p>
        </p:txBody>
      </p:sp>
      <p:sp>
        <p:nvSpPr>
          <p:cNvPr id="90" name="Google Shape;90;p7"/>
          <p:cNvSpPr/>
          <p:nvPr/>
        </p:nvSpPr>
        <p:spPr>
          <a:xfrm>
            <a:off x="1054100" y="2504380"/>
            <a:ext cx="483997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Result: 0 duplicate rows and 0 missing values</a:t>
            </a:r>
            <a:endParaRPr b="0" i="0" sz="1400" u="none" cap="none" strike="noStrike">
              <a:solidFill>
                <a:schemeClr val="dk1"/>
              </a:solidFill>
              <a:latin typeface="Calibri"/>
              <a:ea typeface="Calibri"/>
              <a:cs typeface="Calibri"/>
              <a:sym typeface="Calibri"/>
            </a:endParaRPr>
          </a:p>
        </p:txBody>
      </p:sp>
      <p:sp>
        <p:nvSpPr>
          <p:cNvPr id="91" name="Google Shape;91;p7"/>
          <p:cNvSpPr/>
          <p:nvPr/>
        </p:nvSpPr>
        <p:spPr>
          <a:xfrm>
            <a:off x="6203950" y="1934170"/>
            <a:ext cx="5168900" cy="1302941"/>
          </a:xfrm>
          <a:prstGeom prst="roundRect">
            <a:avLst>
              <a:gd fmla="val 926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6438900" y="2169120"/>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Left out earlier grades</a:t>
            </a:r>
            <a:endParaRPr b="0" i="0" sz="1700" u="none" cap="none" strike="noStrike">
              <a:solidFill>
                <a:schemeClr val="dk1"/>
              </a:solidFill>
              <a:latin typeface="Calibri"/>
              <a:ea typeface="Calibri"/>
              <a:cs typeface="Calibri"/>
              <a:sym typeface="Calibri"/>
            </a:endParaRPr>
          </a:p>
        </p:txBody>
      </p:sp>
      <p:sp>
        <p:nvSpPr>
          <p:cNvPr id="93" name="Google Shape;93;p7"/>
          <p:cNvSpPr/>
          <p:nvPr/>
        </p:nvSpPr>
        <p:spPr>
          <a:xfrm>
            <a:off x="6438900" y="2504380"/>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G1 and G2 are earlier grades that almost give away the final grade (G3), so we excluded them.</a:t>
            </a:r>
            <a:endParaRPr b="0" i="0" sz="1400" u="none" cap="none" strike="noStrike">
              <a:solidFill>
                <a:schemeClr val="dk1"/>
              </a:solidFill>
              <a:latin typeface="Calibri"/>
              <a:ea typeface="Calibri"/>
              <a:cs typeface="Calibri"/>
              <a:sym typeface="Calibri"/>
            </a:endParaRPr>
          </a:p>
        </p:txBody>
      </p:sp>
      <p:sp>
        <p:nvSpPr>
          <p:cNvPr id="94" name="Google Shape;94;p7"/>
          <p:cNvSpPr/>
          <p:nvPr/>
        </p:nvSpPr>
        <p:spPr>
          <a:xfrm>
            <a:off x="819150" y="3453011"/>
            <a:ext cx="5168900" cy="1302941"/>
          </a:xfrm>
          <a:prstGeom prst="roundRect">
            <a:avLst>
              <a:gd fmla="val 926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1054100" y="3687961"/>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Checked zero grades</a:t>
            </a:r>
            <a:endParaRPr b="0" i="0" sz="1700" u="none" cap="none" strike="noStrike">
              <a:solidFill>
                <a:schemeClr val="dk1"/>
              </a:solidFill>
              <a:latin typeface="Calibri"/>
              <a:ea typeface="Calibri"/>
              <a:cs typeface="Calibri"/>
              <a:sym typeface="Calibri"/>
            </a:endParaRPr>
          </a:p>
        </p:txBody>
      </p:sp>
      <p:sp>
        <p:nvSpPr>
          <p:cNvPr id="96" name="Google Shape;96;p7"/>
          <p:cNvSpPr/>
          <p:nvPr/>
        </p:nvSpPr>
        <p:spPr>
          <a:xfrm>
            <a:off x="1054100" y="4023221"/>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15 students had G3 = 0 with no absences (did not sit the exam), so we left them out: 634 remain</a:t>
            </a:r>
            <a:endParaRPr b="0" i="0" sz="1400" u="none" cap="none" strike="noStrike">
              <a:solidFill>
                <a:schemeClr val="dk1"/>
              </a:solidFill>
              <a:latin typeface="Calibri"/>
              <a:ea typeface="Calibri"/>
              <a:cs typeface="Calibri"/>
              <a:sym typeface="Calibri"/>
            </a:endParaRPr>
          </a:p>
        </p:txBody>
      </p:sp>
      <p:sp>
        <p:nvSpPr>
          <p:cNvPr id="97" name="Google Shape;97;p7"/>
          <p:cNvSpPr/>
          <p:nvPr/>
        </p:nvSpPr>
        <p:spPr>
          <a:xfrm>
            <a:off x="6203950" y="3453011"/>
            <a:ext cx="5168900" cy="1302941"/>
          </a:xfrm>
          <a:prstGeom prst="roundRect">
            <a:avLst>
              <a:gd fmla="val 9260"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6438900" y="3687961"/>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Handled skewed answers</a:t>
            </a:r>
            <a:endParaRPr b="0" i="0" sz="1700" u="none" cap="none" strike="noStrike">
              <a:solidFill>
                <a:schemeClr val="dk1"/>
              </a:solidFill>
              <a:latin typeface="Calibri"/>
              <a:ea typeface="Calibri"/>
              <a:cs typeface="Calibri"/>
              <a:sym typeface="Calibri"/>
            </a:endParaRPr>
          </a:p>
        </p:txBody>
      </p:sp>
      <p:sp>
        <p:nvSpPr>
          <p:cNvPr id="99" name="Google Shape;99;p7"/>
          <p:cNvSpPr/>
          <p:nvPr/>
        </p:nvSpPr>
        <p:spPr>
          <a:xfrm>
            <a:off x="6438900" y="4023221"/>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Absences are skewed (most 0 to 6, max 32); kept as counts and checked no student drives results</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05" name="Shape 105"/>
        <p:cNvGrpSpPr/>
        <p:nvPr/>
      </p:nvGrpSpPr>
      <p:grpSpPr>
        <a:xfrm>
          <a:off x="0" y="0"/>
          <a:ext cx="0" cy="0"/>
          <a:chOff x="0" y="0"/>
          <a:chExt cx="0" cy="0"/>
        </a:xfrm>
      </p:grpSpPr>
      <p:sp>
        <p:nvSpPr>
          <p:cNvPr id="106" name="Google Shape;106;p8"/>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EXPLORATION</a:t>
            </a:r>
            <a:endParaRPr b="0" i="0" sz="1300" u="none" cap="none" strike="noStrike">
              <a:solidFill>
                <a:schemeClr val="dk1"/>
              </a:solidFill>
              <a:latin typeface="Calibri"/>
              <a:ea typeface="Calibri"/>
              <a:cs typeface="Calibri"/>
              <a:sym typeface="Calibri"/>
            </a:endParaRPr>
          </a:p>
        </p:txBody>
      </p:sp>
      <p:sp>
        <p:nvSpPr>
          <p:cNvPr id="107" name="Google Shape;107;p8"/>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How final grades are spread</a:t>
            </a:r>
            <a:endParaRPr b="0" i="0" sz="3600" u="none" cap="none" strike="noStrike">
              <a:solidFill>
                <a:schemeClr val="dk1"/>
              </a:solidFill>
              <a:latin typeface="Calibri"/>
              <a:ea typeface="Calibri"/>
              <a:cs typeface="Calibri"/>
              <a:sym typeface="Calibri"/>
            </a:endParaRPr>
          </a:p>
        </p:txBody>
      </p:sp>
      <p:sp>
        <p:nvSpPr>
          <p:cNvPr id="112" name="Google Shape;112;p8"/>
          <p:cNvSpPr/>
          <p:nvPr/>
        </p:nvSpPr>
        <p:spPr>
          <a:xfrm>
            <a:off x="7559774" y="1927820"/>
            <a:ext cx="3819376" cy="3556000"/>
          </a:xfrm>
          <a:prstGeom prst="roundRect">
            <a:avLst>
              <a:gd fmla="val 4286" name="adj"/>
            </a:avLst>
          </a:prstGeom>
          <a:solidFill>
            <a:srgbClr val="0B1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7839174" y="2207220"/>
            <a:ext cx="33583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300"/>
              <a:buFont typeface="Inter"/>
              <a:buNone/>
            </a:pPr>
            <a:r>
              <a:rPr b="1" i="0" lang="en-US" sz="1300" u="none" cap="none" strike="noStrike">
                <a:solidFill>
                  <a:srgbClr val="8FB0FF"/>
                </a:solidFill>
                <a:latin typeface="Inter"/>
                <a:ea typeface="Inter"/>
                <a:cs typeface="Inter"/>
                <a:sym typeface="Inter"/>
              </a:rPr>
              <a:t>KEY TAKEAWAY</a:t>
            </a:r>
            <a:endParaRPr b="0" i="0" sz="1300" u="none" cap="none" strike="noStrike">
              <a:solidFill>
                <a:schemeClr val="dk1"/>
              </a:solidFill>
              <a:latin typeface="Calibri"/>
              <a:ea typeface="Calibri"/>
              <a:cs typeface="Calibri"/>
              <a:sym typeface="Calibri"/>
            </a:endParaRPr>
          </a:p>
        </p:txBody>
      </p:sp>
      <p:sp>
        <p:nvSpPr>
          <p:cNvPr id="114" name="Google Shape;114;p8"/>
          <p:cNvSpPr/>
          <p:nvPr/>
        </p:nvSpPr>
        <p:spPr>
          <a:xfrm>
            <a:off x="7839174" y="2565350"/>
            <a:ext cx="3358393" cy="1346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C46B"/>
              </a:buClr>
              <a:buSzPts val="2000"/>
              <a:buFont typeface="Inter"/>
              <a:buNone/>
            </a:pPr>
            <a:r>
              <a:rPr b="1" i="0" lang="en-US" sz="2000" u="none" cap="none" strike="noStrike">
                <a:solidFill>
                  <a:srgbClr val="FFC46B"/>
                </a:solidFill>
                <a:latin typeface="Inter"/>
                <a:ea typeface="Inter"/>
                <a:cs typeface="Inter"/>
                <a:sym typeface="Inter"/>
              </a:rPr>
              <a:t>Most students score 10 to 14; a typical grade is 12.</a:t>
            </a:r>
            <a:endParaRPr b="0" i="0" sz="2000" u="none" cap="none" strike="noStrike">
              <a:solidFill>
                <a:schemeClr val="dk1"/>
              </a:solidFill>
              <a:latin typeface="Calibri"/>
              <a:ea typeface="Calibri"/>
              <a:cs typeface="Calibri"/>
              <a:sym typeface="Calibri"/>
            </a:endParaRPr>
          </a:p>
        </p:txBody>
      </p:sp>
      <p:sp>
        <p:nvSpPr>
          <p:cNvPr id="115" name="Google Shape;115;p8"/>
          <p:cNvSpPr/>
          <p:nvPr/>
        </p:nvSpPr>
        <p:spPr>
          <a:xfrm>
            <a:off x="7839174" y="4013150"/>
            <a:ext cx="3358393"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4EE"/>
              </a:buClr>
              <a:buSzPts val="1400"/>
              <a:buFont typeface="Inter"/>
              <a:buNone/>
            </a:pPr>
            <a:r>
              <a:rPr b="0" i="0" lang="en-US" sz="1400" u="none" cap="none" strike="noStrike">
                <a:solidFill>
                  <a:srgbClr val="C9D4EE"/>
                </a:solidFill>
                <a:latin typeface="Inter"/>
                <a:ea typeface="Inter"/>
                <a:cs typeface="Inter"/>
                <a:sym typeface="Inter"/>
              </a:rPr>
              <a:t>15 zeros = students who did not sit the exam</a:t>
            </a:r>
            <a:endParaRPr b="0" i="0" sz="1400" u="none" cap="none" strike="noStrike">
              <a:solidFill>
                <a:schemeClr val="dk1"/>
              </a:solidFill>
              <a:latin typeface="Calibri"/>
              <a:ea typeface="Calibri"/>
              <a:cs typeface="Calibri"/>
              <a:sym typeface="Calibri"/>
            </a:endParaRPr>
          </a:p>
        </p:txBody>
      </p:sp>
      <p:sp>
        <p:nvSpPr>
          <p:cNvPr id="116" name="Google Shape;116;p8"/>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pic>
        <p:nvPicPr>
          <p:cNvPr id="900" name="Chart 6" descr="Chart"/>
          <p:cNvPicPr>
            <a:picLocks noChangeAspect="1"/>
          </p:cNvPicPr>
          <p:nvPr/>
        </p:nvPicPr>
        <p:blipFill>
          <a:blip r:embed="rId90"/>
          <a:stretch>
            <a:fillRect/>
          </a:stretch>
        </p:blipFill>
        <p:spPr>
          <a:xfrm>
            <a:off x="822325" y="1937345"/>
            <a:ext cx="6473924" cy="3536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21" name="Shape 121"/>
        <p:cNvGrpSpPr/>
        <p:nvPr/>
      </p:nvGrpSpPr>
      <p:grpSpPr>
        <a:xfrm>
          <a:off x="0" y="0"/>
          <a:ext cx="0" cy="0"/>
          <a:chOff x="0" y="0"/>
          <a:chExt cx="0" cy="0"/>
        </a:xfrm>
      </p:grpSpPr>
      <p:sp>
        <p:nvSpPr>
          <p:cNvPr id="122" name="Google Shape;122;p9"/>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EXPLORATION</a:t>
            </a:r>
            <a:endParaRPr b="0" i="0" sz="1300" u="none" cap="none" strike="noStrike">
              <a:solidFill>
                <a:schemeClr val="dk1"/>
              </a:solidFill>
              <a:latin typeface="Calibri"/>
              <a:ea typeface="Calibri"/>
              <a:cs typeface="Calibri"/>
              <a:sym typeface="Calibri"/>
            </a:endParaRPr>
          </a:p>
        </p:txBody>
      </p:sp>
      <p:sp>
        <p:nvSpPr>
          <p:cNvPr id="123" name="Google Shape;123;p9"/>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Study habits versus grades</a:t>
            </a:r>
            <a:endParaRPr b="0" i="0" sz="3600" u="none" cap="none" strike="noStrike">
              <a:solidFill>
                <a:schemeClr val="dk1"/>
              </a:solidFill>
              <a:latin typeface="Calibri"/>
              <a:ea typeface="Calibri"/>
              <a:cs typeface="Calibri"/>
              <a:sym typeface="Calibri"/>
            </a:endParaRPr>
          </a:p>
        </p:txBody>
      </p:sp>
      <p:sp>
        <p:nvSpPr>
          <p:cNvPr id="128" name="Google Shape;128;p9"/>
          <p:cNvSpPr/>
          <p:nvPr/>
        </p:nvSpPr>
        <p:spPr>
          <a:xfrm>
            <a:off x="7559774" y="1927820"/>
            <a:ext cx="3819376" cy="3556000"/>
          </a:xfrm>
          <a:prstGeom prst="roundRect">
            <a:avLst>
              <a:gd fmla="val 4286" name="adj"/>
            </a:avLst>
          </a:prstGeom>
          <a:solidFill>
            <a:srgbClr val="0B1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p:nvPr/>
        </p:nvSpPr>
        <p:spPr>
          <a:xfrm>
            <a:off x="7839174" y="2207220"/>
            <a:ext cx="33583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300"/>
              <a:buFont typeface="Inter"/>
              <a:buNone/>
            </a:pPr>
            <a:r>
              <a:rPr b="1" i="0" lang="en-US" sz="1300" u="none" cap="none" strike="noStrike">
                <a:solidFill>
                  <a:srgbClr val="8FB0FF"/>
                </a:solidFill>
                <a:latin typeface="Inter"/>
                <a:ea typeface="Inter"/>
                <a:cs typeface="Inter"/>
                <a:sym typeface="Inter"/>
              </a:rPr>
              <a:t>KEY TAKEAWAY</a:t>
            </a:r>
            <a:endParaRPr b="0" i="0" sz="1300" u="none" cap="none" strike="noStrike">
              <a:solidFill>
                <a:schemeClr val="dk1"/>
              </a:solidFill>
              <a:latin typeface="Calibri"/>
              <a:ea typeface="Calibri"/>
              <a:cs typeface="Calibri"/>
              <a:sym typeface="Calibri"/>
            </a:endParaRPr>
          </a:p>
        </p:txBody>
      </p:sp>
      <p:sp>
        <p:nvSpPr>
          <p:cNvPr id="130" name="Google Shape;130;p9"/>
          <p:cNvSpPr/>
          <p:nvPr/>
        </p:nvSpPr>
        <p:spPr>
          <a:xfrm>
            <a:off x="7839174" y="2565350"/>
            <a:ext cx="3358393" cy="685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C46B"/>
              </a:buClr>
              <a:buSzPts val="2000"/>
              <a:buFont typeface="Inter"/>
              <a:buNone/>
            </a:pPr>
            <a:r>
              <a:rPr b="1" i="0" lang="en-US" sz="2000" u="none" cap="none" strike="noStrike">
                <a:solidFill>
                  <a:srgbClr val="FFC46B"/>
                </a:solidFill>
                <a:latin typeface="Inter"/>
                <a:ea typeface="Inter"/>
                <a:cs typeface="Inter"/>
                <a:sym typeface="Inter"/>
              </a:rPr>
              <a:t>Past failures: about 3 points lower (9.4 vs 12.6).</a:t>
            </a:r>
            <a:endParaRPr b="0" i="0" sz="2000" u="none" cap="none" strike="noStrike">
              <a:solidFill>
                <a:schemeClr val="dk1"/>
              </a:solidFill>
              <a:latin typeface="Calibri"/>
              <a:ea typeface="Calibri"/>
              <a:cs typeface="Calibri"/>
              <a:sym typeface="Calibri"/>
            </a:endParaRPr>
          </a:p>
        </p:txBody>
      </p:sp>
      <p:sp>
        <p:nvSpPr>
          <p:cNvPr id="131" name="Google Shape;131;p9"/>
          <p:cNvSpPr/>
          <p:nvPr/>
        </p:nvSpPr>
        <p:spPr>
          <a:xfrm>
            <a:off x="7839174" y="4013150"/>
            <a:ext cx="3358393"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4EE"/>
              </a:buClr>
              <a:buSzPts val="1400"/>
              <a:buFont typeface="Inter"/>
              <a:buNone/>
            </a:pPr>
            <a:r>
              <a:rPr b="0" i="0" lang="en-US" sz="1400" u="none" cap="none" strike="noStrike">
                <a:solidFill>
                  <a:srgbClr val="C9D4EE"/>
                </a:solidFill>
                <a:latin typeface="Inter"/>
                <a:ea typeface="Inter"/>
                <a:cs typeface="Inter"/>
                <a:sym typeface="Inter"/>
              </a:rPr>
              <a:t>Links to Question 1: yes, the strongest warning sign.</a:t>
            </a:r>
            <a:endParaRPr b="0" i="0" sz="1400" u="none" cap="none" strike="noStrike">
              <a:solidFill>
                <a:schemeClr val="dk1"/>
              </a:solidFill>
              <a:latin typeface="Calibri"/>
              <a:ea typeface="Calibri"/>
              <a:cs typeface="Calibri"/>
              <a:sym typeface="Calibri"/>
            </a:endParaRPr>
          </a:p>
        </p:txBody>
      </p:sp>
      <p:sp>
        <p:nvSpPr>
          <p:cNvPr id="132" name="Google Shape;132;p9"/>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pic>
        <p:nvPicPr>
          <p:cNvPr id="900" name="Chart 7" descr="Chart"/>
          <p:cNvPicPr>
            <a:picLocks noChangeAspect="1"/>
          </p:cNvPicPr>
          <p:nvPr/>
        </p:nvPicPr>
        <p:blipFill>
          <a:blip r:embed="rId90"/>
          <a:stretch>
            <a:fillRect/>
          </a:stretch>
        </p:blipFill>
        <p:spPr>
          <a:xfrm>
            <a:off x="822325" y="1937345"/>
            <a:ext cx="6473924" cy="3536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7" name="Shape 137"/>
        <p:cNvGrpSpPr/>
        <p:nvPr/>
      </p:nvGrpSpPr>
      <p:grpSpPr>
        <a:xfrm>
          <a:off x="0" y="0"/>
          <a:ext cx="0" cy="0"/>
          <a:chOff x="0" y="0"/>
          <a:chExt cx="0" cy="0"/>
        </a:xfrm>
      </p:grpSpPr>
      <p:sp>
        <p:nvSpPr>
          <p:cNvPr id="138" name="Google Shape;138;p10"/>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EXPLORATION</a:t>
            </a:r>
            <a:endParaRPr b="0" i="0" sz="1300" u="none" cap="none" strike="noStrike">
              <a:solidFill>
                <a:schemeClr val="dk1"/>
              </a:solidFill>
              <a:latin typeface="Calibri"/>
              <a:ea typeface="Calibri"/>
              <a:cs typeface="Calibri"/>
              <a:sym typeface="Calibri"/>
            </a:endParaRPr>
          </a:p>
        </p:txBody>
      </p:sp>
      <p:sp>
        <p:nvSpPr>
          <p:cNvPr id="139" name="Google Shape;139;p10"/>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Lifestyle versus grades</a:t>
            </a:r>
            <a:endParaRPr b="0" i="0" sz="3600" u="none" cap="none" strike="noStrike">
              <a:solidFill>
                <a:schemeClr val="dk1"/>
              </a:solidFill>
              <a:latin typeface="Calibri"/>
              <a:ea typeface="Calibri"/>
              <a:cs typeface="Calibri"/>
              <a:sym typeface="Calibri"/>
            </a:endParaRPr>
          </a:p>
        </p:txBody>
      </p:sp>
      <p:sp>
        <p:nvSpPr>
          <p:cNvPr id="144" name="Google Shape;144;p10"/>
          <p:cNvSpPr/>
          <p:nvPr/>
        </p:nvSpPr>
        <p:spPr>
          <a:xfrm>
            <a:off x="7559774" y="1927820"/>
            <a:ext cx="3819376" cy="3556000"/>
          </a:xfrm>
          <a:prstGeom prst="roundRect">
            <a:avLst>
              <a:gd fmla="val 4286" name="adj"/>
            </a:avLst>
          </a:prstGeom>
          <a:solidFill>
            <a:srgbClr val="0B1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7839174" y="2207220"/>
            <a:ext cx="3358393"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300"/>
              <a:buFont typeface="Inter"/>
              <a:buNone/>
            </a:pPr>
            <a:r>
              <a:rPr b="1" i="0" lang="en-US" sz="1300" u="none" cap="none" strike="noStrike">
                <a:solidFill>
                  <a:srgbClr val="8FB0FF"/>
                </a:solidFill>
                <a:latin typeface="Inter"/>
                <a:ea typeface="Inter"/>
                <a:cs typeface="Inter"/>
                <a:sym typeface="Inter"/>
              </a:rPr>
              <a:t>KEY TAKEAWAY</a:t>
            </a:r>
            <a:endParaRPr b="0" i="0" sz="1300" u="none" cap="none" strike="noStrike">
              <a:solidFill>
                <a:schemeClr val="dk1"/>
              </a:solidFill>
              <a:latin typeface="Calibri"/>
              <a:ea typeface="Calibri"/>
              <a:cs typeface="Calibri"/>
              <a:sym typeface="Calibri"/>
            </a:endParaRPr>
          </a:p>
        </p:txBody>
      </p:sp>
      <p:sp>
        <p:nvSpPr>
          <p:cNvPr id="146" name="Google Shape;146;p10"/>
          <p:cNvSpPr/>
          <p:nvPr/>
        </p:nvSpPr>
        <p:spPr>
          <a:xfrm>
            <a:off x="7839174" y="2565350"/>
            <a:ext cx="3358393" cy="685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C46B"/>
              </a:buClr>
              <a:buSzPts val="2000"/>
              <a:buFont typeface="Inter"/>
              <a:buNone/>
            </a:pPr>
            <a:r>
              <a:rPr b="1" i="0" lang="en-US" sz="2000" u="none" cap="none" strike="noStrike">
                <a:solidFill>
                  <a:srgbClr val="FFC46B"/>
                </a:solidFill>
                <a:latin typeface="Inter"/>
                <a:ea typeface="Inter"/>
                <a:cs typeface="Inter"/>
                <a:sym typeface="Inter"/>
              </a:rPr>
              <a:t>More weekday alcohol, lower grades: 12.5 down to 10.2.</a:t>
            </a:r>
            <a:endParaRPr b="0" i="0" sz="2000" u="none" cap="none" strike="noStrike">
              <a:solidFill>
                <a:schemeClr val="dk1"/>
              </a:solidFill>
              <a:latin typeface="Calibri"/>
              <a:ea typeface="Calibri"/>
              <a:cs typeface="Calibri"/>
              <a:sym typeface="Calibri"/>
            </a:endParaRPr>
          </a:p>
        </p:txBody>
      </p:sp>
      <p:sp>
        <p:nvSpPr>
          <p:cNvPr id="147" name="Google Shape;147;p10"/>
          <p:cNvSpPr/>
          <p:nvPr/>
        </p:nvSpPr>
        <p:spPr>
          <a:xfrm>
            <a:off x="7839174" y="4013150"/>
            <a:ext cx="3358393"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4EE"/>
              </a:buClr>
              <a:buSzPts val="1400"/>
              <a:buFont typeface="Inter"/>
              <a:buNone/>
            </a:pPr>
            <a:r>
              <a:rPr b="0" i="0" lang="en-US" sz="1400" u="none" cap="none" strike="noStrike">
                <a:solidFill>
                  <a:srgbClr val="C9D4EE"/>
                </a:solidFill>
                <a:latin typeface="Inter"/>
                <a:ea typeface="Inter"/>
                <a:cs typeface="Inter"/>
                <a:sym typeface="Inter"/>
              </a:rPr>
              <a:t>Links to Question 2. This shows association only.</a:t>
            </a:r>
            <a:endParaRPr b="0" i="0" sz="1400" u="none" cap="none" strike="noStrike">
              <a:solidFill>
                <a:schemeClr val="dk1"/>
              </a:solidFill>
              <a:latin typeface="Calibri"/>
              <a:ea typeface="Calibri"/>
              <a:cs typeface="Calibri"/>
              <a:sym typeface="Calibri"/>
            </a:endParaRPr>
          </a:p>
        </p:txBody>
      </p:sp>
      <p:sp>
        <p:nvSpPr>
          <p:cNvPr id="148" name="Google Shape;148;p10"/>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pic>
        <p:nvPicPr>
          <p:cNvPr id="900" name="Chart 8" descr="Chart"/>
          <p:cNvPicPr>
            <a:picLocks noChangeAspect="1"/>
          </p:cNvPicPr>
          <p:nvPr/>
        </p:nvPicPr>
        <p:blipFill>
          <a:blip r:embed="rId90"/>
          <a:stretch>
            <a:fillRect/>
          </a:stretch>
        </p:blipFill>
        <p:spPr>
          <a:xfrm>
            <a:off x="822325" y="1937345"/>
            <a:ext cx="6473924" cy="3536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53" name="Shape 153"/>
        <p:cNvGrpSpPr/>
        <p:nvPr/>
      </p:nvGrpSpPr>
      <p:grpSpPr>
        <a:xfrm>
          <a:off x="0" y="0"/>
          <a:ext cx="0" cy="0"/>
          <a:chOff x="0" y="0"/>
          <a:chExt cx="0" cy="0"/>
        </a:xfrm>
      </p:grpSpPr>
      <p:sp>
        <p:nvSpPr>
          <p:cNvPr id="154" name="Google Shape;154;p11"/>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MODEL</a:t>
            </a:r>
            <a:endParaRPr b="0" i="0" sz="1300" u="none" cap="none" strike="noStrike">
              <a:solidFill>
                <a:schemeClr val="dk1"/>
              </a:solidFill>
              <a:latin typeface="Calibri"/>
              <a:ea typeface="Calibri"/>
              <a:cs typeface="Calibri"/>
              <a:sym typeface="Calibri"/>
            </a:endParaRPr>
          </a:p>
        </p:txBody>
      </p:sp>
      <p:sp>
        <p:nvSpPr>
          <p:cNvPr id="155" name="Google Shape;155;p11"/>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The model</a:t>
            </a:r>
            <a:endParaRPr b="0" i="0" sz="3600" u="none" cap="none" strike="noStrike">
              <a:solidFill>
                <a:schemeClr val="dk1"/>
              </a:solidFill>
              <a:latin typeface="Calibri"/>
              <a:ea typeface="Calibri"/>
              <a:cs typeface="Calibri"/>
              <a:sym typeface="Calibri"/>
            </a:endParaRPr>
          </a:p>
        </p:txBody>
      </p:sp>
      <p:sp>
        <p:nvSpPr>
          <p:cNvPr id="156" name="Google Shape;156;p11"/>
          <p:cNvSpPr/>
          <p:nvPr/>
        </p:nvSpPr>
        <p:spPr>
          <a:xfrm>
            <a:off x="819150" y="1934170"/>
            <a:ext cx="3001417" cy="1488331"/>
          </a:xfrm>
          <a:prstGeom prst="roundRect">
            <a:avLst>
              <a:gd fmla="val 8106"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a:off x="1028700" y="2143720"/>
            <a:ext cx="2659786"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What goes in</a:t>
            </a:r>
            <a:endParaRPr b="0" i="0" sz="1700" u="none" cap="none" strike="noStrike">
              <a:solidFill>
                <a:schemeClr val="dk1"/>
              </a:solidFill>
              <a:latin typeface="Calibri"/>
              <a:ea typeface="Calibri"/>
              <a:cs typeface="Calibri"/>
              <a:sym typeface="Calibri"/>
            </a:endParaRPr>
          </a:p>
        </p:txBody>
      </p:sp>
      <p:sp>
        <p:nvSpPr>
          <p:cNvPr id="158" name="Google Shape;158;p11"/>
          <p:cNvSpPr/>
          <p:nvPr/>
        </p:nvSpPr>
        <p:spPr>
          <a:xfrm>
            <a:off x="1028700" y="2466280"/>
            <a:ext cx="2659786"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Study time, past failures, absences, family and lifestyle answers</a:t>
            </a:r>
            <a:endParaRPr b="0" i="0" sz="1400" u="none" cap="none" strike="noStrike">
              <a:solidFill>
                <a:schemeClr val="dk1"/>
              </a:solidFill>
              <a:latin typeface="Calibri"/>
              <a:ea typeface="Calibri"/>
              <a:cs typeface="Calibri"/>
              <a:sym typeface="Calibri"/>
            </a:endParaRPr>
          </a:p>
        </p:txBody>
      </p:sp>
      <p:pic>
        <p:nvPicPr>
          <p:cNvPr descr="arrow-right" id="159" name="Google Shape;159;p11"/>
          <p:cNvPicPr preferRelativeResize="0"/>
          <p:nvPr/>
        </p:nvPicPr>
        <p:blipFill rotWithShape="1">
          <a:blip r:embed="rId3">
            <a:alphaModFix/>
          </a:blip>
          <a:srcRect b="0" l="0" r="0" t="0"/>
          <a:stretch/>
        </p:blipFill>
        <p:spPr>
          <a:xfrm>
            <a:off x="3979317" y="2538611"/>
            <a:ext cx="457200" cy="279400"/>
          </a:xfrm>
          <a:prstGeom prst="rect">
            <a:avLst/>
          </a:prstGeom>
          <a:noFill/>
          <a:ln>
            <a:noFill/>
          </a:ln>
        </p:spPr>
      </p:pic>
      <p:sp>
        <p:nvSpPr>
          <p:cNvPr id="160" name="Google Shape;160;p11"/>
          <p:cNvSpPr/>
          <p:nvPr/>
        </p:nvSpPr>
        <p:spPr>
          <a:xfrm>
            <a:off x="4595267" y="1934170"/>
            <a:ext cx="3001466" cy="1488331"/>
          </a:xfrm>
          <a:prstGeom prst="roundRect">
            <a:avLst>
              <a:gd fmla="val 8106"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4804817" y="2143720"/>
            <a:ext cx="2659837"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The model</a:t>
            </a:r>
            <a:endParaRPr b="0" i="0" sz="1700" u="none" cap="none" strike="noStrike">
              <a:solidFill>
                <a:schemeClr val="dk1"/>
              </a:solidFill>
              <a:latin typeface="Calibri"/>
              <a:ea typeface="Calibri"/>
              <a:cs typeface="Calibri"/>
              <a:sym typeface="Calibri"/>
            </a:endParaRPr>
          </a:p>
        </p:txBody>
      </p:sp>
      <p:sp>
        <p:nvSpPr>
          <p:cNvPr id="162" name="Google Shape;162;p11"/>
          <p:cNvSpPr/>
          <p:nvPr/>
        </p:nvSpPr>
        <p:spPr>
          <a:xfrm>
            <a:off x="4804817" y="2466280"/>
            <a:ext cx="2659837"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Linear regression compares students who are alike in everything else</a:t>
            </a:r>
            <a:endParaRPr b="0" i="0" sz="1400" u="none" cap="none" strike="noStrike">
              <a:solidFill>
                <a:schemeClr val="dk1"/>
              </a:solidFill>
              <a:latin typeface="Calibri"/>
              <a:ea typeface="Calibri"/>
              <a:cs typeface="Calibri"/>
              <a:sym typeface="Calibri"/>
            </a:endParaRPr>
          </a:p>
        </p:txBody>
      </p:sp>
      <p:pic>
        <p:nvPicPr>
          <p:cNvPr descr="arrow-right" id="163" name="Google Shape;163;p11"/>
          <p:cNvPicPr preferRelativeResize="0"/>
          <p:nvPr/>
        </p:nvPicPr>
        <p:blipFill rotWithShape="1">
          <a:blip r:embed="rId3">
            <a:alphaModFix/>
          </a:blip>
          <a:srcRect b="0" l="0" r="0" t="0"/>
          <a:stretch/>
        </p:blipFill>
        <p:spPr>
          <a:xfrm>
            <a:off x="7755483" y="2538611"/>
            <a:ext cx="457200" cy="279400"/>
          </a:xfrm>
          <a:prstGeom prst="rect">
            <a:avLst/>
          </a:prstGeom>
          <a:noFill/>
          <a:ln>
            <a:noFill/>
          </a:ln>
        </p:spPr>
      </p:pic>
      <p:sp>
        <p:nvSpPr>
          <p:cNvPr id="164" name="Google Shape;164;p11"/>
          <p:cNvSpPr/>
          <p:nvPr/>
        </p:nvSpPr>
        <p:spPr>
          <a:xfrm>
            <a:off x="8371433" y="2058591"/>
            <a:ext cx="3001417" cy="1239441"/>
          </a:xfrm>
          <a:prstGeom prst="roundRect">
            <a:avLst>
              <a:gd fmla="val 9734"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a:off x="8580983" y="2268141"/>
            <a:ext cx="2659786"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B1F4B"/>
              </a:buClr>
              <a:buSzPts val="1700"/>
              <a:buFont typeface="Inter"/>
              <a:buNone/>
            </a:pPr>
            <a:r>
              <a:rPr b="1" i="0" lang="en-US" sz="1700" u="none" cap="none" strike="noStrike">
                <a:solidFill>
                  <a:srgbClr val="0B1F4B"/>
                </a:solidFill>
                <a:latin typeface="Inter"/>
                <a:ea typeface="Inter"/>
                <a:cs typeface="Inter"/>
                <a:sym typeface="Inter"/>
              </a:rPr>
              <a:t>What comes out</a:t>
            </a:r>
            <a:endParaRPr b="0" i="0" sz="1700" u="none" cap="none" strike="noStrike">
              <a:solidFill>
                <a:schemeClr val="dk1"/>
              </a:solidFill>
              <a:latin typeface="Calibri"/>
              <a:ea typeface="Calibri"/>
              <a:cs typeface="Calibri"/>
              <a:sym typeface="Calibri"/>
            </a:endParaRPr>
          </a:p>
        </p:txBody>
      </p:sp>
      <p:sp>
        <p:nvSpPr>
          <p:cNvPr id="166" name="Google Shape;166;p11"/>
          <p:cNvSpPr/>
          <p:nvPr/>
        </p:nvSpPr>
        <p:spPr>
          <a:xfrm>
            <a:off x="8580983" y="2590701"/>
            <a:ext cx="265978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How many grade points each factor goes with</a:t>
            </a:r>
            <a:endParaRPr b="0" i="0" sz="1400" u="none" cap="none" strike="noStrike">
              <a:solidFill>
                <a:schemeClr val="dk1"/>
              </a:solidFill>
              <a:latin typeface="Calibri"/>
              <a:ea typeface="Calibri"/>
              <a:cs typeface="Calibri"/>
              <a:sym typeface="Calibri"/>
            </a:endParaRPr>
          </a:p>
        </p:txBody>
      </p:sp>
      <p:sp>
        <p:nvSpPr>
          <p:cNvPr id="167" name="Google Shape;167;p11"/>
          <p:cNvSpPr/>
          <p:nvPr/>
        </p:nvSpPr>
        <p:spPr>
          <a:xfrm>
            <a:off x="812800" y="3733651"/>
            <a:ext cx="5181600" cy="1389360"/>
          </a:xfrm>
          <a:prstGeom prst="roundRect">
            <a:avLst>
              <a:gd fmla="val 9141" name="adj"/>
            </a:avLst>
          </a:prstGeom>
          <a:solidFill>
            <a:srgbClr val="EA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1016000" y="3936851"/>
            <a:ext cx="491845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300"/>
              <a:buFont typeface="Inter"/>
              <a:buNone/>
            </a:pPr>
            <a:r>
              <a:rPr b="1" i="0" lang="en-US" sz="1300" u="none" cap="none" strike="noStrike">
                <a:solidFill>
                  <a:srgbClr val="54607A"/>
                </a:solidFill>
                <a:latin typeface="Inter"/>
                <a:ea typeface="Inter"/>
                <a:cs typeface="Inter"/>
                <a:sym typeface="Inter"/>
              </a:rPr>
              <a:t>HOW WELL DOES IT FIT?</a:t>
            </a:r>
            <a:endParaRPr b="0" i="0" sz="1300" u="none" cap="none" strike="noStrike">
              <a:solidFill>
                <a:schemeClr val="dk1"/>
              </a:solidFill>
              <a:latin typeface="Calibri"/>
              <a:ea typeface="Calibri"/>
              <a:cs typeface="Calibri"/>
              <a:sym typeface="Calibri"/>
            </a:endParaRPr>
          </a:p>
        </p:txBody>
      </p:sp>
      <p:sp>
        <p:nvSpPr>
          <p:cNvPr id="169" name="Google Shape;169;p11"/>
          <p:cNvSpPr/>
          <p:nvPr/>
        </p:nvSpPr>
        <p:spPr>
          <a:xfrm>
            <a:off x="1016000" y="4218781"/>
            <a:ext cx="4918456"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5309"/>
              </a:buClr>
              <a:buSzPts val="3000"/>
              <a:buFont typeface="Inter"/>
              <a:buNone/>
            </a:pPr>
            <a:r>
              <a:rPr b="1" i="0" lang="en-US" sz="3000" u="none" cap="none" strike="noStrike">
                <a:solidFill>
                  <a:srgbClr val="0B1F4B"/>
                </a:solidFill>
                <a:latin typeface="Inter"/>
                <a:ea typeface="Inter"/>
                <a:cs typeface="Inter"/>
                <a:sym typeface="Inter"/>
              </a:rPr>
              <a:t>R² = 0.36</a:t>
            </a:r>
            <a:endParaRPr b="0" i="0" sz="3000" u="none" cap="none" strike="noStrike">
              <a:solidFill>
                <a:schemeClr val="dk1"/>
              </a:solidFill>
              <a:latin typeface="Calibri"/>
              <a:ea typeface="Calibri"/>
              <a:cs typeface="Calibri"/>
              <a:sym typeface="Calibri"/>
            </a:endParaRPr>
          </a:p>
        </p:txBody>
      </p:sp>
      <p:sp>
        <p:nvSpPr>
          <p:cNvPr id="170" name="Google Shape;170;p11"/>
          <p:cNvSpPr/>
          <p:nvPr/>
        </p:nvSpPr>
        <p:spPr>
          <a:xfrm>
            <a:off x="1016000" y="4688681"/>
            <a:ext cx="491845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300"/>
              <a:buFont typeface="Inter"/>
              <a:buNone/>
            </a:pPr>
            <a:r>
              <a:rPr b="0" i="0" lang="en-US" sz="1300" u="none" cap="none" strike="noStrike">
                <a:solidFill>
                  <a:srgbClr val="54607A"/>
                </a:solidFill>
                <a:latin typeface="Inter"/>
                <a:ea typeface="Inter"/>
                <a:cs typeface="Inter"/>
                <a:sym typeface="Inter"/>
              </a:rPr>
              <a:t>the share of differences in grades the model explains</a:t>
            </a:r>
            <a:endParaRPr b="0" i="0" sz="1300" u="none" cap="none" strike="noStrike">
              <a:solidFill>
                <a:schemeClr val="dk1"/>
              </a:solidFill>
              <a:latin typeface="Calibri"/>
              <a:ea typeface="Calibri"/>
              <a:cs typeface="Calibri"/>
              <a:sym typeface="Calibri"/>
            </a:endParaRPr>
          </a:p>
        </p:txBody>
      </p:sp>
      <p:sp>
        <p:nvSpPr>
          <p:cNvPr id="171" name="Google Shape;171;p11"/>
          <p:cNvSpPr/>
          <p:nvPr/>
        </p:nvSpPr>
        <p:spPr>
          <a:xfrm>
            <a:off x="6197600" y="3733651"/>
            <a:ext cx="5181600" cy="1389360"/>
          </a:xfrm>
          <a:prstGeom prst="roundRect">
            <a:avLst>
              <a:gd fmla="val 9141" name="adj"/>
            </a:avLst>
          </a:prstGeom>
          <a:solidFill>
            <a:srgbClr val="EA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6400800" y="3936851"/>
            <a:ext cx="491845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300"/>
              <a:buFont typeface="Inter"/>
              <a:buNone/>
            </a:pPr>
            <a:r>
              <a:rPr b="1" i="0" lang="en-US" sz="1300" u="none" cap="none" strike="noStrike">
                <a:solidFill>
                  <a:srgbClr val="54607A"/>
                </a:solidFill>
                <a:latin typeface="Inter"/>
                <a:ea typeface="Inter"/>
                <a:cs typeface="Inter"/>
                <a:sym typeface="Inter"/>
              </a:rPr>
              <a:t>ASSUMPTIONS WE CHECKED</a:t>
            </a:r>
            <a:endParaRPr b="0" i="0" sz="1300" u="none" cap="none" strike="noStrike">
              <a:solidFill>
                <a:schemeClr val="dk1"/>
              </a:solidFill>
              <a:latin typeface="Calibri"/>
              <a:ea typeface="Calibri"/>
              <a:cs typeface="Calibri"/>
              <a:sym typeface="Calibri"/>
            </a:endParaRPr>
          </a:p>
        </p:txBody>
      </p:sp>
      <p:sp>
        <p:nvSpPr>
          <p:cNvPr id="173" name="Google Shape;173;p11"/>
          <p:cNvSpPr/>
          <p:nvPr/>
        </p:nvSpPr>
        <p:spPr>
          <a:xfrm>
            <a:off x="6400800" y="4218781"/>
            <a:ext cx="4918456"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0" i="0" lang="en-US" sz="1500" u="none" cap="none" strike="noStrike">
                <a:solidFill>
                  <a:srgbClr val="0B1F4B"/>
                </a:solidFill>
                <a:latin typeface="Inter"/>
                <a:ea typeface="Inter"/>
                <a:cs typeface="Inter"/>
                <a:sym typeface="Inter"/>
              </a:rPr>
              <a:t>Residuals near normal, no outlier drives results, little overlap (VIF ≤ 1.2); used robust errors</a:t>
            </a:r>
            <a:endParaRPr b="0" i="0" sz="1500" u="none" cap="none" strike="noStrike">
              <a:solidFill>
                <a:schemeClr val="dk1"/>
              </a:solidFill>
              <a:latin typeface="Calibri"/>
              <a:ea typeface="Calibri"/>
              <a:cs typeface="Calibri"/>
              <a:sym typeface="Calibri"/>
            </a:endParaRPr>
          </a:p>
        </p:txBody>
      </p:sp>
      <p:sp>
        <p:nvSpPr>
          <p:cNvPr id="174" name="Google Shape;174;p11"/>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79" name="Shape 179"/>
        <p:cNvGrpSpPr/>
        <p:nvPr/>
      </p:nvGrpSpPr>
      <p:grpSpPr>
        <a:xfrm>
          <a:off x="0" y="0"/>
          <a:ext cx="0" cy="0"/>
          <a:chOff x="0" y="0"/>
          <a:chExt cx="0" cy="0"/>
        </a:xfrm>
      </p:grpSpPr>
      <p:sp>
        <p:nvSpPr>
          <p:cNvPr id="180" name="Google Shape;180;p12"/>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MODEL</a:t>
            </a:r>
            <a:endParaRPr b="0" i="0" sz="1300" u="none" cap="none" strike="noStrike">
              <a:solidFill>
                <a:schemeClr val="dk1"/>
              </a:solidFill>
              <a:latin typeface="Calibri"/>
              <a:ea typeface="Calibri"/>
              <a:cs typeface="Calibri"/>
              <a:sym typeface="Calibri"/>
            </a:endParaRPr>
          </a:p>
        </p:txBody>
      </p:sp>
      <p:sp>
        <p:nvSpPr>
          <p:cNvPr id="181" name="Google Shape;181;p12"/>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What we found</a:t>
            </a:r>
            <a:endParaRPr b="0" i="0" sz="3600" u="none" cap="none" strike="noStrike">
              <a:solidFill>
                <a:schemeClr val="dk1"/>
              </a:solidFill>
              <a:latin typeface="Calibri"/>
              <a:ea typeface="Calibri"/>
              <a:cs typeface="Calibri"/>
              <a:sym typeface="Calibri"/>
            </a:endParaRPr>
          </a:p>
        </p:txBody>
      </p:sp>
      <p:sp>
        <p:nvSpPr>
          <p:cNvPr id="182" name="Google Shape;182;p12"/>
          <p:cNvSpPr/>
          <p:nvPr/>
        </p:nvSpPr>
        <p:spPr>
          <a:xfrm>
            <a:off x="819150" y="1934170"/>
            <a:ext cx="3373934" cy="1739801"/>
          </a:xfrm>
          <a:prstGeom prst="roundRect">
            <a:avLst>
              <a:gd fmla="val 6935"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
          <p:cNvSpPr/>
          <p:nvPr/>
        </p:nvSpPr>
        <p:spPr>
          <a:xfrm>
            <a:off x="1054100" y="2169120"/>
            <a:ext cx="2991155"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FINDING 1</a:t>
            </a:r>
            <a:endParaRPr b="0" i="0" sz="1300" u="none" cap="none" strike="noStrike">
              <a:solidFill>
                <a:schemeClr val="dk1"/>
              </a:solidFill>
              <a:latin typeface="Calibri"/>
              <a:ea typeface="Calibri"/>
              <a:cs typeface="Calibri"/>
              <a:sym typeface="Calibri"/>
            </a:endParaRPr>
          </a:p>
        </p:txBody>
      </p:sp>
      <p:sp>
        <p:nvSpPr>
          <p:cNvPr id="184" name="Google Shape;184;p12"/>
          <p:cNvSpPr/>
          <p:nvPr/>
        </p:nvSpPr>
        <p:spPr>
          <a:xfrm>
            <a:off x="1054100" y="2489150"/>
            <a:ext cx="2991155" cy="3885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5309"/>
              </a:buClr>
              <a:buSzPts val="2600"/>
              <a:buFont typeface="Inter"/>
              <a:buNone/>
            </a:pPr>
            <a:r>
              <a:rPr b="1" i="0" lang="en-US" sz="2600" u="none" cap="none" strike="noStrike">
                <a:solidFill>
                  <a:srgbClr val="0B1F4B"/>
                </a:solidFill>
                <a:latin typeface="Inter"/>
                <a:ea typeface="Inter"/>
                <a:cs typeface="Inter"/>
                <a:sym typeface="Inter"/>
              </a:rPr>
              <a:t>Past failures</a:t>
            </a:r>
            <a:endParaRPr b="0" i="0" sz="2600" u="none" cap="none" strike="noStrike">
              <a:solidFill>
                <a:schemeClr val="dk1"/>
              </a:solidFill>
              <a:latin typeface="Calibri"/>
              <a:ea typeface="Calibri"/>
              <a:cs typeface="Calibri"/>
              <a:sym typeface="Calibri"/>
            </a:endParaRPr>
          </a:p>
        </p:txBody>
      </p:sp>
      <p:sp>
        <p:nvSpPr>
          <p:cNvPr id="185" name="Google Shape;185;p12"/>
          <p:cNvSpPr/>
          <p:nvPr/>
        </p:nvSpPr>
        <p:spPr>
          <a:xfrm>
            <a:off x="1054100" y="2941241"/>
            <a:ext cx="2991155"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−1.3 points for each past failure (study time: +0.3 per level)</a:t>
            </a:r>
            <a:endParaRPr b="0" i="0" sz="1400" u="none" cap="none" strike="noStrike">
              <a:solidFill>
                <a:schemeClr val="dk1"/>
              </a:solidFill>
              <a:latin typeface="Calibri"/>
              <a:ea typeface="Calibri"/>
              <a:cs typeface="Calibri"/>
              <a:sym typeface="Calibri"/>
            </a:endParaRPr>
          </a:p>
        </p:txBody>
      </p:sp>
      <p:sp>
        <p:nvSpPr>
          <p:cNvPr id="186" name="Google Shape;186;p12"/>
          <p:cNvSpPr/>
          <p:nvPr/>
        </p:nvSpPr>
        <p:spPr>
          <a:xfrm>
            <a:off x="4408984" y="1934170"/>
            <a:ext cx="3373983" cy="1739801"/>
          </a:xfrm>
          <a:prstGeom prst="roundRect">
            <a:avLst>
              <a:gd fmla="val 6935"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
          <p:cNvSpPr/>
          <p:nvPr/>
        </p:nvSpPr>
        <p:spPr>
          <a:xfrm>
            <a:off x="4643934" y="2169120"/>
            <a:ext cx="299120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FINDING 2</a:t>
            </a:r>
            <a:endParaRPr b="0" i="0" sz="1300" u="none" cap="none" strike="noStrike">
              <a:solidFill>
                <a:schemeClr val="dk1"/>
              </a:solidFill>
              <a:latin typeface="Calibri"/>
              <a:ea typeface="Calibri"/>
              <a:cs typeface="Calibri"/>
              <a:sym typeface="Calibri"/>
            </a:endParaRPr>
          </a:p>
        </p:txBody>
      </p:sp>
      <p:sp>
        <p:nvSpPr>
          <p:cNvPr id="188" name="Google Shape;188;p12"/>
          <p:cNvSpPr/>
          <p:nvPr/>
        </p:nvSpPr>
        <p:spPr>
          <a:xfrm>
            <a:off x="4643934" y="2489150"/>
            <a:ext cx="2991206" cy="3885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5309"/>
              </a:buClr>
              <a:buSzPts val="2600"/>
              <a:buFont typeface="Inter"/>
              <a:buNone/>
            </a:pPr>
            <a:r>
              <a:rPr b="1" i="0" lang="en-US" sz="2600" u="none" cap="none" strike="noStrike">
                <a:solidFill>
                  <a:srgbClr val="0B1F4B"/>
                </a:solidFill>
                <a:latin typeface="Inter"/>
                <a:ea typeface="Inter"/>
                <a:cs typeface="Inter"/>
                <a:sym typeface="Inter"/>
              </a:rPr>
              <a:t>Lifestyle</a:t>
            </a:r>
            <a:endParaRPr b="0" i="0" sz="2600" u="none" cap="none" strike="noStrike">
              <a:solidFill>
                <a:schemeClr val="dk1"/>
              </a:solidFill>
              <a:latin typeface="Calibri"/>
              <a:ea typeface="Calibri"/>
              <a:cs typeface="Calibri"/>
              <a:sym typeface="Calibri"/>
            </a:endParaRPr>
          </a:p>
        </p:txBody>
      </p:sp>
      <p:sp>
        <p:nvSpPr>
          <p:cNvPr id="189" name="Google Shape;189;p12"/>
          <p:cNvSpPr/>
          <p:nvPr/>
        </p:nvSpPr>
        <p:spPr>
          <a:xfrm>
            <a:off x="4643934" y="2941241"/>
            <a:ext cx="299120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−0.2 per level of alcohol or going out, after study time</a:t>
            </a:r>
            <a:endParaRPr b="0" i="0" sz="1400" u="none" cap="none" strike="noStrike">
              <a:solidFill>
                <a:schemeClr val="dk1"/>
              </a:solidFill>
              <a:latin typeface="Calibri"/>
              <a:ea typeface="Calibri"/>
              <a:cs typeface="Calibri"/>
              <a:sym typeface="Calibri"/>
            </a:endParaRPr>
          </a:p>
        </p:txBody>
      </p:sp>
      <p:sp>
        <p:nvSpPr>
          <p:cNvPr id="190" name="Google Shape;190;p12"/>
          <p:cNvSpPr/>
          <p:nvPr/>
        </p:nvSpPr>
        <p:spPr>
          <a:xfrm>
            <a:off x="7998867" y="1934170"/>
            <a:ext cx="3373983" cy="1739801"/>
          </a:xfrm>
          <a:prstGeom prst="roundRect">
            <a:avLst>
              <a:gd fmla="val 6935"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
          <p:cNvSpPr/>
          <p:nvPr/>
        </p:nvSpPr>
        <p:spPr>
          <a:xfrm>
            <a:off x="8233817" y="2169120"/>
            <a:ext cx="299120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FINDING 3</a:t>
            </a:r>
            <a:endParaRPr b="0" i="0" sz="1300" u="none" cap="none" strike="noStrike">
              <a:solidFill>
                <a:schemeClr val="dk1"/>
              </a:solidFill>
              <a:latin typeface="Calibri"/>
              <a:ea typeface="Calibri"/>
              <a:cs typeface="Calibri"/>
              <a:sym typeface="Calibri"/>
            </a:endParaRPr>
          </a:p>
        </p:txBody>
      </p:sp>
      <p:sp>
        <p:nvSpPr>
          <p:cNvPr id="192" name="Google Shape;192;p12"/>
          <p:cNvSpPr/>
          <p:nvPr/>
        </p:nvSpPr>
        <p:spPr>
          <a:xfrm>
            <a:off x="8233817" y="2489150"/>
            <a:ext cx="2991206" cy="3885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5309"/>
              </a:buClr>
              <a:buSzPts val="2600"/>
              <a:buFont typeface="Inter"/>
              <a:buNone/>
            </a:pPr>
            <a:r>
              <a:rPr b="1" i="0" lang="en-US" sz="2600" u="none" cap="none" strike="noStrike">
                <a:solidFill>
                  <a:srgbClr val="0B1F4B"/>
                </a:solidFill>
                <a:latin typeface="Inter"/>
                <a:ea typeface="Inter"/>
                <a:cs typeface="Inter"/>
                <a:sym typeface="Inter"/>
              </a:rPr>
              <a:t>Support</a:t>
            </a:r>
            <a:endParaRPr b="0" i="0" sz="2600" u="none" cap="none" strike="noStrike">
              <a:solidFill>
                <a:schemeClr val="dk1"/>
              </a:solidFill>
              <a:latin typeface="Calibri"/>
              <a:ea typeface="Calibri"/>
              <a:cs typeface="Calibri"/>
              <a:sym typeface="Calibri"/>
            </a:endParaRPr>
          </a:p>
        </p:txBody>
      </p:sp>
      <p:sp>
        <p:nvSpPr>
          <p:cNvPr id="193" name="Google Shape;193;p12"/>
          <p:cNvSpPr/>
          <p:nvPr/>
        </p:nvSpPr>
        <p:spPr>
          <a:xfrm>
            <a:off x="8233817" y="2941241"/>
            <a:ext cx="2991206"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5309"/>
              </a:buClr>
              <a:buSzPts val="1400"/>
              <a:buFont typeface="Inter"/>
              <a:buNone/>
            </a:pPr>
            <a:r>
              <a:rPr b="0" i="0" lang="en-US" sz="1400" u="none" cap="none" strike="noStrike">
                <a:solidFill>
                  <a:srgbClr val="0B1F4B"/>
                </a:solidFill>
                <a:latin typeface="Inter"/>
                <a:ea typeface="Inter"/>
                <a:cs typeface="Inter"/>
                <a:sym typeface="Inter"/>
              </a:rPr>
              <a:t>School support −1.1 (flags strugglers); family: no link</a:t>
            </a:r>
            <a:endParaRPr b="0" i="0" sz="1400" u="none" cap="none" strike="noStrike">
              <a:solidFill>
                <a:schemeClr val="dk1"/>
              </a:solidFill>
              <a:latin typeface="Calibri"/>
              <a:ea typeface="Calibri"/>
              <a:cs typeface="Calibri"/>
              <a:sym typeface="Calibri"/>
            </a:endParaRPr>
          </a:p>
        </p:txBody>
      </p:sp>
      <p:sp>
        <p:nvSpPr>
          <p:cNvPr id="194" name="Google Shape;194;p12"/>
          <p:cNvSpPr/>
          <p:nvPr/>
        </p:nvSpPr>
        <p:spPr>
          <a:xfrm>
            <a:off x="812800" y="3985121"/>
            <a:ext cx="10566400" cy="502890"/>
          </a:xfrm>
          <a:prstGeom prst="roundRect">
            <a:avLst>
              <a:gd fmla="val 20203" name="adj"/>
            </a:avLst>
          </a:prstGeom>
          <a:solidFill>
            <a:srgbClr val="FFF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
          <p:cNvSpPr/>
          <p:nvPr/>
        </p:nvSpPr>
        <p:spPr>
          <a:xfrm>
            <a:off x="1016000" y="4112121"/>
            <a:ext cx="1046480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A3E00"/>
              </a:buClr>
              <a:buSzPts val="1400"/>
              <a:buFont typeface="Inter"/>
              <a:buNone/>
            </a:pPr>
            <a:r>
              <a:rPr b="1" i="0" lang="en-US" sz="1400" u="none" cap="none" strike="noStrike">
                <a:solidFill>
                  <a:srgbClr val="7A3E00"/>
                </a:solidFill>
                <a:latin typeface="Inter"/>
                <a:ea typeface="Inter"/>
                <a:cs typeface="Inter"/>
                <a:sym typeface="Inter"/>
              </a:rPr>
              <a:t>Association, not cause: these factors go along with grades, but we cannot say they cause them.</a:t>
            </a:r>
            <a:endParaRPr b="0" i="0" sz="1400" u="none" cap="none" strike="noStrike">
              <a:solidFill>
                <a:schemeClr val="dk1"/>
              </a:solidFill>
              <a:latin typeface="Calibri"/>
              <a:ea typeface="Calibri"/>
              <a:cs typeface="Calibri"/>
              <a:sym typeface="Calibri"/>
            </a:endParaRPr>
          </a:p>
        </p:txBody>
      </p:sp>
      <p:sp>
        <p:nvSpPr>
          <p:cNvPr id="196" name="Google Shape;196;p12"/>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01" name="Shape 201"/>
        <p:cNvGrpSpPr/>
        <p:nvPr/>
      </p:nvGrpSpPr>
      <p:grpSpPr>
        <a:xfrm>
          <a:off x="0" y="0"/>
          <a:ext cx="0" cy="0"/>
          <a:chOff x="0" y="0"/>
          <a:chExt cx="0" cy="0"/>
        </a:xfrm>
      </p:grpSpPr>
      <p:sp>
        <p:nvSpPr>
          <p:cNvPr id="202" name="Google Shape;202;p13"/>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MEANING</a:t>
            </a:r>
            <a:endParaRPr b="0" i="0" sz="1300" u="none" cap="none" strike="noStrike">
              <a:solidFill>
                <a:schemeClr val="dk1"/>
              </a:solidFill>
              <a:latin typeface="Calibri"/>
              <a:ea typeface="Calibri"/>
              <a:cs typeface="Calibri"/>
              <a:sym typeface="Calibri"/>
            </a:endParaRPr>
          </a:p>
        </p:txBody>
      </p:sp>
      <p:sp>
        <p:nvSpPr>
          <p:cNvPr id="203" name="Google Shape;203;p13"/>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What this means for a school leader</a:t>
            </a:r>
            <a:endParaRPr b="0" i="0" sz="3600" u="none" cap="none" strike="noStrike">
              <a:solidFill>
                <a:schemeClr val="dk1"/>
              </a:solidFill>
              <a:latin typeface="Calibri"/>
              <a:ea typeface="Calibri"/>
              <a:cs typeface="Calibri"/>
              <a:sym typeface="Calibri"/>
            </a:endParaRPr>
          </a:p>
        </p:txBody>
      </p:sp>
      <p:sp>
        <p:nvSpPr>
          <p:cNvPr id="204" name="Google Shape;204;p13"/>
          <p:cNvSpPr/>
          <p:nvPr/>
        </p:nvSpPr>
        <p:spPr>
          <a:xfrm>
            <a:off x="819150" y="1934170"/>
            <a:ext cx="10553700" cy="882650"/>
          </a:xfrm>
          <a:prstGeom prst="roundRect">
            <a:avLst>
              <a:gd fmla="val 13669"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3"/>
          <p:cNvSpPr/>
          <p:nvPr/>
        </p:nvSpPr>
        <p:spPr>
          <a:xfrm>
            <a:off x="1054100" y="2118320"/>
            <a:ext cx="4774565"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0" i="0" lang="en-US" sz="1500" u="none" cap="none" strike="noStrike">
                <a:solidFill>
                  <a:srgbClr val="0B1F4B"/>
                </a:solidFill>
                <a:latin typeface="Inter"/>
                <a:ea typeface="Inter"/>
                <a:cs typeface="Inter"/>
                <a:sym typeface="Inter"/>
              </a:rPr>
              <a:t>Each past failure: about 1.3 points lower</a:t>
            </a:r>
            <a:endParaRPr b="0" i="0" sz="1500" u="none" cap="none" strike="noStrike">
              <a:solidFill>
                <a:schemeClr val="dk1"/>
              </a:solidFill>
              <a:latin typeface="Calibri"/>
              <a:ea typeface="Calibri"/>
              <a:cs typeface="Calibri"/>
              <a:sym typeface="Calibri"/>
            </a:endParaRPr>
          </a:p>
        </p:txBody>
      </p:sp>
      <p:pic>
        <p:nvPicPr>
          <p:cNvPr descr="arrow-right" id="206" name="Google Shape;206;p13"/>
          <p:cNvPicPr preferRelativeResize="0"/>
          <p:nvPr/>
        </p:nvPicPr>
        <p:blipFill rotWithShape="1">
          <a:blip r:embed="rId3">
            <a:alphaModFix/>
          </a:blip>
          <a:srcRect b="0" l="0" r="0" t="0"/>
          <a:stretch/>
        </p:blipFill>
        <p:spPr>
          <a:xfrm>
            <a:off x="5867400" y="2235795"/>
            <a:ext cx="457200" cy="279400"/>
          </a:xfrm>
          <a:prstGeom prst="rect">
            <a:avLst/>
          </a:prstGeom>
          <a:noFill/>
          <a:ln>
            <a:noFill/>
          </a:ln>
        </p:spPr>
      </p:pic>
      <p:sp>
        <p:nvSpPr>
          <p:cNvPr id="207" name="Google Shape;207;p13"/>
          <p:cNvSpPr/>
          <p:nvPr/>
        </p:nvSpPr>
        <p:spPr>
          <a:xfrm>
            <a:off x="6502400" y="2118320"/>
            <a:ext cx="4774565"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1" i="0" lang="en-US" sz="1500" u="none" cap="none" strike="noStrike">
                <a:solidFill>
                  <a:srgbClr val="0B1F4B"/>
                </a:solidFill>
                <a:latin typeface="Inter"/>
                <a:ea typeface="Inter"/>
                <a:cs typeface="Inter"/>
                <a:sym typeface="Inter"/>
              </a:rPr>
              <a:t>Offer early tutoring to students who have failed before</a:t>
            </a:r>
            <a:endParaRPr b="0" i="0" sz="1500" u="none" cap="none" strike="noStrike">
              <a:solidFill>
                <a:schemeClr val="dk1"/>
              </a:solidFill>
              <a:latin typeface="Calibri"/>
              <a:ea typeface="Calibri"/>
              <a:cs typeface="Calibri"/>
              <a:sym typeface="Calibri"/>
            </a:endParaRPr>
          </a:p>
        </p:txBody>
      </p:sp>
      <p:sp>
        <p:nvSpPr>
          <p:cNvPr id="208" name="Google Shape;208;p13"/>
          <p:cNvSpPr/>
          <p:nvPr/>
        </p:nvSpPr>
        <p:spPr>
          <a:xfrm>
            <a:off x="819150" y="2956520"/>
            <a:ext cx="10553700" cy="647700"/>
          </a:xfrm>
          <a:prstGeom prst="roundRect">
            <a:avLst>
              <a:gd fmla="val 18627"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3"/>
          <p:cNvSpPr/>
          <p:nvPr/>
        </p:nvSpPr>
        <p:spPr>
          <a:xfrm>
            <a:off x="1054100" y="3151783"/>
            <a:ext cx="4774565"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0" i="0" lang="en-US" sz="1500" u="none" cap="none" strike="noStrike">
                <a:solidFill>
                  <a:srgbClr val="0B1F4B"/>
                </a:solidFill>
                <a:latin typeface="Inter"/>
                <a:ea typeface="Inter"/>
                <a:cs typeface="Inter"/>
                <a:sym typeface="Inter"/>
              </a:rPr>
              <a:t>Alcohol and going out: slightly lower grades</a:t>
            </a:r>
            <a:endParaRPr b="0" i="0" sz="1500" u="none" cap="none" strike="noStrike">
              <a:solidFill>
                <a:schemeClr val="dk1"/>
              </a:solidFill>
              <a:latin typeface="Calibri"/>
              <a:ea typeface="Calibri"/>
              <a:cs typeface="Calibri"/>
              <a:sym typeface="Calibri"/>
            </a:endParaRPr>
          </a:p>
        </p:txBody>
      </p:sp>
      <p:pic>
        <p:nvPicPr>
          <p:cNvPr descr="arrow-right" id="210" name="Google Shape;210;p13"/>
          <p:cNvPicPr preferRelativeResize="0"/>
          <p:nvPr/>
        </p:nvPicPr>
        <p:blipFill rotWithShape="1">
          <a:blip r:embed="rId3">
            <a:alphaModFix/>
          </a:blip>
          <a:srcRect b="0" l="0" r="0" t="0"/>
          <a:stretch/>
        </p:blipFill>
        <p:spPr>
          <a:xfrm>
            <a:off x="5867400" y="3140670"/>
            <a:ext cx="457200" cy="279400"/>
          </a:xfrm>
          <a:prstGeom prst="rect">
            <a:avLst/>
          </a:prstGeom>
          <a:noFill/>
          <a:ln>
            <a:noFill/>
          </a:ln>
        </p:spPr>
      </p:pic>
      <p:sp>
        <p:nvSpPr>
          <p:cNvPr id="211" name="Google Shape;211;p13"/>
          <p:cNvSpPr/>
          <p:nvPr/>
        </p:nvSpPr>
        <p:spPr>
          <a:xfrm>
            <a:off x="6502400" y="3151783"/>
            <a:ext cx="4774565"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1" i="0" lang="en-US" sz="1500" u="none" cap="none" strike="noStrike">
                <a:solidFill>
                  <a:srgbClr val="0B1F4B"/>
                </a:solidFill>
                <a:latin typeface="Inter"/>
                <a:ea typeface="Inter"/>
                <a:cs typeface="Inter"/>
                <a:sym typeface="Inter"/>
              </a:rPr>
              <a:t>Add lifestyle advice to wellbeing programs</a:t>
            </a:r>
            <a:endParaRPr b="0" i="0" sz="1500" u="none" cap="none" strike="noStrike">
              <a:solidFill>
                <a:schemeClr val="dk1"/>
              </a:solidFill>
              <a:latin typeface="Calibri"/>
              <a:ea typeface="Calibri"/>
              <a:cs typeface="Calibri"/>
              <a:sym typeface="Calibri"/>
            </a:endParaRPr>
          </a:p>
        </p:txBody>
      </p:sp>
      <p:sp>
        <p:nvSpPr>
          <p:cNvPr id="212" name="Google Shape;212;p13"/>
          <p:cNvSpPr/>
          <p:nvPr/>
        </p:nvSpPr>
        <p:spPr>
          <a:xfrm>
            <a:off x="819150" y="3743920"/>
            <a:ext cx="10553700" cy="647700"/>
          </a:xfrm>
          <a:prstGeom prst="roundRect">
            <a:avLst>
              <a:gd fmla="val 18627" name="adj"/>
            </a:avLst>
          </a:prstGeom>
          <a:solidFill>
            <a:srgbClr val="FBFCFE"/>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3"/>
          <p:cNvSpPr/>
          <p:nvPr/>
        </p:nvSpPr>
        <p:spPr>
          <a:xfrm>
            <a:off x="1054100" y="3939183"/>
            <a:ext cx="4774565"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0" i="0" lang="en-US" sz="1500" u="none" cap="none" strike="noStrike">
                <a:solidFill>
                  <a:srgbClr val="0B1F4B"/>
                </a:solidFill>
                <a:latin typeface="Inter"/>
                <a:ea typeface="Inter"/>
                <a:cs typeface="Inter"/>
                <a:sym typeface="Inter"/>
              </a:rPr>
              <a:t>Supported students still score 1.1 lower</a:t>
            </a:r>
            <a:endParaRPr b="0" i="0" sz="1500" u="none" cap="none" strike="noStrike">
              <a:solidFill>
                <a:schemeClr val="dk1"/>
              </a:solidFill>
              <a:latin typeface="Calibri"/>
              <a:ea typeface="Calibri"/>
              <a:cs typeface="Calibri"/>
              <a:sym typeface="Calibri"/>
            </a:endParaRPr>
          </a:p>
        </p:txBody>
      </p:sp>
      <p:pic>
        <p:nvPicPr>
          <p:cNvPr descr="arrow-right" id="214" name="Google Shape;214;p13"/>
          <p:cNvPicPr preferRelativeResize="0"/>
          <p:nvPr/>
        </p:nvPicPr>
        <p:blipFill rotWithShape="1">
          <a:blip r:embed="rId3">
            <a:alphaModFix/>
          </a:blip>
          <a:srcRect b="0" l="0" r="0" t="0"/>
          <a:stretch/>
        </p:blipFill>
        <p:spPr>
          <a:xfrm>
            <a:off x="5867400" y="3928070"/>
            <a:ext cx="457200" cy="279400"/>
          </a:xfrm>
          <a:prstGeom prst="rect">
            <a:avLst/>
          </a:prstGeom>
          <a:noFill/>
          <a:ln>
            <a:noFill/>
          </a:ln>
        </p:spPr>
      </p:pic>
      <p:sp>
        <p:nvSpPr>
          <p:cNvPr id="215" name="Google Shape;215;p13"/>
          <p:cNvSpPr/>
          <p:nvPr/>
        </p:nvSpPr>
        <p:spPr>
          <a:xfrm>
            <a:off x="6502400" y="3939183"/>
            <a:ext cx="4774565"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45309"/>
              </a:buClr>
              <a:buSzPts val="1500"/>
              <a:buFont typeface="Inter"/>
              <a:buNone/>
            </a:pPr>
            <a:r>
              <a:rPr b="1" i="0" lang="en-US" sz="1500" u="none" cap="none" strike="noStrike">
                <a:solidFill>
                  <a:srgbClr val="0B1F4B"/>
                </a:solidFill>
                <a:latin typeface="Inter"/>
                <a:ea typeface="Inter"/>
                <a:cs typeface="Inter"/>
                <a:sym typeface="Inter"/>
              </a:rPr>
              <a:t>Re-check the support list after term 1</a:t>
            </a:r>
            <a:endParaRPr b="0" i="0" sz="1500" u="none" cap="none" strike="noStrike">
              <a:solidFill>
                <a:schemeClr val="dk1"/>
              </a:solidFill>
              <a:latin typeface="Calibri"/>
              <a:ea typeface="Calibri"/>
              <a:cs typeface="Calibri"/>
              <a:sym typeface="Calibri"/>
            </a:endParaRPr>
          </a:p>
        </p:txBody>
      </p:sp>
      <p:sp>
        <p:nvSpPr>
          <p:cNvPr id="216" name="Google Shape;216;p13"/>
          <p:cNvSpPr/>
          <p:nvPr/>
        </p:nvSpPr>
        <p:spPr>
          <a:xfrm>
            <a:off x="812800" y="470277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These are options supported by association, not proof that an action will raise grades.</a:t>
            </a:r>
            <a:endParaRPr b="0" i="0" sz="1400" u="none" cap="none" strike="noStrike">
              <a:solidFill>
                <a:schemeClr val="dk1"/>
              </a:solidFill>
              <a:latin typeface="Calibri"/>
              <a:ea typeface="Calibri"/>
              <a:cs typeface="Calibri"/>
              <a:sym typeface="Calibri"/>
            </a:endParaRPr>
          </a:p>
        </p:txBody>
      </p:sp>
      <p:sp>
        <p:nvSpPr>
          <p:cNvPr id="217" name="Google Shape;217;p13"/>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22" name="Shape 222"/>
        <p:cNvGrpSpPr/>
        <p:nvPr/>
      </p:nvGrpSpPr>
      <p:grpSpPr>
        <a:xfrm>
          <a:off x="0" y="0"/>
          <a:ext cx="0" cy="0"/>
          <a:chOff x="0" y="0"/>
          <a:chExt cx="0" cy="0"/>
        </a:xfrm>
      </p:grpSpPr>
      <p:sp>
        <p:nvSpPr>
          <p:cNvPr id="223" name="Google Shape;223;p14"/>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E4AEB"/>
              </a:buClr>
              <a:buSzPts val="1300"/>
              <a:buFont typeface="Inter"/>
              <a:buNone/>
            </a:pPr>
            <a:r>
              <a:rPr b="1" i="0" lang="en-US" sz="1300" u="none" cap="none" strike="noStrike">
                <a:solidFill>
                  <a:srgbClr val="0E4AEB"/>
                </a:solidFill>
                <a:latin typeface="Inter"/>
                <a:ea typeface="Inter"/>
                <a:cs typeface="Inter"/>
                <a:sym typeface="Inter"/>
              </a:rPr>
              <a:t>LIMITS</a:t>
            </a:r>
            <a:endParaRPr b="0" i="0" sz="1300" u="none" cap="none" strike="noStrike">
              <a:solidFill>
                <a:schemeClr val="dk1"/>
              </a:solidFill>
              <a:latin typeface="Calibri"/>
              <a:ea typeface="Calibri"/>
              <a:cs typeface="Calibri"/>
              <a:sym typeface="Calibri"/>
            </a:endParaRPr>
          </a:p>
        </p:txBody>
      </p:sp>
      <p:sp>
        <p:nvSpPr>
          <p:cNvPr id="224" name="Google Shape;224;p14"/>
          <p:cNvSpPr/>
          <p:nvPr/>
        </p:nvSpPr>
        <p:spPr>
          <a:xfrm>
            <a:off x="812800" y="11201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B1F4B"/>
              </a:buClr>
              <a:buSzPts val="3600"/>
              <a:buFont typeface="Inter"/>
              <a:buNone/>
            </a:pPr>
            <a:r>
              <a:rPr b="1" i="0" lang="en-US" sz="3600" u="none" cap="none" strike="noStrike">
                <a:solidFill>
                  <a:srgbClr val="0B1F4B"/>
                </a:solidFill>
                <a:latin typeface="Inter"/>
                <a:ea typeface="Inter"/>
                <a:cs typeface="Inter"/>
                <a:sym typeface="Inter"/>
              </a:rPr>
              <a:t>Limitations</a:t>
            </a:r>
            <a:endParaRPr b="0" i="0" sz="3600" u="none" cap="none" strike="noStrike">
              <a:solidFill>
                <a:schemeClr val="dk1"/>
              </a:solidFill>
              <a:latin typeface="Calibri"/>
              <a:ea typeface="Calibri"/>
              <a:cs typeface="Calibri"/>
              <a:sym typeface="Calibri"/>
            </a:endParaRPr>
          </a:p>
        </p:txBody>
      </p:sp>
      <p:graphicFrame>
        <p:nvGraphicFramePr>
          <p:cNvPr id="225" name="Google Shape;225;p14"/>
          <p:cNvGraphicFramePr/>
          <p:nvPr/>
        </p:nvGraphicFramePr>
        <p:xfrm>
          <a:off x="825500" y="1940520"/>
          <a:ext cx="3000000" cy="3000000"/>
        </p:xfrm>
        <a:graphic>
          <a:graphicData uri="http://schemas.openxmlformats.org/drawingml/2006/table">
            <a:tbl>
              <a:tblPr>
                <a:noFill/>
                <a:tableStyleId>{6841E191-F2DA-4451-8307-E90BBA42723E}</a:tableStyleId>
              </a:tblPr>
              <a:tblGrid>
                <a:gridCol w="4643625"/>
                <a:gridCol w="5910075"/>
              </a:tblGrid>
              <a:tr h="359325">
                <a:tc>
                  <a:txBody>
                    <a:bodyPr/>
                    <a:lstStyle/>
                    <a:p>
                      <a:pPr indent="0" lvl="0" marL="0" marR="0" rtl="0" algn="l">
                        <a:lnSpc>
                          <a:spcPct val="140000"/>
                        </a:lnSpc>
                        <a:spcBef>
                          <a:spcPts val="0"/>
                        </a:spcBef>
                        <a:spcAft>
                          <a:spcPts val="0"/>
                        </a:spcAft>
                        <a:buClr>
                          <a:srgbClr val="F4F6FB"/>
                        </a:buClr>
                        <a:buSzPts val="1300"/>
                        <a:buFont typeface="Inter"/>
                        <a:buNone/>
                      </a:pPr>
                      <a:r>
                        <a:rPr b="1" lang="en-US" sz="1300" u="none" cap="none" strike="noStrike">
                          <a:solidFill>
                            <a:srgbClr val="F4F6FB"/>
                          </a:solidFill>
                          <a:latin typeface="Inter"/>
                          <a:ea typeface="Inter"/>
                          <a:cs typeface="Inter"/>
                          <a:sym typeface="Inter"/>
                        </a:rPr>
                        <a:t>Limitation</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0D1D3F"/>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0D1D3F"/>
                      </a:solidFill>
                      <a:prstDash val="solid"/>
                      <a:round/>
                      <a:headEnd len="sm" w="sm" type="none"/>
                      <a:tailEnd len="sm" w="sm" type="none"/>
                    </a:lnB>
                    <a:solidFill>
                      <a:srgbClr val="0B1F4B"/>
                    </a:solidFill>
                  </a:tcPr>
                </a:tc>
                <a:tc>
                  <a:txBody>
                    <a:bodyPr/>
                    <a:lstStyle/>
                    <a:p>
                      <a:pPr indent="0" lvl="0" marL="0" marR="0" rtl="0" algn="l">
                        <a:lnSpc>
                          <a:spcPct val="140000"/>
                        </a:lnSpc>
                        <a:spcBef>
                          <a:spcPts val="0"/>
                        </a:spcBef>
                        <a:spcAft>
                          <a:spcPts val="0"/>
                        </a:spcAft>
                        <a:buClr>
                          <a:srgbClr val="F4F6FB"/>
                        </a:buClr>
                        <a:buSzPts val="1300"/>
                        <a:buFont typeface="Inter"/>
                        <a:buNone/>
                      </a:pPr>
                      <a:r>
                        <a:rPr b="1" lang="en-US" sz="1300" u="none" cap="none" strike="noStrike">
                          <a:solidFill>
                            <a:srgbClr val="F4F6FB"/>
                          </a:solidFill>
                          <a:latin typeface="Inter"/>
                          <a:ea typeface="Inter"/>
                          <a:cs typeface="Inter"/>
                          <a:sym typeface="Inter"/>
                        </a:rPr>
                        <a:t>What it means for our conclusion</a:t>
                      </a:r>
                      <a:endParaRPr sz="1300" u="none" cap="none" strike="noStrike">
                        <a:latin typeface="Inter"/>
                        <a:ea typeface="Inter"/>
                        <a:cs typeface="Inter"/>
                        <a:sym typeface="Inter"/>
                      </a:endParaRPr>
                    </a:p>
                  </a:txBody>
                  <a:tcPr marT="57775" marB="57775" marR="57775" marL="57775">
                    <a:lnL cap="flat" cmpd="sng" w="12700">
                      <a:solidFill>
                        <a:srgbClr val="0D1D3F"/>
                      </a:solidFill>
                      <a:prstDash val="solid"/>
                      <a:round/>
                      <a:headEnd len="sm" w="sm" type="none"/>
                      <a:tailEnd len="sm" w="sm" type="none"/>
                    </a:lnL>
                    <a:lnR cap="flat" cmpd="sng" w="12700">
                      <a:solidFill>
                        <a:srgbClr val="0D1D3F"/>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0D1D3F"/>
                      </a:solidFill>
                      <a:prstDash val="solid"/>
                      <a:round/>
                      <a:headEnd len="sm" w="sm" type="none"/>
                      <a:tailEnd len="sm" w="sm" type="none"/>
                    </a:lnB>
                    <a:solidFill>
                      <a:srgbClr val="0B1F4B"/>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Sample of 649 students (634 in the model)</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0D1D3F"/>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Estimates are imprecise; small gaps may be noise</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0D1D3F"/>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Two Portuguese schools, about 2005 to 2006</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May not apply to Australian students today</a:t>
                      </a:r>
                      <a:endParaRPr sz="1300" u="none" cap="none" strike="noStrike">
                        <a:latin typeface="Inter"/>
                        <a:ea typeface="Inter"/>
                        <a:cs typeface="Inter"/>
                        <a:sym typeface="Inter"/>
                      </a:endParaRPr>
                    </a:p>
                  </a:txBody>
                  <a:tcPr marT="57775" marB="57775" marR="57775" marL="57775">
                    <a:lnL cap="flat" cmpd="sng" w="12700">
                      <a:solidFill>
                        <a:srgbClr val="BBC0CB"/>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Self-reported 1 to 5 ratings</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Answers may be biased or inconsistent</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Observational data</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We show association, not cause</a:t>
                      </a:r>
                      <a:endParaRPr sz="1300" u="none" cap="none" strike="noStrike">
                        <a:latin typeface="Inter"/>
                        <a:ea typeface="Inter"/>
                        <a:cs typeface="Inter"/>
                        <a:sym typeface="Inter"/>
                      </a:endParaRPr>
                    </a:p>
                  </a:txBody>
                  <a:tcPr marT="57775" marB="57775" marR="57775" marL="57775">
                    <a:lnL cap="flat" cmpd="sng" w="12700">
                      <a:solidFill>
                        <a:srgbClr val="BBC0CB"/>
                      </a:solidFill>
                      <a:prstDash val="solid"/>
                      <a:round/>
                      <a:headEnd len="sm" w="sm" type="none"/>
                      <a:tailEnd len="sm" w="sm" type="none"/>
                    </a:lnL>
                    <a:lnR cap="flat" cmpd="sng" w="12700">
                      <a:solidFill>
                        <a:srgbClr val="BBC0CB"/>
                      </a:solidFill>
                      <a:prstDash val="solid"/>
                      <a:round/>
                      <a:headEnd len="sm" w="sm" type="none"/>
                      <a:tailEnd len="sm" w="sm" type="none"/>
                    </a:lnR>
                    <a:lnT cap="flat" cmpd="sng" w="12700">
                      <a:solidFill>
                        <a:srgbClr val="C8C9CA"/>
                      </a:solidFill>
                      <a:prstDash val="solid"/>
                      <a:round/>
                      <a:headEnd len="sm" w="sm" type="none"/>
                      <a:tailEnd len="sm" w="sm" type="none"/>
                    </a:lnT>
                    <a:lnB cap="flat" cmpd="sng" w="12700">
                      <a:solidFill>
                        <a:srgbClr val="BBC0CB"/>
                      </a:solidFill>
                      <a:prstDash val="solid"/>
                      <a:round/>
                      <a:headEnd len="sm" w="sm" type="none"/>
                      <a:tailEnd len="sm" w="sm" type="none"/>
                    </a:lnB>
                    <a:solidFill>
                      <a:srgbClr val="EAF0FF"/>
                    </a:solidFill>
                  </a:tcPr>
                </a:tc>
              </a:tr>
              <a:tr h="359325">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Earlier grades (G1, G2) left out</a:t>
                      </a:r>
                      <a:endParaRPr sz="1300" u="none" cap="none" strike="noStrike">
                        <a:latin typeface="Inter"/>
                        <a:ea typeface="Inter"/>
                        <a:cs typeface="Inter"/>
                        <a:sym typeface="Inter"/>
                      </a:endParaRPr>
                    </a:p>
                  </a:txBody>
                  <a:tcPr marT="57775" marB="57775" marR="57775" marL="57775">
                    <a:lnL cap="flat" cmpd="sng" w="12700">
                      <a:solidFill>
                        <a:srgbClr val="C3C4C8"/>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c>
                  <a:txBody>
                    <a:bodyPr/>
                    <a:lstStyle/>
                    <a:p>
                      <a:pPr indent="0" lvl="0" marL="0" marR="0" rtl="0" algn="l">
                        <a:lnSpc>
                          <a:spcPct val="140000"/>
                        </a:lnSpc>
                        <a:spcBef>
                          <a:spcPts val="0"/>
                        </a:spcBef>
                        <a:spcAft>
                          <a:spcPts val="0"/>
                        </a:spcAft>
                        <a:buClr>
                          <a:srgbClr val="12213F"/>
                        </a:buClr>
                        <a:buSzPts val="1300"/>
                        <a:buFont typeface="Inter"/>
                        <a:buNone/>
                      </a:pPr>
                      <a:r>
                        <a:rPr lang="en-US" sz="1300" u="none" cap="none" strike="noStrike">
                          <a:solidFill>
                            <a:srgbClr val="12213F"/>
                          </a:solidFill>
                          <a:latin typeface="Inter"/>
                          <a:ea typeface="Inter"/>
                          <a:cs typeface="Inter"/>
                          <a:sym typeface="Inter"/>
                        </a:rPr>
                        <a:t>We explain grades from background, not past results</a:t>
                      </a:r>
                      <a:endParaRPr sz="1300" u="none" cap="none" strike="noStrike">
                        <a:latin typeface="Inter"/>
                        <a:ea typeface="Inter"/>
                        <a:cs typeface="Inter"/>
                        <a:sym typeface="Inter"/>
                      </a:endParaRPr>
                    </a:p>
                  </a:txBody>
                  <a:tcPr marT="57775" marB="57775" marR="57775" marL="57775">
                    <a:lnL cap="flat" cmpd="sng" w="12700">
                      <a:solidFill>
                        <a:srgbClr val="C8C9CA"/>
                      </a:solidFill>
                      <a:prstDash val="solid"/>
                      <a:round/>
                      <a:headEnd len="sm" w="sm" type="none"/>
                      <a:tailEnd len="sm" w="sm" type="none"/>
                    </a:lnL>
                    <a:lnR cap="flat" cmpd="sng" w="12700">
                      <a:solidFill>
                        <a:srgbClr val="C8C9CA"/>
                      </a:solidFill>
                      <a:prstDash val="solid"/>
                      <a:round/>
                      <a:headEnd len="sm" w="sm" type="none"/>
                      <a:tailEnd len="sm" w="sm" type="none"/>
                    </a:lnR>
                    <a:lnT cap="flat" cmpd="sng" w="12700">
                      <a:solidFill>
                        <a:srgbClr val="BBC0CB"/>
                      </a:solidFill>
                      <a:prstDash val="solid"/>
                      <a:round/>
                      <a:headEnd len="sm" w="sm" type="none"/>
                      <a:tailEnd len="sm" w="sm" type="none"/>
                    </a:lnT>
                    <a:lnB cap="flat" cmpd="sng" w="12700">
                      <a:solidFill>
                        <a:srgbClr val="C8C9CA"/>
                      </a:solidFill>
                      <a:prstDash val="solid"/>
                      <a:round/>
                      <a:headEnd len="sm" w="sm" type="none"/>
                      <a:tailEnd len="sm" w="sm" type="none"/>
                    </a:lnB>
                    <a:solidFill>
                      <a:srgbClr val="FBFCFE"/>
                    </a:solidFill>
                  </a:tcPr>
                </a:tc>
              </a:tr>
            </a:tbl>
          </a:graphicData>
        </a:graphic>
      </p:graphicFrame>
      <p:sp>
        <p:nvSpPr>
          <p:cNvPr id="226" name="Google Shape;226;p14"/>
          <p:cNvSpPr/>
          <p:nvPr/>
        </p:nvSpPr>
        <p:spPr>
          <a:xfrm>
            <a:off x="812800" y="4401245"/>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400"/>
              <a:buFont typeface="Inter"/>
              <a:buNone/>
            </a:pPr>
            <a:r>
              <a:rPr b="0" i="0" lang="en-US" sz="1400" u="none" cap="none" strike="noStrike">
                <a:solidFill>
                  <a:srgbClr val="54607A"/>
                </a:solidFill>
                <a:latin typeface="Inter"/>
                <a:ea typeface="Inter"/>
                <a:cs typeface="Inter"/>
                <a:sym typeface="Inter"/>
              </a:rPr>
              <a:t>The data is about minors, so we use it only to look at group patterns.</a:t>
            </a:r>
            <a:endParaRPr b="0" i="0" sz="1400" u="none" cap="none" strike="noStrike">
              <a:solidFill>
                <a:schemeClr val="dk1"/>
              </a:solidFill>
              <a:latin typeface="Calibri"/>
              <a:ea typeface="Calibri"/>
              <a:cs typeface="Calibri"/>
              <a:sym typeface="Calibri"/>
            </a:endParaRPr>
          </a:p>
        </p:txBody>
      </p:sp>
      <p:sp>
        <p:nvSpPr>
          <p:cNvPr id="227" name="Google Shape;227;p14"/>
          <p:cNvSpPr/>
          <p:nvPr/>
        </p:nvSpPr>
        <p:spPr>
          <a:xfrm>
            <a:off x="812800" y="623828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4607A"/>
              </a:buClr>
              <a:buSzPts val="1200"/>
              <a:buFont typeface="Inter"/>
              <a:buNone/>
            </a:pPr>
            <a:r>
              <a:rPr b="0" i="0" lang="en-US" sz="1200" u="none" cap="none" strike="noStrike">
                <a:solidFill>
                  <a:srgbClr val="54607A"/>
                </a:solidFill>
                <a:latin typeface="Inter"/>
                <a:ea typeface="Inter"/>
                <a:cs typeface="Inter"/>
                <a:sym typeface="Inter"/>
              </a:rPr>
              <a:t>STDS 2B · [Team name] · Data: UCI Student Performance (Cortez and Silva, 2008)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4B"/>
        </a:solidFill>
      </p:bgPr>
    </p:bg>
    <p:spTree>
      <p:nvGrpSpPr>
        <p:cNvPr id="232" name="Shape 232"/>
        <p:cNvGrpSpPr/>
        <p:nvPr/>
      </p:nvGrpSpPr>
      <p:grpSpPr>
        <a:xfrm>
          <a:off x="0" y="0"/>
          <a:ext cx="0" cy="0"/>
          <a:chOff x="0" y="0"/>
          <a:chExt cx="0" cy="0"/>
        </a:xfrm>
      </p:grpSpPr>
      <p:sp>
        <p:nvSpPr>
          <p:cNvPr id="233" name="Google Shape;233;p15"/>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FB0FF"/>
              </a:buClr>
              <a:buSzPts val="1400"/>
              <a:buFont typeface="Inter"/>
              <a:buNone/>
            </a:pPr>
            <a:r>
              <a:rPr b="1" i="0" lang="en-US" sz="1400" u="none" cap="none" strike="noStrike">
                <a:solidFill>
                  <a:srgbClr val="8FB0FF"/>
                </a:solidFill>
                <a:latin typeface="Inter"/>
                <a:ea typeface="Inter"/>
                <a:cs typeface="Inter"/>
                <a:sym typeface="Inter"/>
              </a:rPr>
              <a:t>TAKE-HOME MESSAGE</a:t>
            </a:r>
            <a:endParaRPr b="0" i="0" sz="1400" u="none" cap="none" strike="noStrike">
              <a:solidFill>
                <a:schemeClr val="dk1"/>
              </a:solidFill>
              <a:latin typeface="Calibri"/>
              <a:ea typeface="Calibri"/>
              <a:cs typeface="Calibri"/>
              <a:sym typeface="Calibri"/>
            </a:endParaRPr>
          </a:p>
        </p:txBody>
      </p:sp>
      <p:sp>
        <p:nvSpPr>
          <p:cNvPr id="234" name="Google Shape;234;p15"/>
          <p:cNvSpPr/>
          <p:nvPr/>
        </p:nvSpPr>
        <p:spPr>
          <a:xfrm>
            <a:off x="812800" y="2778770"/>
            <a:ext cx="10883392" cy="10769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C46B"/>
              </a:buClr>
              <a:buSzPts val="3600"/>
              <a:buFont typeface="Inter"/>
              <a:buNone/>
            </a:pPr>
            <a:r>
              <a:rPr b="1" i="0" lang="en-US" sz="3600" u="none" cap="none" strike="noStrike">
                <a:solidFill>
                  <a:srgbClr val="FFC46B"/>
                </a:solidFill>
                <a:latin typeface="Inter"/>
                <a:ea typeface="Inter"/>
                <a:cs typeface="Inter"/>
                <a:sym typeface="Inter"/>
              </a:rPr>
              <a:t>Past failures, study habits and lifestyle go along with final grades, so support is best directed early at students who have failed before.</a:t>
            </a:r>
            <a:endParaRPr b="0" i="0" sz="3600" u="none" cap="none" strike="noStrike">
              <a:solidFill>
                <a:schemeClr val="dk1"/>
              </a:solidFill>
              <a:latin typeface="Calibri"/>
              <a:ea typeface="Calibri"/>
              <a:cs typeface="Calibri"/>
              <a:sym typeface="Calibri"/>
            </a:endParaRPr>
          </a:p>
        </p:txBody>
      </p:sp>
      <p:sp>
        <p:nvSpPr>
          <p:cNvPr id="235" name="Google Shape;235;p15"/>
          <p:cNvSpPr/>
          <p:nvPr/>
        </p:nvSpPr>
        <p:spPr>
          <a:xfrm>
            <a:off x="812800" y="5547370"/>
            <a:ext cx="4056439" cy="5232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6FB"/>
              </a:buClr>
              <a:buSzPts val="2800"/>
              <a:buFont typeface="Inter"/>
              <a:buNone/>
            </a:pPr>
            <a:r>
              <a:rPr b="1" i="0" lang="en-US" sz="2800" u="none" cap="none" strike="noStrike">
                <a:solidFill>
                  <a:srgbClr val="F4F6FB"/>
                </a:solidFill>
                <a:latin typeface="Inter"/>
                <a:ea typeface="Inter"/>
                <a:cs typeface="Inter"/>
                <a:sym typeface="Inter"/>
              </a:rPr>
              <a:t>Thank you. Questions?</a:t>
            </a:r>
            <a:endParaRPr b="0" i="0" sz="2800" u="none" cap="none" strike="noStrike">
              <a:solidFill>
                <a:schemeClr val="dk1"/>
              </a:solidFill>
              <a:latin typeface="Calibri"/>
              <a:ea typeface="Calibri"/>
              <a:cs typeface="Calibri"/>
              <a:sym typeface="Calibri"/>
            </a:endParaRPr>
          </a:p>
        </p:txBody>
      </p:sp>
      <p:sp>
        <p:nvSpPr>
          <p:cNvPr id="236" name="Google Shape;236;p15"/>
          <p:cNvSpPr/>
          <p:nvPr/>
        </p:nvSpPr>
        <p:spPr>
          <a:xfrm>
            <a:off x="6800850" y="5796310"/>
            <a:ext cx="4578350" cy="27429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C9D4EE"/>
              </a:buClr>
              <a:buSzPts val="1400"/>
              <a:buFont typeface="Inter"/>
              <a:buNone/>
            </a:pPr>
            <a:r>
              <a:rPr b="0" i="0" lang="en-US" sz="1400" u="none" cap="none" strike="noStrike">
                <a:solidFill>
                  <a:srgbClr val="C9D4EE"/>
                </a:solidFill>
                <a:latin typeface="Inter"/>
                <a:ea typeface="Inter"/>
                <a:cs typeface="Inter"/>
                <a:sym typeface="Inter"/>
              </a:rPr>
              <a:t>[Team name] · [Member names]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