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41"/>
                </a:solidFill>
                <a:latin typeface="Arial"/>
              </a:defRPr>
            </a:pPr>
            <a:r>
              <a:rPr sz="1400" b="0" i="0" u="none" strike="noStrike">
                <a:solidFill>
                  <a:srgbClr val="1B2A41"/>
                </a:solidFill>
                <a:latin typeface="Arial"/>
              </a:rPr>
              <a:t>Share of students who failed (%)</a:t>
            </a:r>
          </a:p>
        </c:rich>
      </c:tx>
      <c:layout/>
      <c:overlay val="0"/>
    </c:title>
    <c:autoTitleDeleted val="0"/>
    <c:plotArea>
      <c:layout/>
      <c:barChart>
        <c:barDir val="bar"/>
        <c:grouping val="clustered"/>
        <c:varyColors val="0"/>
        <c:ser>
          <c:idx val="0"/>
          <c:order val="0"/>
          <c:tx>
            <c:strRef>
              <c:f>Sheet1!$B$1</c:f>
              <c:strCache>
                <c:ptCount val="1"/>
                <c:pt idx="0">
                  <c:v>Fail rate (%)</c:v>
                </c:pt>
              </c:strCache>
            </c:strRef>
          </c:tx>
          <c:spPr>
            <a:solidFill>
              <a:srgbClr val="2A9D8F"/>
            </a:solidFill>
            <a:effectLst/>
          </c:spPr>
          <c:invertIfNegative val="0"/>
          <c:dLbls>
            <c:numFmt formatCode="0&quot;%&quot;" sourceLinked="0"/>
            <c:txPr>
              <a:bodyPr/>
              <a:lstStyle/>
              <a:p>
                <a:pPr>
                  <a:defRPr b="0" i="0" strike="noStrike" sz="1300" u="none">
                    <a:solidFill>
                      <a:srgbClr val="2B2D42"/>
                    </a:solidFill>
                    <a:latin typeface="Arial"/>
                  </a:defRPr>
                </a:pPr>
              </a:p>
            </c:txPr>
            <c:showLegendKey val="0"/>
            <c:showVal val="1"/>
            <c:showCatName val="0"/>
            <c:showSerName val="0"/>
            <c:showPercent val="0"/>
            <c:showBubbleSize val="0"/>
            <c:showLeaderLines val="0"/>
          </c:dLbls>
          <c:dPt>
            <c:idx val="0"/>
            <c:invertIfNegative val="0"/>
            <c:bubble3D val="0"/>
            <c:spPr>
              <a:solidFill>
                <a:srgbClr val="2A9D8F"/>
              </a:solidFill>
              <a:effectLst/>
            </c:spPr>
          </c:dPt>
          <c:dPt>
            <c:idx val="1"/>
            <c:invertIfNegative val="0"/>
            <c:bubble3D val="0"/>
            <c:spPr>
              <a:solidFill>
                <a:srgbClr val="E76F51"/>
              </a:solidFill>
              <a:effectLst/>
            </c:spPr>
          </c:dPt>
          <c:dPt>
            <c:idx val="2"/>
            <c:invertIfNegative val="0"/>
            <c:bubble3D val="0"/>
            <c:spPr>
              <a:solidFill>
                <a:srgbClr val="2A9D8F"/>
              </a:solidFill>
              <a:effectLst/>
            </c:spPr>
          </c:dPt>
          <c:dPt>
            <c:idx val="3"/>
            <c:invertIfNegative val="0"/>
            <c:bubble3D val="0"/>
            <c:spPr>
              <a:solidFill>
                <a:srgbClr val="E76F51"/>
              </a:solidFill>
              <a:effectLst/>
            </c:spPr>
          </c:dPt>
          <c:dPt>
            <c:idx val="4"/>
            <c:invertIfNegative val="0"/>
            <c:bubble3D val="0"/>
            <c:spPr>
              <a:solidFill>
                <a:srgbClr val="2A9D8F"/>
              </a:solidFill>
              <a:effectLst/>
            </c:spPr>
          </c:dPt>
          <c:dPt>
            <c:idx val="5"/>
            <c:invertIfNegative val="0"/>
            <c:bubble3D val="0"/>
            <c:spPr>
              <a:solidFill>
                <a:srgbClr val="E76F51"/>
              </a:solidFill>
              <a:effectLst/>
            </c:spPr>
          </c:dPt>
          <c:cat>
            <c:multiLvlStrRef>
              <c:f>Sheet1!$A$2:$A$7</c:f>
              <c:multiLvlStrCache>
                <c:ptCount val="6"/>
                <c:lvl>
                  <c:pt idx="0">
                    <c:v>No past failures</c:v>
                  </c:pt>
                  <c:pt idx="1">
                    <c:v>1+ past failures</c:v>
                  </c:pt>
                  <c:pt idx="2">
                    <c:v>Plans university</c:v>
                  </c:pt>
                  <c:pt idx="3">
                    <c:v>No university plans</c:v>
                  </c:pt>
                  <c:pt idx="4">
                    <c:v>School GP</c:v>
                  </c:pt>
                  <c:pt idx="5">
                    <c:v>School MS</c:v>
                  </c:pt>
                </c:lvl>
              </c:multiLvlStrCache>
            </c:multiLvlStrRef>
          </c:cat>
          <c:val>
            <c:numRef>
              <c:f>Sheet1!$B$2:$B$7</c:f>
              <c:numCache>
                <c:formatCode>General</c:formatCode>
                <c:ptCount val="6"/>
                <c:pt idx="0">
                  <c:v>9.3</c:v>
                </c:pt>
                <c:pt idx="1">
                  <c:v>49</c:v>
                </c:pt>
                <c:pt idx="2">
                  <c:v>11.6</c:v>
                </c:pt>
                <c:pt idx="3">
                  <c:v>47.8</c:v>
                </c:pt>
                <c:pt idx="4">
                  <c:v>7.6</c:v>
                </c:pt>
                <c:pt idx="5">
                  <c:v>30.1</c:v>
                </c:pt>
              </c:numCache>
            </c:numRef>
          </c:val>
        </c:ser>
        <c:dLbls>
          <c:numFmt formatCode="0&quot;%&quot;" sourceLinked="0"/>
          <c:txPr>
            <a:bodyPr/>
            <a:lstStyle/>
            <a:p>
              <a:pPr>
                <a:defRPr b="0" i="0" strike="noStrike" sz="1300" u="none">
                  <a:solidFill>
                    <a:srgbClr val="2B2D42"/>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2B2D42"/>
                </a:solidFill>
                <a:latin typeface="Arial"/>
              </a:defRPr>
            </a:pPr>
            <a:endParaRPr lang="en-US"/>
          </a:p>
        </c:txPr>
        <c:crossAx val="2094734552"/>
        <c:crosses val="autoZero"/>
        <c:auto val="1"/>
        <c:lblAlgn val="ctr"/>
        <c:noMultiLvlLbl val="1"/>
      </c:catAx>
      <c:valAx>
        <c:axId val="2094734552"/>
        <c:scaling>
          <c:orientation val="minMax"/>
          <c:max val="6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41"/>
                </a:solidFill>
                <a:latin typeface="Arial"/>
              </a:defRPr>
            </a:pPr>
            <a:r>
              <a:rPr sz="1400" b="0" i="0" u="none" strike="noStrike">
                <a:solidFill>
                  <a:srgbClr val="1B2A41"/>
                </a:solidFill>
                <a:latin typeface="Arial"/>
              </a:rPr>
              <a:t>Change in final grade, other things equal</a:t>
            </a:r>
          </a:p>
        </c:rich>
      </c:tx>
      <c:layout/>
      <c:overlay val="0"/>
    </c:title>
    <c:autoTitleDeleted val="0"/>
    <c:plotArea>
      <c:layout/>
      <c:barChart>
        <c:barDir val="bar"/>
        <c:grouping val="clustered"/>
        <c:varyColors val="0"/>
        <c:ser>
          <c:idx val="0"/>
          <c:order val="0"/>
          <c:tx>
            <c:strRef>
              <c:f>Sheet1!$B$1</c:f>
              <c:strCache>
                <c:ptCount val="1"/>
                <c:pt idx="0">
                  <c:v>Points</c:v>
                </c:pt>
              </c:strCache>
            </c:strRef>
          </c:tx>
          <c:spPr>
            <a:solidFill>
              <a:srgbClr val="2A9D8F"/>
            </a:solidFill>
            <a:effectLst/>
          </c:spPr>
          <c:invertIfNegative val="0"/>
          <c:dLbls>
            <c:numFmt formatCode="+0.0;-0.0" sourceLinked="0"/>
            <c:txPr>
              <a:bodyPr/>
              <a:lstStyle/>
              <a:p>
                <a:pPr>
                  <a:defRPr b="0" i="0" strike="noStrike" sz="1300" u="none">
                    <a:solidFill>
                      <a:srgbClr val="2B2D42"/>
                    </a:solidFill>
                    <a:latin typeface="Arial"/>
                  </a:defRPr>
                </a:pPr>
              </a:p>
            </c:txPr>
            <c:showLegendKey val="0"/>
            <c:showVal val="1"/>
            <c:showCatName val="0"/>
            <c:showSerName val="0"/>
            <c:showPercent val="0"/>
            <c:showBubbleSize val="0"/>
            <c:showLeaderLines val="0"/>
          </c:dLbls>
          <c:dPt>
            <c:idx val="0"/>
            <c:invertIfNegative val="0"/>
            <c:bubble3D val="0"/>
            <c:spPr>
              <a:solidFill>
                <a:srgbClr val="2A9D8F"/>
              </a:solidFill>
              <a:effectLst/>
            </c:spPr>
          </c:dPt>
          <c:dPt>
            <c:idx val="1"/>
            <c:invertIfNegative val="0"/>
            <c:bubble3D val="0"/>
            <c:spPr>
              <a:solidFill>
                <a:srgbClr val="2A9D8F"/>
              </a:solidFill>
              <a:effectLst/>
            </c:spPr>
          </c:dPt>
          <c:dPt>
            <c:idx val="2"/>
            <c:invertIfNegative val="0"/>
            <c:bubble3D val="0"/>
            <c:spPr>
              <a:solidFill>
                <a:srgbClr val="2A9D8F"/>
              </a:solidFill>
              <a:effectLst/>
            </c:spPr>
          </c:dPt>
          <c:dPt>
            <c:idx val="3"/>
            <c:invertIfNegative val="0"/>
            <c:bubble3D val="0"/>
            <c:spPr>
              <a:solidFill>
                <a:srgbClr val="E76F51"/>
              </a:solidFill>
              <a:effectLst/>
            </c:spPr>
          </c:dPt>
          <c:dPt>
            <c:idx val="4"/>
            <c:invertIfNegative val="0"/>
            <c:bubble3D val="0"/>
            <c:spPr>
              <a:solidFill>
                <a:srgbClr val="E76F51"/>
              </a:solidFill>
              <a:effectLst/>
            </c:spPr>
          </c:dPt>
          <c:dPt>
            <c:idx val="5"/>
            <c:invertIfNegative val="0"/>
            <c:bubble3D val="0"/>
            <c:spPr>
              <a:solidFill>
                <a:srgbClr val="E76F51"/>
              </a:solidFill>
              <a:effectLst/>
            </c:spPr>
          </c:dPt>
          <c:dPt>
            <c:idx val="6"/>
            <c:invertIfNegative val="0"/>
            <c:bubble3D val="0"/>
            <c:spPr>
              <a:solidFill>
                <a:srgbClr val="E76F51"/>
              </a:solidFill>
              <a:effectLst/>
            </c:spPr>
          </c:dPt>
          <c:cat>
            <c:multiLvlStrRef>
              <c:f>Sheet1!$A$2:$A$8</c:f>
              <c:multiLvlStrCache>
                <c:ptCount val="7"/>
                <c:lvl>
                  <c:pt idx="0">
                    <c:v>Plans university</c:v>
                  </c:pt>
                  <c:pt idx="1">
                    <c:v>Mother's education (+1 level)</c:v>
                  </c:pt>
                  <c:pt idx="2">
                    <c:v>Study time (+1 level)</c:v>
                  </c:pt>
                  <c:pt idx="3">
                    <c:v>Weekday alcohol (+1 level)</c:v>
                  </c:pt>
                  <c:pt idx="4">
                    <c:v>School MS (vs GP)</c:v>
                  </c:pt>
                  <c:pt idx="5">
                    <c:v>Extra school support*</c:v>
                  </c:pt>
                  <c:pt idx="6">
                    <c:v>Each past failure</c:v>
                  </c:pt>
                </c:lvl>
              </c:multiLvlStrCache>
            </c:multiLvlStrRef>
          </c:cat>
          <c:val>
            <c:numRef>
              <c:f>Sheet1!$B$2:$B$8</c:f>
              <c:numCache>
                <c:formatCode>General</c:formatCode>
                <c:ptCount val="7"/>
                <c:pt idx="0">
                  <c:v>1.73</c:v>
                </c:pt>
                <c:pt idx="1">
                  <c:v>0.37</c:v>
                </c:pt>
                <c:pt idx="2">
                  <c:v>0.3</c:v>
                </c:pt>
                <c:pt idx="3">
                  <c:v>-0.24</c:v>
                </c:pt>
                <c:pt idx="4">
                  <c:v>-0.96</c:v>
                </c:pt>
                <c:pt idx="5">
                  <c:v>-1.15</c:v>
                </c:pt>
                <c:pt idx="6">
                  <c:v>-1.29</c:v>
                </c:pt>
              </c:numCache>
            </c:numRef>
          </c:val>
        </c:ser>
        <c:dLbls>
          <c:numFmt formatCode="+0.0;-0.0" sourceLinked="0"/>
          <c:txPr>
            <a:bodyPr/>
            <a:lstStyle/>
            <a:p>
              <a:pPr>
                <a:defRPr b="0" i="0" strike="noStrike" sz="1300" u="none">
                  <a:solidFill>
                    <a:srgbClr val="2B2D42"/>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2B2D42"/>
                </a:solidFill>
                <a:latin typeface="Arial"/>
              </a:defRPr>
            </a:pPr>
            <a:endParaRPr lang="en-US"/>
          </a:p>
        </c:txPr>
        <c:crossAx val="2094734552"/>
        <c:crosses val="autoZero"/>
        <c:auto val="1"/>
        <c:lblAlgn val="ctr"/>
        <c:noMultiLvlLbl val="1"/>
      </c:catAx>
      <c:valAx>
        <c:axId val="2094734552"/>
        <c:scaling>
          <c:orientation val="minMax"/>
          <c:max val="2.3"/>
          <c:min val="-2"/>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41"/>
                </a:solidFill>
                <a:latin typeface="Arial"/>
              </a:defRPr>
            </a:pPr>
            <a:r>
              <a:rPr sz="1400" b="0" i="0" u="none" strike="noStrike">
                <a:solidFill>
                  <a:srgbClr val="1B2A41"/>
                </a:solidFill>
                <a:latin typeface="Arial"/>
              </a:rPr>
              <a:t>Share of grade differences predicted (tested on unseen students)</a:t>
            </a:r>
          </a:p>
        </c:rich>
      </c:tx>
      <c:layout/>
      <c:overlay val="0"/>
    </c:title>
    <c:autoTitleDeleted val="0"/>
    <c:plotArea>
      <c:layout/>
      <c:barChart>
        <c:barDir val="col"/>
        <c:grouping val="clustered"/>
        <c:varyColors val="0"/>
        <c:ser>
          <c:idx val="0"/>
          <c:order val="0"/>
          <c:tx>
            <c:strRef>
              <c:f>Sheet1!$B$1</c:f>
              <c:strCache>
                <c:ptCount val="1"/>
                <c:pt idx="0">
                  <c:v>Explained</c:v>
                </c:pt>
              </c:strCache>
            </c:strRef>
          </c:tx>
          <c:spPr>
            <a:solidFill>
              <a:srgbClr val="1B2A41"/>
            </a:solidFill>
            <a:effectLst/>
          </c:spPr>
          <c:invertIfNegative val="0"/>
          <c:dLbls>
            <c:numFmt formatCode="0&quot;%&quot;" sourceLinked="0"/>
            <c:txPr>
              <a:bodyPr/>
              <a:lstStyle/>
              <a:p>
                <a:pPr>
                  <a:defRPr b="0" i="0" strike="noStrike" sz="1600" u="none">
                    <a:solidFill>
                      <a:srgbClr val="2B2D42"/>
                    </a:solidFill>
                    <a:latin typeface="Arial"/>
                  </a:defRPr>
                </a:pPr>
              </a:p>
            </c:txPr>
            <c:showLegendKey val="0"/>
            <c:showVal val="1"/>
            <c:showCatName val="0"/>
            <c:showSerName val="0"/>
            <c:showPercent val="0"/>
            <c:showBubbleSize val="0"/>
            <c:showLeaderLines val="0"/>
          </c:dLbls>
          <c:dPt>
            <c:idx val="0"/>
            <c:invertIfNegative val="0"/>
            <c:bubble3D val="0"/>
            <c:spPr>
              <a:solidFill>
                <a:srgbClr val="1B2A41"/>
              </a:solidFill>
              <a:effectLst/>
            </c:spPr>
          </c:dPt>
          <c:dPt>
            <c:idx val="1"/>
            <c:invertIfNegative val="0"/>
            <c:bubble3D val="0"/>
            <c:spPr>
              <a:solidFill>
                <a:srgbClr val="E9C46A"/>
              </a:solidFill>
              <a:effectLst/>
            </c:spPr>
          </c:dPt>
          <c:dPt>
            <c:idx val="2"/>
            <c:invertIfNegative val="0"/>
            <c:bubble3D val="0"/>
            <c:spPr>
              <a:solidFill>
                <a:srgbClr val="2A9D8F"/>
              </a:solidFill>
              <a:effectLst/>
            </c:spPr>
          </c:dPt>
          <c:cat>
            <c:multiLvlStrRef>
              <c:f>Sheet1!$A$2:$A$4</c:f>
              <c:multiLvlStrCache>
                <c:ptCount val="3"/>
                <c:lvl>
                  <c:pt idx="0">
                    <c:v>At enrolment (background only)</c:v>
                  </c:pt>
                  <c:pt idx="1">
                    <c:v>After term 1 (+ first grade)</c:v>
                  </c:pt>
                  <c:pt idx="2">
                    <c:v>After term 2 (two grades)</c:v>
                  </c:pt>
                </c:lvl>
              </c:multiLvlStrCache>
            </c:multiLvlStrRef>
          </c:cat>
          <c:val>
            <c:numRef>
              <c:f>Sheet1!$B$2:$B$4</c:f>
              <c:numCache>
                <c:formatCode>General</c:formatCode>
                <c:ptCount val="3"/>
                <c:pt idx="0">
                  <c:v>32</c:v>
                </c:pt>
                <c:pt idx="1">
                  <c:v>77</c:v>
                </c:pt>
                <c:pt idx="2">
                  <c:v>88</c:v>
                </c:pt>
              </c:numCache>
            </c:numRef>
          </c:val>
        </c:ser>
        <c:dLbls>
          <c:numFmt formatCode="0&quot;%&quot;" sourceLinked="0"/>
          <c:txPr>
            <a:bodyPr/>
            <a:lstStyle/>
            <a:p>
              <a:pPr>
                <a:defRPr b="0" i="0" strike="noStrike" sz="1600" u="none">
                  <a:solidFill>
                    <a:srgbClr val="2B2D42"/>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2B2D42"/>
                </a:solidFill>
                <a:latin typeface="Arial"/>
              </a:defRPr>
            </a:pPr>
            <a:endParaRPr lang="en-US"/>
          </a:p>
        </c:txPr>
        <c:crossAx val="2094734552"/>
        <c:crosses val="autoZero"/>
        <c:auto val="1"/>
        <c:lblAlgn val="ctr"/>
        <c:noMultiLvlLbl val="1"/>
      </c:catAx>
      <c:valAx>
        <c:axId val="2094734552"/>
        <c:scaling>
          <c:orientation val="minMax"/>
          <c:max val="1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 Lead | ~0:30] Good morning everyone. We are [team name]. Today we will show you how schools can spot students who are at risk of failing Portuguese, and how early they can do it. We used real records from 649 secondary school students. Our audience today is school leaders, so we will keep the statistics simple and focus on what the results mean for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Lead | ~1:00] Let's start with the problem. In our data, about fifteen percent of students — roughly one in seven — failed Portuguese. That means their final grade was below ten out of twenty. The data comes from two public schools in Portugal. The real issue is timing. Schools usually find out who is struggling only when final grades come out, and by then it is too late to help. Portuguese is a core subject, and failing it is an early sign that a student may leave school. Support staff and tutoring time are limited, so schools need to know where to focus — and they need to know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Lead | ~1:00] So we asked three simple questions. First: what lowers final grades? In other words, which information that a school already has at enrolment goes with a higher or lower grade? Second: who is at risk of failing? Can the same information pick out the students most likely to fail? And third: when is the warning reliable? How much better does the warning become once we know the first-term grade? We used a linear regression model for question one, a logistic regression model for question two, and we compared models for question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Lead | ~1:15] Here is our data. We have 649 students and 33 pieces of information for each one — for example age, family background, study time, past failures, and three grades during the year. The data was collected from school reports and questionnaires, and it is public on Kaggle. The data was clean: no missing values and no duplicates. But we found one important issue. Fifteen students had a final grade of zero, but they had zero absences and passing marks earlier in the year. This looks like they did not sit the final exam, not that they scored zero. So we left them out of the grade model, but we counted them as fails in the risk model, because a school would want to flag them too. As you can see in the chart, most students score between ten and fourteen.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 Lead (EDA) | ~1:30] Our exploration showed three clear warning signs. The chart shows the share of students who failed in each group. First, past failures. Students who had failed a class before failed again forty-nine percent of the time, compared with only nine percent for students with no past failures. That is more than five times higher. Second, university plans. Students who do not plan to go to university failed four times as often. Third, the school. Students at the MS school failed thirty percent of the time, compared with eight percent at GP. These three signs are easy for a school to know at the start of the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[Modelling &amp; Code Lead | ~1:45] Next, we built a multiple linear regression model. It looks at twelve factors at the same time, so each bar shows the effect of one factor while the others stay the same. Green bars raise the grade, orange bars lower it. Planning to go to university goes with almost two extra points out of twenty. Each past failure goes with about 1.3 points lower. The MS school is about one point lower. Mother's education and study time help a little, and weekday alcohol lowers grades a little. One surprising result: students who get extra school support have lower grades. This does not mean support is harmful. It means schools already give support to weaker students. This is a link, not a cause. Overall, the enrolment information explains about one third of the differences in grades.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[Modelling &amp; Code Lead | ~1:30] For the second question, we used logistic regression, which estimates the chance of failing. We tested it on students it had not seen. The result is good. If you pick one student who failed and one who passed, the model gives the higher risk to the right student eighty-four percent of the time. If a school flags every student with a risk above the average, it would catch three out of four students who later fail, while flagging about one third of all students. That is a list support staff can actually work with. The biggest risk factors are the MS school, past failures, and absences. Planning to go to university is protective.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[Modelling &amp; Code Lead | ~1:15] Our third question was about timing. With background information only, we predict about thirty-two percent of the differences in grades. When we add the first-term grade, this jumps to seventy-seven percent. With two term grades it reaches eighty-eight percent. The typical error falls from about 1.7 points to 1 point, and then to 0.7 points. So our message is simple: start with a background check at enrolment, and then re-check the list after the first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 Lead (Technical Report) | ~1:00] You may ask: can we trust these results? We did four things. First, we tested our models on students they had not seen, using ten-fold cross-validation. Second, we checked the standard model assumptions: the relationships are close to straight lines, the factors do not overlap too much, and no single student drives the results. Third, the spread of errors was not perfectly even, so we used robust standard errors to keep conclusions valid. One small caution: grades are whole numbers from zero to twenty, so the errors are not perfectly normal. With more than six hundred students, this has little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 Lead (Technical Report) | ~1:00] We also want to be honest about limits. First, a link is not a cause. We cannot say that changing one factor will change a grade. Second, the data is old and local — two schools in Portugal in 2005 and 2006 — so results may be different in other schools or today. Third, study time and alcohol use are self-reported, so students may not answer accurately. And fourth, only one hundred students failed, so the risk model should be checked again on new data before a school uses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 Lead | ~1:15] So, what should a school do? We have three recommendations. One: flag students at enrolment using past failures, university plans and school. Two: re-check the list after the first term, because accuracy more than doubles. Three: support, don't label. The list should start a conversation and open access to tutoring. It should never limit a student's options. Finally, on ethics: if this approach were used with data about Aboriginal and Torres Strait Islander students, it must follow Indigenous data sovereignty principles — co-design with the community, collective consent, community control of the data, and strengths-based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 Lead | ~0:15] Thank you for listening.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3" name="Text 0"/>
          <p:cNvSpPr txBox="1"/>
          <p:nvPr/>
        </p:nvSpPr>
        <p:spPr>
          <a:xfrm>
            <a:off x="731520" y="1737360"/>
            <a:ext cx="10515600" cy="109728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Beyond the Grade Book</a:t>
            </a:r>
            <a:endParaRPr lang="en-US" sz="5000" dirty="0"/>
          </a:p>
        </p:txBody>
      </p:sp>
      <p:sp>
        <p:nvSpPr>
          <p:cNvPr id="4" name="Text 1"/>
          <p:cNvSpPr txBox="1"/>
          <p:nvPr/>
        </p:nvSpPr>
        <p:spPr>
          <a:xfrm>
            <a:off x="731520" y="2834640"/>
            <a:ext cx="10515600" cy="640080"/>
          </a:xfrm>
          <a:prstGeom prst="rect">
            <a:avLst/>
          </a:prstGeom>
          <a:noFill/>
          <a:ln/>
        </p:spPr>
        <p:txBody>
          <a:bodyPr wrap="square" lIns="0" tIns="0" rIns="0" bIns="0" rtlCol="0" anchor="ctr"/>
          <a:lstStyle/>
          <a:p>
            <a:pPr indent="0" marL="0">
              <a:buNone/>
            </a:pPr>
            <a:r>
              <a:rPr lang="en-US" sz="2200" i="1" dirty="0">
                <a:solidFill>
                  <a:srgbClr val="E9C46A"/>
                </a:solidFill>
                <a:latin typeface="Calibri" pitchFamily="34" charset="0"/>
                <a:ea typeface="Calibri" pitchFamily="34" charset="-122"/>
                <a:cs typeface="Calibri" pitchFamily="34" charset="-120"/>
              </a:rPr>
              <a:t>Spotting students at risk of failing Portuguese — before it is too late</a:t>
            </a:r>
            <a:endParaRPr lang="en-US" sz="2200" dirty="0"/>
          </a:p>
        </p:txBody>
      </p:sp>
      <p:sp>
        <p:nvSpPr>
          <p:cNvPr id="5" name="Text 2"/>
          <p:cNvSpPr txBox="1"/>
          <p:nvPr/>
        </p:nvSpPr>
        <p:spPr>
          <a:xfrm>
            <a:off x="731520" y="4846320"/>
            <a:ext cx="10058400" cy="365760"/>
          </a:xfrm>
          <a:prstGeom prst="rect">
            <a:avLst/>
          </a:prstGeom>
          <a:noFill/>
          <a:ln/>
        </p:spPr>
        <p:txBody>
          <a:bodyPr wrap="square" lIns="0" tIns="0" rIns="0" bIns="0" rtlCol="0" anchor="ctr"/>
          <a:lstStyle/>
          <a:p>
            <a:pPr indent="0" marL="0">
              <a:buNone/>
            </a:pPr>
            <a:r>
              <a:rPr lang="en-US" sz="1600" dirty="0">
                <a:solidFill>
                  <a:srgbClr val="CFD8E3"/>
                </a:solidFill>
                <a:latin typeface="Calibri" pitchFamily="34" charset="0"/>
                <a:ea typeface="Calibri" pitchFamily="34" charset="-122"/>
                <a:cs typeface="Calibri" pitchFamily="34" charset="-120"/>
              </a:rPr>
              <a:t>[Team name / Group number]  ·  [Member names]</a:t>
            </a:r>
            <a:endParaRPr lang="en-US" sz="1600" dirty="0"/>
          </a:p>
        </p:txBody>
      </p:sp>
      <p:sp>
        <p:nvSpPr>
          <p:cNvPr id="6" name="Text 3"/>
          <p:cNvSpPr txBox="1"/>
          <p:nvPr/>
        </p:nvSpPr>
        <p:spPr>
          <a:xfrm>
            <a:off x="731520" y="5257800"/>
            <a:ext cx="10058400" cy="365760"/>
          </a:xfrm>
          <a:prstGeom prst="rect">
            <a:avLst/>
          </a:prstGeom>
          <a:noFill/>
          <a:ln/>
        </p:spPr>
        <p:txBody>
          <a:bodyPr wrap="square" lIns="0" tIns="0" rIns="0" bIns="0" rtlCol="0" anchor="ctr"/>
          <a:lstStyle/>
          <a:p>
            <a:pPr indent="0" marL="0">
              <a:buNone/>
            </a:pPr>
            <a:r>
              <a:rPr lang="en-US" sz="1400" dirty="0">
                <a:solidFill>
                  <a:srgbClr val="AAB4C3"/>
                </a:solidFill>
                <a:latin typeface="Calibri" pitchFamily="34" charset="0"/>
                <a:ea typeface="Calibri" pitchFamily="34" charset="-122"/>
                <a:cs typeface="Calibri" pitchFamily="34" charset="-120"/>
              </a:rPr>
              <a:t>36103 Statistical Thinking for Data Science  ·  AT2B Presentation  ·  3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One in seven students fails Portuguese</a:t>
            </a:r>
            <a:endParaRPr lang="en-US" sz="3200" dirty="0"/>
          </a:p>
        </p:txBody>
      </p:sp>
      <p:sp>
        <p:nvSpPr>
          <p:cNvPr id="3" name="Text 1"/>
          <p:cNvSpPr txBox="1"/>
          <p:nvPr/>
        </p:nvSpPr>
        <p:spPr>
          <a:xfrm>
            <a:off x="11247120" y="635508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
        <p:nvSpPr>
          <p:cNvPr id="5" name="Text 2"/>
          <p:cNvSpPr txBox="1"/>
          <p:nvPr/>
        </p:nvSpPr>
        <p:spPr>
          <a:xfrm>
            <a:off x="640080" y="1645920"/>
            <a:ext cx="3291840" cy="1005840"/>
          </a:xfrm>
          <a:prstGeom prst="rect">
            <a:avLst/>
          </a:prstGeom>
          <a:noFill/>
          <a:ln/>
        </p:spPr>
        <p:txBody>
          <a:bodyPr wrap="square" lIns="0" tIns="0" rIns="0" bIns="0" rtlCol="0" anchor="ctr"/>
          <a:lstStyle/>
          <a:p>
            <a:pPr indent="0" marL="0">
              <a:buNone/>
            </a:pPr>
            <a:r>
              <a:rPr lang="en-US" sz="6000" b="1" dirty="0">
                <a:solidFill>
                  <a:srgbClr val="E76F51"/>
                </a:solidFill>
                <a:latin typeface="Cambria" pitchFamily="34" charset="0"/>
                <a:ea typeface="Cambria" pitchFamily="34" charset="-122"/>
                <a:cs typeface="Cambria" pitchFamily="34" charset="-120"/>
              </a:rPr>
              <a:t>15%</a:t>
            </a:r>
            <a:endParaRPr lang="en-US" sz="6000" dirty="0"/>
          </a:p>
        </p:txBody>
      </p:sp>
      <p:sp>
        <p:nvSpPr>
          <p:cNvPr id="6" name="Text 3"/>
          <p:cNvSpPr txBox="1"/>
          <p:nvPr/>
        </p:nvSpPr>
        <p:spPr>
          <a:xfrm>
            <a:off x="640080" y="2697480"/>
            <a:ext cx="3291840" cy="731520"/>
          </a:xfrm>
          <a:prstGeom prst="rect">
            <a:avLst/>
          </a:prstGeom>
          <a:noFill/>
          <a:ln/>
        </p:spPr>
        <p:txBody>
          <a:bodyPr wrap="square" lIns="0" tIns="0" rIns="0" bIns="0" rtlCol="0" anchor="t"/>
          <a:lstStyle/>
          <a:p>
            <a:pPr indent="0" marL="0">
              <a:buNone/>
            </a:pPr>
            <a:r>
              <a:rPr lang="en-US" sz="1500" dirty="0">
                <a:solidFill>
                  <a:srgbClr val="2B2D42"/>
                </a:solidFill>
                <a:latin typeface="Calibri" pitchFamily="34" charset="0"/>
                <a:ea typeface="Calibri" pitchFamily="34" charset="-122"/>
                <a:cs typeface="Calibri" pitchFamily="34" charset="-120"/>
              </a:rPr>
              <a:t>of 649 students failed the course (final grade below 10 out of 20)</a:t>
            </a:r>
            <a:endParaRPr lang="en-US" sz="1500" dirty="0"/>
          </a:p>
        </p:txBody>
      </p:sp>
      <p:sp>
        <p:nvSpPr>
          <p:cNvPr id="7" name="Text 4"/>
          <p:cNvSpPr txBox="1"/>
          <p:nvPr/>
        </p:nvSpPr>
        <p:spPr>
          <a:xfrm>
            <a:off x="4389120" y="1645920"/>
            <a:ext cx="3291840" cy="1005840"/>
          </a:xfrm>
          <a:prstGeom prst="rect">
            <a:avLst/>
          </a:prstGeom>
          <a:noFill/>
          <a:ln/>
        </p:spPr>
        <p:txBody>
          <a:bodyPr wrap="square" lIns="0" tIns="0" rIns="0" bIns="0" rtlCol="0" anchor="ctr"/>
          <a:lstStyle/>
          <a:p>
            <a:pPr indent="0" marL="0">
              <a:buNone/>
            </a:pPr>
            <a:r>
              <a:rPr lang="en-US" sz="6000" b="1" dirty="0">
                <a:solidFill>
                  <a:srgbClr val="2A9D8F"/>
                </a:solidFill>
                <a:latin typeface="Cambria" pitchFamily="34" charset="0"/>
                <a:ea typeface="Cambria" pitchFamily="34" charset="-122"/>
                <a:cs typeface="Cambria" pitchFamily="34" charset="-120"/>
              </a:rPr>
              <a:t>2</a:t>
            </a:r>
            <a:endParaRPr lang="en-US" sz="6000" dirty="0"/>
          </a:p>
        </p:txBody>
      </p:sp>
      <p:sp>
        <p:nvSpPr>
          <p:cNvPr id="8" name="Text 5"/>
          <p:cNvSpPr txBox="1"/>
          <p:nvPr/>
        </p:nvSpPr>
        <p:spPr>
          <a:xfrm>
            <a:off x="4389120" y="2697480"/>
            <a:ext cx="3291840" cy="731520"/>
          </a:xfrm>
          <a:prstGeom prst="rect">
            <a:avLst/>
          </a:prstGeom>
          <a:noFill/>
          <a:ln/>
        </p:spPr>
        <p:txBody>
          <a:bodyPr wrap="square" lIns="0" tIns="0" rIns="0" bIns="0" rtlCol="0" anchor="t"/>
          <a:lstStyle/>
          <a:p>
            <a:pPr indent="0" marL="0">
              <a:buNone/>
            </a:pPr>
            <a:r>
              <a:rPr lang="en-US" sz="1500" dirty="0">
                <a:solidFill>
                  <a:srgbClr val="2B2D42"/>
                </a:solidFill>
                <a:latin typeface="Calibri" pitchFamily="34" charset="0"/>
                <a:ea typeface="Calibri" pitchFamily="34" charset="-122"/>
                <a:cs typeface="Calibri" pitchFamily="34" charset="-120"/>
              </a:rPr>
              <a:t>public secondary schools in Portugal (GP and MS), school year 2005–06</a:t>
            </a:r>
            <a:endParaRPr lang="en-US" sz="1500" dirty="0"/>
          </a:p>
        </p:txBody>
      </p:sp>
      <p:sp>
        <p:nvSpPr>
          <p:cNvPr id="9" name="Text 6"/>
          <p:cNvSpPr txBox="1"/>
          <p:nvPr/>
        </p:nvSpPr>
        <p:spPr>
          <a:xfrm>
            <a:off x="8138160" y="1645920"/>
            <a:ext cx="3474720" cy="1005840"/>
          </a:xfrm>
          <a:prstGeom prst="rect">
            <a:avLst/>
          </a:prstGeom>
          <a:noFill/>
          <a:ln/>
        </p:spPr>
        <p:txBody>
          <a:bodyPr wrap="square" lIns="0" tIns="0" rIns="0" bIns="0" rtlCol="0" anchor="ctr"/>
          <a:lstStyle/>
          <a:p>
            <a:pPr indent="0" marL="0">
              <a:buNone/>
            </a:pPr>
            <a:r>
              <a:rPr lang="en-US" sz="6000" b="1" dirty="0">
                <a:solidFill>
                  <a:srgbClr val="1B2A41"/>
                </a:solidFill>
                <a:latin typeface="Cambria" pitchFamily="34" charset="0"/>
                <a:ea typeface="Cambria" pitchFamily="34" charset="-122"/>
                <a:cs typeface="Cambria" pitchFamily="34" charset="-120"/>
              </a:rPr>
              <a:t>Too late</a:t>
            </a:r>
            <a:endParaRPr lang="en-US" sz="6000" dirty="0"/>
          </a:p>
        </p:txBody>
      </p:sp>
      <p:sp>
        <p:nvSpPr>
          <p:cNvPr id="10" name="Text 7"/>
          <p:cNvSpPr txBox="1"/>
          <p:nvPr/>
        </p:nvSpPr>
        <p:spPr>
          <a:xfrm>
            <a:off x="8138160" y="2697480"/>
            <a:ext cx="3474720" cy="731520"/>
          </a:xfrm>
          <a:prstGeom prst="rect">
            <a:avLst/>
          </a:prstGeom>
          <a:noFill/>
          <a:ln/>
        </p:spPr>
        <p:txBody>
          <a:bodyPr wrap="square" lIns="0" tIns="0" rIns="0" bIns="0" rtlCol="0" anchor="t"/>
          <a:lstStyle/>
          <a:p>
            <a:pPr indent="0" marL="0">
              <a:buNone/>
            </a:pPr>
            <a:r>
              <a:rPr lang="en-US" sz="1500" dirty="0">
                <a:solidFill>
                  <a:srgbClr val="2B2D42"/>
                </a:solidFill>
                <a:latin typeface="Calibri" pitchFamily="34" charset="0"/>
                <a:ea typeface="Calibri" pitchFamily="34" charset="-122"/>
                <a:cs typeface="Calibri" pitchFamily="34" charset="-120"/>
              </a:rPr>
              <a:t>schools usually learn who is struggling only when final grades are released</a:t>
            </a:r>
            <a:endParaRPr lang="en-US" sz="1500" dirty="0"/>
          </a:p>
        </p:txBody>
      </p:sp>
      <p:sp>
        <p:nvSpPr>
          <p:cNvPr id="11" name="Shape 8"/>
          <p:cNvSpPr/>
          <p:nvPr/>
        </p:nvSpPr>
        <p:spPr>
          <a:xfrm>
            <a:off x="640080" y="4297680"/>
            <a:ext cx="10972800" cy="1463040"/>
          </a:xfrm>
          <a:prstGeom prst="roundRect">
            <a:avLst>
              <a:gd name="adj" fmla="val 7500"/>
            </a:avLst>
          </a:prstGeom>
          <a:solidFill>
            <a:srgbClr val="F3F7F6"/>
          </a:solidFill>
          <a:ln/>
        </p:spPr>
      </p:sp>
      <p:sp>
        <p:nvSpPr>
          <p:cNvPr id="12" name="Text 9"/>
          <p:cNvSpPr txBox="1"/>
          <p:nvPr/>
        </p:nvSpPr>
        <p:spPr>
          <a:xfrm>
            <a:off x="914400" y="4434840"/>
            <a:ext cx="10424160" cy="1188720"/>
          </a:xfrm>
          <a:prstGeom prst="rect">
            <a:avLst/>
          </a:prstGeom>
          <a:noFill/>
          <a:ln/>
        </p:spPr>
        <p:txBody>
          <a:bodyPr wrap="square" lIns="0" tIns="0" rIns="0" bIns="0" rtlCol="0" anchor="ctr"/>
          <a:lstStyle/>
          <a:p>
            <a:pPr indent="0" marL="0">
              <a:buNone/>
            </a:pPr>
            <a:r>
              <a:rPr lang="en-US" sz="1700" b="1" dirty="0">
                <a:solidFill>
                  <a:srgbClr val="1B2A41"/>
                </a:solidFill>
                <a:latin typeface="Calibri" pitchFamily="34" charset="0"/>
                <a:ea typeface="Calibri" pitchFamily="34" charset="-122"/>
                <a:cs typeface="Calibri" pitchFamily="34" charset="-120"/>
              </a:rPr>
              <a:t>Why it matters: </a:t>
            </a:r>
            <a:pPr indent="0" marL="0">
              <a:buNone/>
            </a:pPr>
            <a:r>
              <a:rPr lang="en-US" sz="1700" dirty="0">
                <a:solidFill>
                  <a:srgbClr val="2B2D42"/>
                </a:solidFill>
                <a:latin typeface="Calibri" pitchFamily="34" charset="0"/>
                <a:ea typeface="Calibri" pitchFamily="34" charset="-122"/>
                <a:cs typeface="Calibri" pitchFamily="34" charset="-120"/>
              </a:rPr>
              <a:t>Portuguese is a core subject. Failing it blocks progression and is a strong early sign of leaving school. Support staff and tutoring time are limited, so schools need to know where to focus them — early.</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Three questions for school leaders</a:t>
            </a:r>
            <a:endParaRPr lang="en-US" sz="3200" dirty="0"/>
          </a:p>
        </p:txBody>
      </p:sp>
      <p:sp>
        <p:nvSpPr>
          <p:cNvPr id="3" name="Text 1"/>
          <p:cNvSpPr txBox="1"/>
          <p:nvPr/>
        </p:nvSpPr>
        <p:spPr>
          <a:xfrm>
            <a:off x="11247120" y="635508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
        <p:nvSpPr>
          <p:cNvPr id="5" name="Shape 2"/>
          <p:cNvSpPr/>
          <p:nvPr/>
        </p:nvSpPr>
        <p:spPr>
          <a:xfrm>
            <a:off x="640080" y="1645920"/>
            <a:ext cx="3474720" cy="3931920"/>
          </a:xfrm>
          <a:prstGeom prst="roundRect">
            <a:avLst>
              <a:gd name="adj" fmla="val 3158"/>
            </a:avLst>
          </a:prstGeom>
          <a:solidFill>
            <a:srgbClr val="F3F7F6"/>
          </a:solidFill>
          <a:ln/>
        </p:spPr>
      </p:sp>
      <p:sp>
        <p:nvSpPr>
          <p:cNvPr id="6" name="Shape 3"/>
          <p:cNvSpPr/>
          <p:nvPr/>
        </p:nvSpPr>
        <p:spPr>
          <a:xfrm>
            <a:off x="960120" y="1965960"/>
            <a:ext cx="548640" cy="548640"/>
          </a:xfrm>
          <a:prstGeom prst="ellipse">
            <a:avLst/>
          </a:prstGeom>
          <a:solidFill>
            <a:srgbClr val="2A9D8F"/>
          </a:solidFill>
          <a:ln/>
        </p:spPr>
      </p:sp>
      <p:sp>
        <p:nvSpPr>
          <p:cNvPr id="7" name="Text 4"/>
          <p:cNvSpPr txBox="1"/>
          <p:nvPr/>
        </p:nvSpPr>
        <p:spPr>
          <a:xfrm>
            <a:off x="960120" y="19659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5"/>
          <p:cNvSpPr txBox="1"/>
          <p:nvPr/>
        </p:nvSpPr>
        <p:spPr>
          <a:xfrm>
            <a:off x="960120" y="2743200"/>
            <a:ext cx="2926080" cy="914400"/>
          </a:xfrm>
          <a:prstGeom prst="rect">
            <a:avLst/>
          </a:prstGeom>
          <a:noFill/>
          <a:ln/>
        </p:spPr>
        <p:txBody>
          <a:bodyPr wrap="square" lIns="0" tIns="0" rIns="0" bIns="0" rtlCol="0" anchor="t"/>
          <a:lstStyle/>
          <a:p>
            <a:pPr indent="0" marL="0">
              <a:buNone/>
            </a:pPr>
            <a:r>
              <a:rPr lang="en-US" sz="2100" b="1" dirty="0">
                <a:solidFill>
                  <a:srgbClr val="1B2A41"/>
                </a:solidFill>
                <a:latin typeface="Cambria" pitchFamily="34" charset="0"/>
                <a:ea typeface="Cambria" pitchFamily="34" charset="-122"/>
                <a:cs typeface="Cambria" pitchFamily="34" charset="-120"/>
              </a:rPr>
              <a:t>What lowers final grades?</a:t>
            </a:r>
            <a:endParaRPr lang="en-US" sz="2100" dirty="0"/>
          </a:p>
        </p:txBody>
      </p:sp>
      <p:sp>
        <p:nvSpPr>
          <p:cNvPr id="9" name="Text 6"/>
          <p:cNvSpPr txBox="1"/>
          <p:nvPr/>
        </p:nvSpPr>
        <p:spPr>
          <a:xfrm>
            <a:off x="960120" y="3749040"/>
            <a:ext cx="2926080" cy="1554480"/>
          </a:xfrm>
          <a:prstGeom prst="rect">
            <a:avLst/>
          </a:prstGeom>
          <a:noFill/>
          <a:ln/>
        </p:spPr>
        <p:txBody>
          <a:bodyPr wrap="square" lIns="0" tIns="0" rIns="0" bIns="0" rtlCol="0" anchor="t"/>
          <a:lstStyle/>
          <a:p>
            <a:pPr indent="0" marL="0">
              <a:buNone/>
            </a:pPr>
            <a:r>
              <a:rPr lang="en-US" sz="1600" dirty="0">
                <a:solidFill>
                  <a:srgbClr val="2B2D42"/>
                </a:solidFill>
                <a:latin typeface="Calibri" pitchFamily="34" charset="0"/>
                <a:ea typeface="Calibri" pitchFamily="34" charset="-122"/>
                <a:cs typeface="Calibri" pitchFamily="34" charset="-120"/>
              </a:rPr>
              <a:t>Which things a school knows at enrolment go with a higher or lower final grade?</a:t>
            </a:r>
            <a:endParaRPr lang="en-US" sz="1600" dirty="0"/>
          </a:p>
        </p:txBody>
      </p:sp>
      <p:sp>
        <p:nvSpPr>
          <p:cNvPr id="10" name="Shape 7"/>
          <p:cNvSpPr/>
          <p:nvPr/>
        </p:nvSpPr>
        <p:spPr>
          <a:xfrm>
            <a:off x="4389120" y="1645920"/>
            <a:ext cx="3474720" cy="3931920"/>
          </a:xfrm>
          <a:prstGeom prst="roundRect">
            <a:avLst>
              <a:gd name="adj" fmla="val 3158"/>
            </a:avLst>
          </a:prstGeom>
          <a:solidFill>
            <a:srgbClr val="F3F7F6"/>
          </a:solidFill>
          <a:ln/>
        </p:spPr>
      </p:sp>
      <p:sp>
        <p:nvSpPr>
          <p:cNvPr id="11" name="Shape 8"/>
          <p:cNvSpPr/>
          <p:nvPr/>
        </p:nvSpPr>
        <p:spPr>
          <a:xfrm>
            <a:off x="4709160" y="1965960"/>
            <a:ext cx="548640" cy="548640"/>
          </a:xfrm>
          <a:prstGeom prst="ellipse">
            <a:avLst/>
          </a:prstGeom>
          <a:solidFill>
            <a:srgbClr val="E76F51"/>
          </a:solidFill>
          <a:ln/>
        </p:spPr>
      </p:sp>
      <p:sp>
        <p:nvSpPr>
          <p:cNvPr id="12" name="Text 9"/>
          <p:cNvSpPr txBox="1"/>
          <p:nvPr/>
        </p:nvSpPr>
        <p:spPr>
          <a:xfrm>
            <a:off x="4709160" y="19659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0"/>
          <p:cNvSpPr txBox="1"/>
          <p:nvPr/>
        </p:nvSpPr>
        <p:spPr>
          <a:xfrm>
            <a:off x="4709160" y="2743200"/>
            <a:ext cx="2926080" cy="914400"/>
          </a:xfrm>
          <a:prstGeom prst="rect">
            <a:avLst/>
          </a:prstGeom>
          <a:noFill/>
          <a:ln/>
        </p:spPr>
        <p:txBody>
          <a:bodyPr wrap="square" lIns="0" tIns="0" rIns="0" bIns="0" rtlCol="0" anchor="t"/>
          <a:lstStyle/>
          <a:p>
            <a:pPr indent="0" marL="0">
              <a:buNone/>
            </a:pPr>
            <a:r>
              <a:rPr lang="en-US" sz="2100" b="1" dirty="0">
                <a:solidFill>
                  <a:srgbClr val="1B2A41"/>
                </a:solidFill>
                <a:latin typeface="Cambria" pitchFamily="34" charset="0"/>
                <a:ea typeface="Cambria" pitchFamily="34" charset="-122"/>
                <a:cs typeface="Cambria" pitchFamily="34" charset="-120"/>
              </a:rPr>
              <a:t>Who is at risk of failing?</a:t>
            </a:r>
            <a:endParaRPr lang="en-US" sz="2100" dirty="0"/>
          </a:p>
        </p:txBody>
      </p:sp>
      <p:sp>
        <p:nvSpPr>
          <p:cNvPr id="14" name="Text 11"/>
          <p:cNvSpPr txBox="1"/>
          <p:nvPr/>
        </p:nvSpPr>
        <p:spPr>
          <a:xfrm>
            <a:off x="4709160" y="3749040"/>
            <a:ext cx="2926080" cy="1554480"/>
          </a:xfrm>
          <a:prstGeom prst="rect">
            <a:avLst/>
          </a:prstGeom>
          <a:noFill/>
          <a:ln/>
        </p:spPr>
        <p:txBody>
          <a:bodyPr wrap="square" lIns="0" tIns="0" rIns="0" bIns="0" rtlCol="0" anchor="t"/>
          <a:lstStyle/>
          <a:p>
            <a:pPr indent="0" marL="0">
              <a:buNone/>
            </a:pPr>
            <a:r>
              <a:rPr lang="en-US" sz="1600" dirty="0">
                <a:solidFill>
                  <a:srgbClr val="2B2D42"/>
                </a:solidFill>
                <a:latin typeface="Calibri" pitchFamily="34" charset="0"/>
                <a:ea typeface="Calibri" pitchFamily="34" charset="-122"/>
                <a:cs typeface="Calibri" pitchFamily="34" charset="-120"/>
              </a:rPr>
              <a:t>Can the same information pick out the students most likely to fail?</a:t>
            </a:r>
            <a:endParaRPr lang="en-US" sz="1600" dirty="0"/>
          </a:p>
        </p:txBody>
      </p:sp>
      <p:sp>
        <p:nvSpPr>
          <p:cNvPr id="15" name="Shape 12"/>
          <p:cNvSpPr/>
          <p:nvPr/>
        </p:nvSpPr>
        <p:spPr>
          <a:xfrm>
            <a:off x="8138160" y="1645920"/>
            <a:ext cx="3474720" cy="3931920"/>
          </a:xfrm>
          <a:prstGeom prst="roundRect">
            <a:avLst>
              <a:gd name="adj" fmla="val 3158"/>
            </a:avLst>
          </a:prstGeom>
          <a:solidFill>
            <a:srgbClr val="F3F7F6"/>
          </a:solidFill>
          <a:ln/>
        </p:spPr>
      </p:sp>
      <p:sp>
        <p:nvSpPr>
          <p:cNvPr id="16" name="Shape 13"/>
          <p:cNvSpPr/>
          <p:nvPr/>
        </p:nvSpPr>
        <p:spPr>
          <a:xfrm>
            <a:off x="8458200" y="1965960"/>
            <a:ext cx="548640" cy="548640"/>
          </a:xfrm>
          <a:prstGeom prst="ellipse">
            <a:avLst/>
          </a:prstGeom>
          <a:solidFill>
            <a:srgbClr val="1B2A41"/>
          </a:solidFill>
          <a:ln/>
        </p:spPr>
      </p:sp>
      <p:sp>
        <p:nvSpPr>
          <p:cNvPr id="17" name="Text 14"/>
          <p:cNvSpPr txBox="1"/>
          <p:nvPr/>
        </p:nvSpPr>
        <p:spPr>
          <a:xfrm>
            <a:off x="8458200" y="19659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5"/>
          <p:cNvSpPr txBox="1"/>
          <p:nvPr/>
        </p:nvSpPr>
        <p:spPr>
          <a:xfrm>
            <a:off x="8458200" y="2743200"/>
            <a:ext cx="2926080" cy="914400"/>
          </a:xfrm>
          <a:prstGeom prst="rect">
            <a:avLst/>
          </a:prstGeom>
          <a:noFill/>
          <a:ln/>
        </p:spPr>
        <p:txBody>
          <a:bodyPr wrap="square" lIns="0" tIns="0" rIns="0" bIns="0" rtlCol="0" anchor="t"/>
          <a:lstStyle/>
          <a:p>
            <a:pPr indent="0" marL="0">
              <a:buNone/>
            </a:pPr>
            <a:r>
              <a:rPr lang="en-US" sz="2100" b="1" dirty="0">
                <a:solidFill>
                  <a:srgbClr val="1B2A41"/>
                </a:solidFill>
                <a:latin typeface="Cambria" pitchFamily="34" charset="0"/>
                <a:ea typeface="Cambria" pitchFamily="34" charset="-122"/>
                <a:cs typeface="Cambria" pitchFamily="34" charset="-120"/>
              </a:rPr>
              <a:t>When is the warning reliable?</a:t>
            </a:r>
            <a:endParaRPr lang="en-US" sz="2100" dirty="0"/>
          </a:p>
        </p:txBody>
      </p:sp>
      <p:sp>
        <p:nvSpPr>
          <p:cNvPr id="19" name="Text 16"/>
          <p:cNvSpPr txBox="1"/>
          <p:nvPr/>
        </p:nvSpPr>
        <p:spPr>
          <a:xfrm>
            <a:off x="8458200" y="3749040"/>
            <a:ext cx="2926080" cy="1554480"/>
          </a:xfrm>
          <a:prstGeom prst="rect">
            <a:avLst/>
          </a:prstGeom>
          <a:noFill/>
          <a:ln/>
        </p:spPr>
        <p:txBody>
          <a:bodyPr wrap="square" lIns="0" tIns="0" rIns="0" bIns="0" rtlCol="0" anchor="t"/>
          <a:lstStyle/>
          <a:p>
            <a:pPr indent="0" marL="0">
              <a:buNone/>
            </a:pPr>
            <a:r>
              <a:rPr lang="en-US" sz="1600" dirty="0">
                <a:solidFill>
                  <a:srgbClr val="2B2D42"/>
                </a:solidFill>
                <a:latin typeface="Calibri" pitchFamily="34" charset="0"/>
                <a:ea typeface="Calibri" pitchFamily="34" charset="-122"/>
                <a:cs typeface="Calibri" pitchFamily="34" charset="-120"/>
              </a:rPr>
              <a:t>How much better is the warning after the first-term grade is known?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The data: 649 students, 33 pieces of information each</a:t>
            </a:r>
            <a:endParaRPr lang="en-US" sz="3200" dirty="0"/>
          </a:p>
        </p:txBody>
      </p:sp>
      <p:sp>
        <p:nvSpPr>
          <p:cNvPr id="3" name="Text 1"/>
          <p:cNvSpPr txBox="1"/>
          <p:nvPr/>
        </p:nvSpPr>
        <p:spPr>
          <a:xfrm>
            <a:off x="11247120" y="635508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pic>
        <p:nvPicPr>
          <p:cNvPr id="5" name="Image 0" descr="figures/fig1_g3_distribution.png">    </p:cNvPr>
          <p:cNvPicPr>
            <a:picLocks noChangeAspect="1"/>
          </p:cNvPicPr>
          <p:nvPr/>
        </p:nvPicPr>
        <p:blipFill>
          <a:blip r:embed="rId1"/>
          <a:stretch>
            <a:fillRect/>
          </a:stretch>
        </p:blipFill>
        <p:spPr>
          <a:xfrm>
            <a:off x="548640" y="1417320"/>
            <a:ext cx="6583680" cy="3465576"/>
          </a:xfrm>
          <a:prstGeom prst="rect">
            <a:avLst/>
          </a:prstGeom>
        </p:spPr>
      </p:pic>
      <p:sp>
        <p:nvSpPr>
          <p:cNvPr id="6" name="Text 2"/>
          <p:cNvSpPr txBox="1"/>
          <p:nvPr/>
        </p:nvSpPr>
        <p:spPr>
          <a:xfrm>
            <a:off x="7498080" y="1463040"/>
            <a:ext cx="4206240" cy="1005840"/>
          </a:xfrm>
          <a:prstGeom prst="rect">
            <a:avLst/>
          </a:prstGeom>
          <a:noFill/>
          <a:ln/>
        </p:spPr>
        <p:txBody>
          <a:bodyPr wrap="square" lIns="0" tIns="0" rIns="0" bIns="0" rtlCol="0" anchor="t"/>
          <a:lstStyle/>
          <a:p>
            <a:pPr indent="0" marL="0">
              <a:buNone/>
            </a:pPr>
            <a:r>
              <a:rPr lang="en-US" sz="1500" b="1" dirty="0">
                <a:solidFill>
                  <a:srgbClr val="2A9D8F"/>
                </a:solidFill>
                <a:latin typeface="Calibri" pitchFamily="34" charset="0"/>
                <a:ea typeface="Calibri" pitchFamily="34" charset="-122"/>
                <a:cs typeface="Calibri" pitchFamily="34" charset="-120"/>
              </a:rPr>
              <a:t>Source</a:t>
            </a:r>
            <a:endParaRPr lang="en-US" sz="1500" dirty="0"/>
          </a:p>
          <a:p>
            <a:pPr indent="0" marL="0">
              <a:buNone/>
            </a:pPr>
            <a:r>
              <a:rPr lang="en-US" sz="1500" dirty="0">
                <a:solidFill>
                  <a:srgbClr val="2B2D42"/>
                </a:solidFill>
                <a:latin typeface="Calibri" pitchFamily="34" charset="0"/>
                <a:ea typeface="Calibri" pitchFamily="34" charset="-122"/>
                <a:cs typeface="Calibri" pitchFamily="34" charset="-120"/>
              </a:rPr>
              <a:t>Public school records and student questionnaires (Cortez &amp; Silva, 2008; Kaggle, CC0)</a:t>
            </a:r>
            <a:endParaRPr lang="en-US" sz="1500" dirty="0"/>
          </a:p>
        </p:txBody>
      </p:sp>
      <p:sp>
        <p:nvSpPr>
          <p:cNvPr id="7" name="Text 3"/>
          <p:cNvSpPr txBox="1"/>
          <p:nvPr/>
        </p:nvSpPr>
        <p:spPr>
          <a:xfrm>
            <a:off x="7498080" y="2560320"/>
            <a:ext cx="4206240" cy="1005840"/>
          </a:xfrm>
          <a:prstGeom prst="rect">
            <a:avLst/>
          </a:prstGeom>
          <a:noFill/>
          <a:ln/>
        </p:spPr>
        <p:txBody>
          <a:bodyPr wrap="square" lIns="0" tIns="0" rIns="0" bIns="0" rtlCol="0" anchor="t"/>
          <a:lstStyle/>
          <a:p>
            <a:pPr indent="0" marL="0">
              <a:buNone/>
            </a:pPr>
            <a:r>
              <a:rPr lang="en-US" sz="1500" b="1" dirty="0">
                <a:solidFill>
                  <a:srgbClr val="2A9D8F"/>
                </a:solidFill>
                <a:latin typeface="Calibri" pitchFamily="34" charset="0"/>
                <a:ea typeface="Calibri" pitchFamily="34" charset="-122"/>
                <a:cs typeface="Calibri" pitchFamily="34" charset="-120"/>
              </a:rPr>
              <a:t>Quality</a:t>
            </a:r>
            <a:endParaRPr lang="en-US" sz="1500" dirty="0"/>
          </a:p>
          <a:p>
            <a:pPr indent="0" marL="0">
              <a:buNone/>
            </a:pPr>
            <a:r>
              <a:rPr lang="en-US" sz="1500" dirty="0">
                <a:solidFill>
                  <a:srgbClr val="2B2D42"/>
                </a:solidFill>
                <a:latin typeface="Calibri" pitchFamily="34" charset="0"/>
                <a:ea typeface="Calibri" pitchFamily="34" charset="-122"/>
                <a:cs typeface="Calibri" pitchFamily="34" charset="-120"/>
              </a:rPr>
              <a:t>No missing values, no duplicates, all values in valid ranges</a:t>
            </a:r>
            <a:endParaRPr lang="en-US" sz="1500" dirty="0"/>
          </a:p>
        </p:txBody>
      </p:sp>
      <p:sp>
        <p:nvSpPr>
          <p:cNvPr id="8" name="Text 4"/>
          <p:cNvSpPr txBox="1"/>
          <p:nvPr/>
        </p:nvSpPr>
        <p:spPr>
          <a:xfrm>
            <a:off x="7498080" y="3657600"/>
            <a:ext cx="4206240" cy="1005840"/>
          </a:xfrm>
          <a:prstGeom prst="rect">
            <a:avLst/>
          </a:prstGeom>
          <a:noFill/>
          <a:ln/>
        </p:spPr>
        <p:txBody>
          <a:bodyPr wrap="square" lIns="0" tIns="0" rIns="0" bIns="0" rtlCol="0" anchor="t"/>
          <a:lstStyle/>
          <a:p>
            <a:pPr indent="0" marL="0">
              <a:buNone/>
            </a:pPr>
            <a:r>
              <a:rPr lang="en-US" sz="1500" b="1" dirty="0">
                <a:solidFill>
                  <a:srgbClr val="2A9D8F"/>
                </a:solidFill>
                <a:latin typeface="Calibri" pitchFamily="34" charset="0"/>
                <a:ea typeface="Calibri" pitchFamily="34" charset="-122"/>
                <a:cs typeface="Calibri" pitchFamily="34" charset="-120"/>
              </a:rPr>
              <a:t>One issue</a:t>
            </a:r>
            <a:endParaRPr lang="en-US" sz="1500" dirty="0"/>
          </a:p>
          <a:p>
            <a:pPr indent="0" marL="0">
              <a:buNone/>
            </a:pPr>
            <a:r>
              <a:rPr lang="en-US" sz="1500" dirty="0">
                <a:solidFill>
                  <a:srgbClr val="2B2D42"/>
                </a:solidFill>
                <a:latin typeface="Calibri" pitchFamily="34" charset="0"/>
                <a:ea typeface="Calibri" pitchFamily="34" charset="-122"/>
                <a:cs typeface="Calibri" pitchFamily="34" charset="-120"/>
              </a:rPr>
              <a:t>15 students scored 0 but had no absences — they most likely did not sit the final exam</a:t>
            </a:r>
            <a:endParaRPr lang="en-US" sz="1500" dirty="0"/>
          </a:p>
        </p:txBody>
      </p:sp>
      <p:sp>
        <p:nvSpPr>
          <p:cNvPr id="9" name="Text 5"/>
          <p:cNvSpPr txBox="1"/>
          <p:nvPr/>
        </p:nvSpPr>
        <p:spPr>
          <a:xfrm>
            <a:off x="7498080" y="4754880"/>
            <a:ext cx="4206240" cy="1005840"/>
          </a:xfrm>
          <a:prstGeom prst="rect">
            <a:avLst/>
          </a:prstGeom>
          <a:noFill/>
          <a:ln/>
        </p:spPr>
        <p:txBody>
          <a:bodyPr wrap="square" lIns="0" tIns="0" rIns="0" bIns="0" rtlCol="0" anchor="t"/>
          <a:lstStyle/>
          <a:p>
            <a:pPr indent="0" marL="0">
              <a:buNone/>
            </a:pPr>
            <a:r>
              <a:rPr lang="en-US" sz="1500" b="1" dirty="0">
                <a:solidFill>
                  <a:srgbClr val="2A9D8F"/>
                </a:solidFill>
                <a:latin typeface="Calibri" pitchFamily="34" charset="0"/>
                <a:ea typeface="Calibri" pitchFamily="34" charset="-122"/>
                <a:cs typeface="Calibri" pitchFamily="34" charset="-120"/>
              </a:rPr>
              <a:t>Our decision</a:t>
            </a:r>
            <a:endParaRPr lang="en-US" sz="1500" dirty="0"/>
          </a:p>
          <a:p>
            <a:pPr indent="0" marL="0">
              <a:buNone/>
            </a:pPr>
            <a:r>
              <a:rPr lang="en-US" sz="1500" dirty="0">
                <a:solidFill>
                  <a:srgbClr val="2B2D42"/>
                </a:solidFill>
                <a:latin typeface="Calibri" pitchFamily="34" charset="0"/>
                <a:ea typeface="Calibri" pitchFamily="34" charset="-122"/>
                <a:cs typeface="Calibri" pitchFamily="34" charset="-120"/>
              </a:rPr>
              <a:t>Left out of grade models, but counted as ‘fail’ in the risk model</a:t>
            </a:r>
            <a:endParaRPr lang="en-US" sz="1500" dirty="0"/>
          </a:p>
        </p:txBody>
      </p:sp>
      <p:sp>
        <p:nvSpPr>
          <p:cNvPr id="10" name="Text 6"/>
          <p:cNvSpPr txBox="1"/>
          <p:nvPr/>
        </p:nvSpPr>
        <p:spPr>
          <a:xfrm>
            <a:off x="548640" y="5074920"/>
            <a:ext cx="6583680" cy="45720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Most students score 10–14 out of 20. The pass mark is 10.</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Three warning signs stand out</a:t>
            </a:r>
            <a:endParaRPr lang="en-US" sz="3200" dirty="0"/>
          </a:p>
        </p:txBody>
      </p:sp>
      <p:sp>
        <p:nvSpPr>
          <p:cNvPr id="3" name="Text 1"/>
          <p:cNvSpPr txBox="1"/>
          <p:nvPr/>
        </p:nvSpPr>
        <p:spPr>
          <a:xfrm>
            <a:off x="11247120" y="635508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graphicFrame>
        <p:nvGraphicFramePr>
          <p:cNvPr id="5" name="Chart 0" descr=""/>
          <p:cNvGraphicFramePr/>
          <p:nvPr/>
        </p:nvGraphicFramePr>
        <p:xfrm>
          <a:off x="457200" y="1280160"/>
          <a:ext cx="7132320" cy="484632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955280" y="1463040"/>
            <a:ext cx="3749040" cy="1371600"/>
          </a:xfrm>
          <a:prstGeom prst="roundRect">
            <a:avLst>
              <a:gd name="adj" fmla="val 8000"/>
            </a:avLst>
          </a:prstGeom>
          <a:solidFill>
            <a:srgbClr val="F3F7F6"/>
          </a:solidFill>
          <a:ln/>
        </p:spPr>
      </p:sp>
      <p:sp>
        <p:nvSpPr>
          <p:cNvPr id="7" name="Text 3"/>
          <p:cNvSpPr txBox="1"/>
          <p:nvPr/>
        </p:nvSpPr>
        <p:spPr>
          <a:xfrm>
            <a:off x="8138160" y="1554480"/>
            <a:ext cx="3383280" cy="1188720"/>
          </a:xfrm>
          <a:prstGeom prst="rect">
            <a:avLst/>
          </a:prstGeom>
          <a:noFill/>
          <a:ln/>
        </p:spPr>
        <p:txBody>
          <a:bodyPr wrap="square" lIns="0" tIns="0" rIns="0" bIns="0" rtlCol="0" anchor="ctr"/>
          <a:lstStyle/>
          <a:p>
            <a:pPr indent="0" marL="0">
              <a:buNone/>
            </a:pPr>
            <a:r>
              <a:rPr lang="en-US" sz="1500" b="1" dirty="0">
                <a:solidFill>
                  <a:srgbClr val="E76F51"/>
                </a:solidFill>
                <a:latin typeface="Calibri" pitchFamily="34" charset="0"/>
                <a:ea typeface="Calibri" pitchFamily="34" charset="-122"/>
                <a:cs typeface="Calibri" pitchFamily="34" charset="-120"/>
              </a:rPr>
              <a:t>Past failures</a:t>
            </a:r>
            <a:endParaRPr lang="en-US" sz="1500" dirty="0"/>
          </a:p>
          <a:p>
            <a:pPr indent="0" marL="0">
              <a:buNone/>
            </a:pPr>
            <a:r>
              <a:rPr lang="en-US" sz="1500" dirty="0">
                <a:solidFill>
                  <a:srgbClr val="2B2D42"/>
                </a:solidFill>
                <a:latin typeface="Calibri" pitchFamily="34" charset="0"/>
                <a:ea typeface="Calibri" pitchFamily="34" charset="-122"/>
                <a:cs typeface="Calibri" pitchFamily="34" charset="-120"/>
              </a:rPr>
              <a:t>Students who failed a class before are 5× more likely to fail again (49% vs 9%).</a:t>
            </a:r>
            <a:endParaRPr lang="en-US" sz="1500" dirty="0"/>
          </a:p>
        </p:txBody>
      </p:sp>
      <p:sp>
        <p:nvSpPr>
          <p:cNvPr id="8" name="Shape 4"/>
          <p:cNvSpPr/>
          <p:nvPr/>
        </p:nvSpPr>
        <p:spPr>
          <a:xfrm>
            <a:off x="7955280" y="3017520"/>
            <a:ext cx="3749040" cy="1371600"/>
          </a:xfrm>
          <a:prstGeom prst="roundRect">
            <a:avLst>
              <a:gd name="adj" fmla="val 8000"/>
            </a:avLst>
          </a:prstGeom>
          <a:solidFill>
            <a:srgbClr val="F3F7F6"/>
          </a:solidFill>
          <a:ln/>
        </p:spPr>
      </p:sp>
      <p:sp>
        <p:nvSpPr>
          <p:cNvPr id="9" name="Text 5"/>
          <p:cNvSpPr txBox="1"/>
          <p:nvPr/>
        </p:nvSpPr>
        <p:spPr>
          <a:xfrm>
            <a:off x="8138160" y="3108960"/>
            <a:ext cx="3383280" cy="1188720"/>
          </a:xfrm>
          <a:prstGeom prst="rect">
            <a:avLst/>
          </a:prstGeom>
          <a:noFill/>
          <a:ln/>
        </p:spPr>
        <p:txBody>
          <a:bodyPr wrap="square" lIns="0" tIns="0" rIns="0" bIns="0" rtlCol="0" anchor="ctr"/>
          <a:lstStyle/>
          <a:p>
            <a:pPr indent="0" marL="0">
              <a:buNone/>
            </a:pPr>
            <a:r>
              <a:rPr lang="en-US" sz="1500" b="1" dirty="0">
                <a:solidFill>
                  <a:srgbClr val="E76F51"/>
                </a:solidFill>
                <a:latin typeface="Calibri" pitchFamily="34" charset="0"/>
                <a:ea typeface="Calibri" pitchFamily="34" charset="-122"/>
                <a:cs typeface="Calibri" pitchFamily="34" charset="-120"/>
              </a:rPr>
              <a:t>University plans</a:t>
            </a:r>
            <a:endParaRPr lang="en-US" sz="1500" dirty="0"/>
          </a:p>
          <a:p>
            <a:pPr indent="0" marL="0">
              <a:buNone/>
            </a:pPr>
            <a:r>
              <a:rPr lang="en-US" sz="1500" dirty="0">
                <a:solidFill>
                  <a:srgbClr val="2B2D42"/>
                </a:solidFill>
                <a:latin typeface="Calibri" pitchFamily="34" charset="0"/>
                <a:ea typeface="Calibri" pitchFamily="34" charset="-122"/>
                <a:cs typeface="Calibri" pitchFamily="34" charset="-120"/>
              </a:rPr>
              <a:t>Students without plans for higher education fail 4× as often (48% vs 12%).</a:t>
            </a:r>
            <a:endParaRPr lang="en-US" sz="1500" dirty="0"/>
          </a:p>
        </p:txBody>
      </p:sp>
      <p:sp>
        <p:nvSpPr>
          <p:cNvPr id="10" name="Shape 6"/>
          <p:cNvSpPr/>
          <p:nvPr/>
        </p:nvSpPr>
        <p:spPr>
          <a:xfrm>
            <a:off x="7955280" y="4572000"/>
            <a:ext cx="3749040" cy="1371600"/>
          </a:xfrm>
          <a:prstGeom prst="roundRect">
            <a:avLst>
              <a:gd name="adj" fmla="val 8000"/>
            </a:avLst>
          </a:prstGeom>
          <a:solidFill>
            <a:srgbClr val="F3F7F6"/>
          </a:solidFill>
          <a:ln/>
        </p:spPr>
      </p:sp>
      <p:sp>
        <p:nvSpPr>
          <p:cNvPr id="11" name="Text 7"/>
          <p:cNvSpPr txBox="1"/>
          <p:nvPr/>
        </p:nvSpPr>
        <p:spPr>
          <a:xfrm>
            <a:off x="8138160" y="4663440"/>
            <a:ext cx="3383280" cy="1188720"/>
          </a:xfrm>
          <a:prstGeom prst="rect">
            <a:avLst/>
          </a:prstGeom>
          <a:noFill/>
          <a:ln/>
        </p:spPr>
        <p:txBody>
          <a:bodyPr wrap="square" lIns="0" tIns="0" rIns="0" bIns="0" rtlCol="0" anchor="ctr"/>
          <a:lstStyle/>
          <a:p>
            <a:pPr indent="0" marL="0">
              <a:buNone/>
            </a:pPr>
            <a:r>
              <a:rPr lang="en-US" sz="1500" b="1" dirty="0">
                <a:solidFill>
                  <a:srgbClr val="E76F51"/>
                </a:solidFill>
                <a:latin typeface="Calibri" pitchFamily="34" charset="0"/>
                <a:ea typeface="Calibri" pitchFamily="34" charset="-122"/>
                <a:cs typeface="Calibri" pitchFamily="34" charset="-120"/>
              </a:rPr>
              <a:t>School</a:t>
            </a:r>
            <a:endParaRPr lang="en-US" sz="1500" dirty="0"/>
          </a:p>
          <a:p>
            <a:pPr indent="0" marL="0">
              <a:buNone/>
            </a:pPr>
            <a:r>
              <a:rPr lang="en-US" sz="1500" dirty="0">
                <a:solidFill>
                  <a:srgbClr val="2B2D42"/>
                </a:solidFill>
                <a:latin typeface="Calibri" pitchFamily="34" charset="0"/>
                <a:ea typeface="Calibri" pitchFamily="34" charset="-122"/>
                <a:cs typeface="Calibri" pitchFamily="34" charset="-120"/>
              </a:rPr>
              <a:t>MS students fail 4× as often as GP students (30% vs 8%).</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What moves the final grade? (out of 20 points)</a:t>
            </a:r>
            <a:endParaRPr lang="en-US" sz="3200" dirty="0"/>
          </a:p>
        </p:txBody>
      </p:sp>
      <p:sp>
        <p:nvSpPr>
          <p:cNvPr id="3" name="Text 1"/>
          <p:cNvSpPr txBox="1"/>
          <p:nvPr/>
        </p:nvSpPr>
        <p:spPr>
          <a:xfrm>
            <a:off x="11247120" y="635508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graphicFrame>
        <p:nvGraphicFramePr>
          <p:cNvPr id="5" name="Chart 0" descr=""/>
          <p:cNvGraphicFramePr/>
          <p:nvPr/>
        </p:nvGraphicFramePr>
        <p:xfrm>
          <a:off x="457200" y="1280160"/>
          <a:ext cx="7498080" cy="475488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8229600" y="1463040"/>
            <a:ext cx="3474720" cy="2011680"/>
          </a:xfrm>
          <a:prstGeom prst="roundRect">
            <a:avLst>
              <a:gd name="adj" fmla="val 5455"/>
            </a:avLst>
          </a:prstGeom>
          <a:solidFill>
            <a:srgbClr val="F3F7F6"/>
          </a:solidFill>
          <a:ln/>
        </p:spPr>
      </p:sp>
      <p:sp>
        <p:nvSpPr>
          <p:cNvPr id="7" name="Text 3"/>
          <p:cNvSpPr txBox="1"/>
          <p:nvPr/>
        </p:nvSpPr>
        <p:spPr>
          <a:xfrm>
            <a:off x="8412480" y="1554480"/>
            <a:ext cx="3108960" cy="1828800"/>
          </a:xfrm>
          <a:prstGeom prst="rect">
            <a:avLst/>
          </a:prstGeom>
          <a:noFill/>
          <a:ln/>
        </p:spPr>
        <p:txBody>
          <a:bodyPr wrap="square" lIns="0" tIns="0" rIns="0" bIns="0" rtlCol="0" anchor="ctr"/>
          <a:lstStyle/>
          <a:p>
            <a:pPr indent="0" marL="0">
              <a:buNone/>
            </a:pPr>
            <a:r>
              <a:rPr lang="en-US" sz="2600" b="1" dirty="0">
                <a:solidFill>
                  <a:srgbClr val="2A9D8F"/>
                </a:solidFill>
                <a:latin typeface="Calibri" pitchFamily="34" charset="0"/>
                <a:ea typeface="Calibri" pitchFamily="34" charset="-122"/>
                <a:cs typeface="Calibri" pitchFamily="34" charset="-120"/>
              </a:rPr>
              <a:t>About one third</a:t>
            </a:r>
            <a:endParaRPr lang="en-US" sz="2600" dirty="0"/>
          </a:p>
          <a:p>
            <a:pPr indent="0" marL="0">
              <a:buNone/>
            </a:pPr>
            <a:r>
              <a:rPr lang="en-US" sz="1500" dirty="0">
                <a:solidFill>
                  <a:srgbClr val="2B2D42"/>
                </a:solidFill>
                <a:latin typeface="Calibri" pitchFamily="34" charset="0"/>
                <a:ea typeface="Calibri" pitchFamily="34" charset="-122"/>
                <a:cs typeface="Calibri" pitchFamily="34" charset="-120"/>
              </a:rPr>
              <a:t>of the differences in grades are explained by enrolment information alone.</a:t>
            </a:r>
            <a:endParaRPr lang="en-US" sz="2600" dirty="0"/>
          </a:p>
        </p:txBody>
      </p:sp>
      <p:sp>
        <p:nvSpPr>
          <p:cNvPr id="8" name="Text 4"/>
          <p:cNvSpPr txBox="1"/>
          <p:nvPr/>
        </p:nvSpPr>
        <p:spPr>
          <a:xfrm>
            <a:off x="8229600" y="3749040"/>
            <a:ext cx="3474720" cy="1280160"/>
          </a:xfrm>
          <a:prstGeom prst="rect">
            <a:avLst/>
          </a:prstGeom>
          <a:noFill/>
          <a:ln/>
        </p:spPr>
        <p:txBody>
          <a:bodyPr wrap="square" lIns="0" tIns="0" rIns="0" bIns="0" rtlCol="0" anchor="t"/>
          <a:lstStyle/>
          <a:p>
            <a:pPr indent="0" marL="0">
              <a:buNone/>
            </a:pPr>
            <a:r>
              <a:rPr lang="en-US" sz="1400" b="1" dirty="0">
                <a:solidFill>
                  <a:srgbClr val="6B7280"/>
                </a:solidFill>
                <a:latin typeface="Calibri" pitchFamily="34" charset="0"/>
                <a:ea typeface="Calibri" pitchFamily="34" charset="-122"/>
                <a:cs typeface="Calibri" pitchFamily="34" charset="-120"/>
              </a:rPr>
              <a:t>* Support does not cause lower grades — </a:t>
            </a:r>
            <a:pPr indent="0" marL="0">
              <a:buNone/>
            </a:pPr>
            <a:r>
              <a:rPr lang="en-US" sz="1400" dirty="0">
                <a:solidFill>
                  <a:srgbClr val="6B7280"/>
                </a:solidFill>
                <a:latin typeface="Calibri" pitchFamily="34" charset="0"/>
                <a:ea typeface="Calibri" pitchFamily="34" charset="-122"/>
                <a:cs typeface="Calibri" pitchFamily="34" charset="-120"/>
              </a:rPr>
              <a:t>weaker students are the ones who receive it. This is a link, not a cause.</a:t>
            </a:r>
            <a:endParaRPr lang="en-US" sz="1400" dirty="0"/>
          </a:p>
        </p:txBody>
      </p:sp>
      <p:sp>
        <p:nvSpPr>
          <p:cNvPr id="9" name="Text 5"/>
          <p:cNvSpPr txBox="1"/>
          <p:nvPr/>
        </p:nvSpPr>
        <p:spPr>
          <a:xfrm>
            <a:off x="548640" y="6035040"/>
            <a:ext cx="10515600" cy="32004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Model: multiple linear regression, 634 students, 12 factors; all shown effects are statistically significant.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Can we spot who will fail? Yes — fairly well</a:t>
            </a:r>
            <a:endParaRPr lang="en-US" sz="3200" dirty="0"/>
          </a:p>
        </p:txBody>
      </p:sp>
      <p:sp>
        <p:nvSpPr>
          <p:cNvPr id="3" name="Text 1"/>
          <p:cNvSpPr txBox="1"/>
          <p:nvPr/>
        </p:nvSpPr>
        <p:spPr>
          <a:xfrm>
            <a:off x="11247120" y="635508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
        <p:nvSpPr>
          <p:cNvPr id="5" name="Text 2"/>
          <p:cNvSpPr txBox="1"/>
          <p:nvPr/>
        </p:nvSpPr>
        <p:spPr>
          <a:xfrm>
            <a:off x="640080" y="1554480"/>
            <a:ext cx="3474720" cy="1005840"/>
          </a:xfrm>
          <a:prstGeom prst="rect">
            <a:avLst/>
          </a:prstGeom>
          <a:noFill/>
          <a:ln/>
        </p:spPr>
        <p:txBody>
          <a:bodyPr wrap="square" lIns="0" tIns="0" rIns="0" bIns="0" rtlCol="0" anchor="ctr"/>
          <a:lstStyle/>
          <a:p>
            <a:pPr indent="0" marL="0">
              <a:buNone/>
            </a:pPr>
            <a:r>
              <a:rPr lang="en-US" sz="6000" b="1" dirty="0">
                <a:solidFill>
                  <a:srgbClr val="2A9D8F"/>
                </a:solidFill>
                <a:latin typeface="Cambria" pitchFamily="34" charset="0"/>
                <a:ea typeface="Cambria" pitchFamily="34" charset="-122"/>
                <a:cs typeface="Cambria" pitchFamily="34" charset="-120"/>
              </a:rPr>
              <a:t>84%</a:t>
            </a:r>
            <a:endParaRPr lang="en-US" sz="6000" dirty="0"/>
          </a:p>
        </p:txBody>
      </p:sp>
      <p:sp>
        <p:nvSpPr>
          <p:cNvPr id="6" name="Text 3"/>
          <p:cNvSpPr txBox="1"/>
          <p:nvPr/>
        </p:nvSpPr>
        <p:spPr>
          <a:xfrm>
            <a:off x="640080" y="2606040"/>
            <a:ext cx="3474720" cy="731520"/>
          </a:xfrm>
          <a:prstGeom prst="rect">
            <a:avLst/>
          </a:prstGeom>
          <a:noFill/>
          <a:ln/>
        </p:spPr>
        <p:txBody>
          <a:bodyPr wrap="square" lIns="0" tIns="0" rIns="0" bIns="0" rtlCol="0" anchor="t"/>
          <a:lstStyle/>
          <a:p>
            <a:pPr indent="0" marL="0">
              <a:buNone/>
            </a:pPr>
            <a:r>
              <a:rPr lang="en-US" sz="1500" dirty="0">
                <a:solidFill>
                  <a:srgbClr val="2B2D42"/>
                </a:solidFill>
                <a:latin typeface="Calibri" pitchFamily="34" charset="0"/>
                <a:ea typeface="Calibri" pitchFamily="34" charset="-122"/>
                <a:cs typeface="Calibri" pitchFamily="34" charset="-120"/>
              </a:rPr>
              <a:t>chance the model ranks a student who fails above one who passes (AUC 0.84)</a:t>
            </a:r>
            <a:endParaRPr lang="en-US" sz="1500" dirty="0"/>
          </a:p>
        </p:txBody>
      </p:sp>
      <p:sp>
        <p:nvSpPr>
          <p:cNvPr id="7" name="Text 4"/>
          <p:cNvSpPr txBox="1"/>
          <p:nvPr/>
        </p:nvSpPr>
        <p:spPr>
          <a:xfrm>
            <a:off x="4389120" y="1554480"/>
            <a:ext cx="3474720" cy="1005840"/>
          </a:xfrm>
          <a:prstGeom prst="rect">
            <a:avLst/>
          </a:prstGeom>
          <a:noFill/>
          <a:ln/>
        </p:spPr>
        <p:txBody>
          <a:bodyPr wrap="square" lIns="0" tIns="0" rIns="0" bIns="0" rtlCol="0" anchor="ctr"/>
          <a:lstStyle/>
          <a:p>
            <a:pPr indent="0" marL="0">
              <a:buNone/>
            </a:pPr>
            <a:r>
              <a:rPr lang="en-US" sz="6000" b="1" dirty="0">
                <a:solidFill>
                  <a:srgbClr val="E76F51"/>
                </a:solidFill>
                <a:latin typeface="Cambria" pitchFamily="34" charset="0"/>
                <a:ea typeface="Cambria" pitchFamily="34" charset="-122"/>
                <a:cs typeface="Cambria" pitchFamily="34" charset="-120"/>
              </a:rPr>
              <a:t>3 in 4</a:t>
            </a:r>
            <a:endParaRPr lang="en-US" sz="6000" dirty="0"/>
          </a:p>
        </p:txBody>
      </p:sp>
      <p:sp>
        <p:nvSpPr>
          <p:cNvPr id="8" name="Text 5"/>
          <p:cNvSpPr txBox="1"/>
          <p:nvPr/>
        </p:nvSpPr>
        <p:spPr>
          <a:xfrm>
            <a:off x="4389120" y="2606040"/>
            <a:ext cx="3474720" cy="731520"/>
          </a:xfrm>
          <a:prstGeom prst="rect">
            <a:avLst/>
          </a:prstGeom>
          <a:noFill/>
          <a:ln/>
        </p:spPr>
        <p:txBody>
          <a:bodyPr wrap="square" lIns="0" tIns="0" rIns="0" bIns="0" rtlCol="0" anchor="t"/>
          <a:lstStyle/>
          <a:p>
            <a:pPr indent="0" marL="0">
              <a:buNone/>
            </a:pPr>
            <a:r>
              <a:rPr lang="en-US" sz="1500" dirty="0">
                <a:solidFill>
                  <a:srgbClr val="2B2D42"/>
                </a:solidFill>
                <a:latin typeface="Calibri" pitchFamily="34" charset="0"/>
                <a:ea typeface="Calibri" pitchFamily="34" charset="-122"/>
                <a:cs typeface="Calibri" pitchFamily="34" charset="-120"/>
              </a:rPr>
              <a:t>students who fail would be flagged at enrolment (74%)</a:t>
            </a:r>
            <a:endParaRPr lang="en-US" sz="1500" dirty="0"/>
          </a:p>
        </p:txBody>
      </p:sp>
      <p:sp>
        <p:nvSpPr>
          <p:cNvPr id="9" name="Text 6"/>
          <p:cNvSpPr txBox="1"/>
          <p:nvPr/>
        </p:nvSpPr>
        <p:spPr>
          <a:xfrm>
            <a:off x="8138160" y="1554480"/>
            <a:ext cx="3474720" cy="1005840"/>
          </a:xfrm>
          <a:prstGeom prst="rect">
            <a:avLst/>
          </a:prstGeom>
          <a:noFill/>
          <a:ln/>
        </p:spPr>
        <p:txBody>
          <a:bodyPr wrap="square" lIns="0" tIns="0" rIns="0" bIns="0" rtlCol="0" anchor="ctr"/>
          <a:lstStyle/>
          <a:p>
            <a:pPr indent="0" marL="0">
              <a:buNone/>
            </a:pPr>
            <a:r>
              <a:rPr lang="en-US" sz="6000" b="1" dirty="0">
                <a:solidFill>
                  <a:srgbClr val="1B2A41"/>
                </a:solidFill>
                <a:latin typeface="Cambria" pitchFamily="34" charset="0"/>
                <a:ea typeface="Cambria" pitchFamily="34" charset="-122"/>
                <a:cs typeface="Cambria" pitchFamily="34" charset="-120"/>
              </a:rPr>
              <a:t>1 in 3</a:t>
            </a:r>
            <a:endParaRPr lang="en-US" sz="6000" dirty="0"/>
          </a:p>
        </p:txBody>
      </p:sp>
      <p:sp>
        <p:nvSpPr>
          <p:cNvPr id="10" name="Text 7"/>
          <p:cNvSpPr txBox="1"/>
          <p:nvPr/>
        </p:nvSpPr>
        <p:spPr>
          <a:xfrm>
            <a:off x="8138160" y="2606040"/>
            <a:ext cx="3474720" cy="731520"/>
          </a:xfrm>
          <a:prstGeom prst="rect">
            <a:avLst/>
          </a:prstGeom>
          <a:noFill/>
          <a:ln/>
        </p:spPr>
        <p:txBody>
          <a:bodyPr wrap="square" lIns="0" tIns="0" rIns="0" bIns="0" rtlCol="0" anchor="t"/>
          <a:lstStyle/>
          <a:p>
            <a:pPr indent="0" marL="0">
              <a:buNone/>
            </a:pPr>
            <a:r>
              <a:rPr lang="en-US" sz="1500" dirty="0">
                <a:solidFill>
                  <a:srgbClr val="2B2D42"/>
                </a:solidFill>
                <a:latin typeface="Calibri" pitchFamily="34" charset="0"/>
                <a:ea typeface="Calibri" pitchFamily="34" charset="-122"/>
                <a:cs typeface="Calibri" pitchFamily="34" charset="-120"/>
              </a:rPr>
              <a:t>students would be flagged in total — a manageable list for support staff</a:t>
            </a:r>
            <a:endParaRPr lang="en-US" sz="1500" dirty="0"/>
          </a:p>
        </p:txBody>
      </p:sp>
      <p:sp>
        <p:nvSpPr>
          <p:cNvPr id="11" name="Shape 8"/>
          <p:cNvSpPr/>
          <p:nvPr/>
        </p:nvSpPr>
        <p:spPr>
          <a:xfrm>
            <a:off x="640080" y="4114800"/>
            <a:ext cx="10972800" cy="1737360"/>
          </a:xfrm>
          <a:prstGeom prst="roundRect">
            <a:avLst>
              <a:gd name="adj" fmla="val 6316"/>
            </a:avLst>
          </a:prstGeom>
          <a:solidFill>
            <a:srgbClr val="F3F7F6"/>
          </a:solidFill>
          <a:ln/>
        </p:spPr>
      </p:sp>
      <p:sp>
        <p:nvSpPr>
          <p:cNvPr id="12" name="Text 9"/>
          <p:cNvSpPr txBox="1"/>
          <p:nvPr/>
        </p:nvSpPr>
        <p:spPr>
          <a:xfrm>
            <a:off x="914400" y="4206240"/>
            <a:ext cx="10424160" cy="1554480"/>
          </a:xfrm>
          <a:prstGeom prst="rect">
            <a:avLst/>
          </a:prstGeom>
          <a:noFill/>
          <a:ln/>
        </p:spPr>
        <p:txBody>
          <a:bodyPr wrap="square" lIns="0" tIns="0" rIns="0" bIns="0" rtlCol="0" anchor="ctr"/>
          <a:lstStyle/>
          <a:p>
            <a:pPr indent="0" marL="0">
              <a:spcAft>
                <a:spcPts val="400"/>
              </a:spcAft>
              <a:buNone/>
            </a:pPr>
            <a:r>
              <a:rPr lang="en-US" sz="1600" b="1" dirty="0">
                <a:solidFill>
                  <a:srgbClr val="1B2A41"/>
                </a:solidFill>
                <a:latin typeface="Calibri" pitchFamily="34" charset="0"/>
                <a:ea typeface="Calibri" pitchFamily="34" charset="-122"/>
                <a:cs typeface="Calibri" pitchFamily="34" charset="-120"/>
              </a:rPr>
              <a:t>Biggest risk factors (logistic regression, 649 students)</a:t>
            </a:r>
            <a:endParaRPr lang="en-US" sz="1600" dirty="0"/>
          </a:p>
          <a:p>
            <a:pPr indent="0" marL="0">
              <a:spcAft>
                <a:spcPts val="400"/>
              </a:spcAft>
              <a:buNone/>
            </a:pPr>
            <a:r>
              <a:rPr lang="en-US" sz="1600" dirty="0">
                <a:solidFill>
                  <a:srgbClr val="2B2D42"/>
                </a:solidFill>
                <a:latin typeface="Calibri" pitchFamily="34" charset="0"/>
                <a:ea typeface="Calibri" pitchFamily="34" charset="-122"/>
                <a:cs typeface="Calibri" pitchFamily="34" charset="-120"/>
              </a:rPr>
              <a:t>School MS: odds of failing about 7× higher  ·  Each past failure: odds 3× higher  ·  Each extra absence: +7%</a:t>
            </a:r>
            <a:endParaRPr lang="en-US" sz="1600" dirty="0"/>
          </a:p>
          <a:p>
            <a:pPr indent="0" marL="0">
              <a:spcAft>
                <a:spcPts val="400"/>
              </a:spcAft>
              <a:buNone/>
            </a:pPr>
            <a:r>
              <a:rPr lang="en-US" sz="1600" dirty="0">
                <a:solidFill>
                  <a:srgbClr val="2B2D42"/>
                </a:solidFill>
                <a:latin typeface="Calibri" pitchFamily="34" charset="0"/>
                <a:ea typeface="Calibri" pitchFamily="34" charset="-122"/>
                <a:cs typeface="Calibri" pitchFamily="34" charset="-120"/>
              </a:rPr>
              <a:t>Planning to go to university: odds almost 4× lower (protective)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The first-term grade makes the warning much sharper</a:t>
            </a:r>
            <a:endParaRPr lang="en-US" sz="3200" dirty="0"/>
          </a:p>
        </p:txBody>
      </p:sp>
      <p:sp>
        <p:nvSpPr>
          <p:cNvPr id="3" name="Text 1"/>
          <p:cNvSpPr txBox="1"/>
          <p:nvPr/>
        </p:nvSpPr>
        <p:spPr>
          <a:xfrm>
            <a:off x="11247120" y="635508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graphicFrame>
        <p:nvGraphicFramePr>
          <p:cNvPr id="5" name="Chart 0" descr=""/>
          <p:cNvGraphicFramePr/>
          <p:nvPr/>
        </p:nvGraphicFramePr>
        <p:xfrm>
          <a:off x="457200" y="137160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7863840" y="1554480"/>
            <a:ext cx="1463040" cy="82296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±1.7</a:t>
            </a:r>
            <a:endParaRPr lang="en-US" sz="3200" dirty="0"/>
          </a:p>
        </p:txBody>
      </p:sp>
      <p:sp>
        <p:nvSpPr>
          <p:cNvPr id="7" name="Text 3"/>
          <p:cNvSpPr txBox="1"/>
          <p:nvPr/>
        </p:nvSpPr>
        <p:spPr>
          <a:xfrm>
            <a:off x="9326880" y="1554480"/>
            <a:ext cx="2377440" cy="822960"/>
          </a:xfrm>
          <a:prstGeom prst="rect">
            <a:avLst/>
          </a:prstGeom>
          <a:noFill/>
          <a:ln/>
        </p:spPr>
        <p:txBody>
          <a:bodyPr wrap="square" lIns="0" tIns="0" rIns="0" bIns="0" rtlCol="0" anchor="ctr"/>
          <a:lstStyle/>
          <a:p>
            <a:pPr indent="0" marL="0">
              <a:buNone/>
            </a:pPr>
            <a:r>
              <a:rPr lang="en-US" sz="1500" dirty="0">
                <a:solidFill>
                  <a:srgbClr val="2B2D42"/>
                </a:solidFill>
                <a:latin typeface="Calibri" pitchFamily="34" charset="0"/>
                <a:ea typeface="Calibri" pitchFamily="34" charset="-122"/>
                <a:cs typeface="Calibri" pitchFamily="34" charset="-120"/>
              </a:rPr>
              <a:t>points typical error at enrolment</a:t>
            </a:r>
            <a:endParaRPr lang="en-US" sz="1500" dirty="0"/>
          </a:p>
        </p:txBody>
      </p:sp>
      <p:sp>
        <p:nvSpPr>
          <p:cNvPr id="8" name="Text 4"/>
          <p:cNvSpPr txBox="1"/>
          <p:nvPr/>
        </p:nvSpPr>
        <p:spPr>
          <a:xfrm>
            <a:off x="7863840" y="2743200"/>
            <a:ext cx="1463040" cy="822960"/>
          </a:xfrm>
          <a:prstGeom prst="rect">
            <a:avLst/>
          </a:prstGeom>
          <a:noFill/>
          <a:ln/>
        </p:spPr>
        <p:txBody>
          <a:bodyPr wrap="square" lIns="0" tIns="0" rIns="0" bIns="0" rtlCol="0" anchor="ctr"/>
          <a:lstStyle/>
          <a:p>
            <a:pPr indent="0" marL="0">
              <a:buNone/>
            </a:pPr>
            <a:r>
              <a:rPr lang="en-US" sz="3200" b="1" dirty="0">
                <a:solidFill>
                  <a:srgbClr val="B8860B"/>
                </a:solidFill>
                <a:latin typeface="Cambria" pitchFamily="34" charset="0"/>
                <a:ea typeface="Cambria" pitchFamily="34" charset="-122"/>
                <a:cs typeface="Cambria" pitchFamily="34" charset="-120"/>
              </a:rPr>
              <a:t>±1.0</a:t>
            </a:r>
            <a:endParaRPr lang="en-US" sz="3200" dirty="0"/>
          </a:p>
        </p:txBody>
      </p:sp>
      <p:sp>
        <p:nvSpPr>
          <p:cNvPr id="9" name="Text 5"/>
          <p:cNvSpPr txBox="1"/>
          <p:nvPr/>
        </p:nvSpPr>
        <p:spPr>
          <a:xfrm>
            <a:off x="9326880" y="2743200"/>
            <a:ext cx="2377440" cy="822960"/>
          </a:xfrm>
          <a:prstGeom prst="rect">
            <a:avLst/>
          </a:prstGeom>
          <a:noFill/>
          <a:ln/>
        </p:spPr>
        <p:txBody>
          <a:bodyPr wrap="square" lIns="0" tIns="0" rIns="0" bIns="0" rtlCol="0" anchor="ctr"/>
          <a:lstStyle/>
          <a:p>
            <a:pPr indent="0" marL="0">
              <a:buNone/>
            </a:pPr>
            <a:r>
              <a:rPr lang="en-US" sz="1500" dirty="0">
                <a:solidFill>
                  <a:srgbClr val="2B2D42"/>
                </a:solidFill>
                <a:latin typeface="Calibri" pitchFamily="34" charset="0"/>
                <a:ea typeface="Calibri" pitchFamily="34" charset="-122"/>
                <a:cs typeface="Calibri" pitchFamily="34" charset="-120"/>
              </a:rPr>
              <a:t>points after term 1</a:t>
            </a:r>
            <a:endParaRPr lang="en-US" sz="1500" dirty="0"/>
          </a:p>
        </p:txBody>
      </p:sp>
      <p:sp>
        <p:nvSpPr>
          <p:cNvPr id="10" name="Text 6"/>
          <p:cNvSpPr txBox="1"/>
          <p:nvPr/>
        </p:nvSpPr>
        <p:spPr>
          <a:xfrm>
            <a:off x="7863840" y="3931920"/>
            <a:ext cx="1463040" cy="822960"/>
          </a:xfrm>
          <a:prstGeom prst="rect">
            <a:avLst/>
          </a:prstGeom>
          <a:noFill/>
          <a:ln/>
        </p:spPr>
        <p:txBody>
          <a:bodyPr wrap="square" lIns="0" tIns="0" rIns="0" bIns="0" rtlCol="0" anchor="ctr"/>
          <a:lstStyle/>
          <a:p>
            <a:pPr indent="0" marL="0">
              <a:buNone/>
            </a:pPr>
            <a:r>
              <a:rPr lang="en-US" sz="3200" b="1" dirty="0">
                <a:solidFill>
                  <a:srgbClr val="2A9D8F"/>
                </a:solidFill>
                <a:latin typeface="Cambria" pitchFamily="34" charset="0"/>
                <a:ea typeface="Cambria" pitchFamily="34" charset="-122"/>
                <a:cs typeface="Cambria" pitchFamily="34" charset="-120"/>
              </a:rPr>
              <a:t>±0.7</a:t>
            </a:r>
            <a:endParaRPr lang="en-US" sz="3200" dirty="0"/>
          </a:p>
        </p:txBody>
      </p:sp>
      <p:sp>
        <p:nvSpPr>
          <p:cNvPr id="11" name="Text 7"/>
          <p:cNvSpPr txBox="1"/>
          <p:nvPr/>
        </p:nvSpPr>
        <p:spPr>
          <a:xfrm>
            <a:off x="9326880" y="3931920"/>
            <a:ext cx="2377440" cy="822960"/>
          </a:xfrm>
          <a:prstGeom prst="rect">
            <a:avLst/>
          </a:prstGeom>
          <a:noFill/>
          <a:ln/>
        </p:spPr>
        <p:txBody>
          <a:bodyPr wrap="square" lIns="0" tIns="0" rIns="0" bIns="0" rtlCol="0" anchor="ctr"/>
          <a:lstStyle/>
          <a:p>
            <a:pPr indent="0" marL="0">
              <a:buNone/>
            </a:pPr>
            <a:r>
              <a:rPr lang="en-US" sz="1500" dirty="0">
                <a:solidFill>
                  <a:srgbClr val="2B2D42"/>
                </a:solidFill>
                <a:latin typeface="Calibri" pitchFamily="34" charset="0"/>
                <a:ea typeface="Calibri" pitchFamily="34" charset="-122"/>
                <a:cs typeface="Calibri" pitchFamily="34" charset="-120"/>
              </a:rPr>
              <a:t>points after term 2</a:t>
            </a:r>
            <a:endParaRPr lang="en-US" sz="1500" dirty="0"/>
          </a:p>
        </p:txBody>
      </p:sp>
      <p:sp>
        <p:nvSpPr>
          <p:cNvPr id="12" name="Text 8"/>
          <p:cNvSpPr txBox="1"/>
          <p:nvPr/>
        </p:nvSpPr>
        <p:spPr>
          <a:xfrm>
            <a:off x="7863840" y="5120640"/>
            <a:ext cx="3840480" cy="822960"/>
          </a:xfrm>
          <a:prstGeom prst="rect">
            <a:avLst/>
          </a:prstGeom>
          <a:noFill/>
          <a:ln/>
        </p:spPr>
        <p:txBody>
          <a:bodyPr wrap="square" lIns="0" tIns="0" rIns="0" bIns="0" rtlCol="0" anchor="ctr"/>
          <a:lstStyle/>
          <a:p>
            <a:pPr indent="0" marL="0">
              <a:buNone/>
            </a:pPr>
            <a:r>
              <a:rPr lang="en-US" sz="1500" b="1" dirty="0">
                <a:solidFill>
                  <a:srgbClr val="1B2A41"/>
                </a:solidFill>
                <a:latin typeface="Calibri" pitchFamily="34" charset="0"/>
                <a:ea typeface="Calibri" pitchFamily="34" charset="-122"/>
                <a:cs typeface="Calibri" pitchFamily="34" charset="-120"/>
              </a:rPr>
              <a:t>Message: start with a background check at enrolment, then re-check after the first term.</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Can we trust these results?</a:t>
            </a:r>
            <a:endParaRPr lang="en-US" sz="3200" dirty="0"/>
          </a:p>
        </p:txBody>
      </p:sp>
      <p:sp>
        <p:nvSpPr>
          <p:cNvPr id="3" name="Text 1"/>
          <p:cNvSpPr txBox="1"/>
          <p:nvPr/>
        </p:nvSpPr>
        <p:spPr>
          <a:xfrm>
            <a:off x="11247120" y="635508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
        <p:nvSpPr>
          <p:cNvPr id="5" name="Shape 2"/>
          <p:cNvSpPr/>
          <p:nvPr/>
        </p:nvSpPr>
        <p:spPr>
          <a:xfrm>
            <a:off x="640080" y="1554480"/>
            <a:ext cx="5349240" cy="1920240"/>
          </a:xfrm>
          <a:prstGeom prst="roundRect">
            <a:avLst>
              <a:gd name="adj" fmla="val 5714"/>
            </a:avLst>
          </a:prstGeom>
          <a:solidFill>
            <a:srgbClr val="F3F7F6"/>
          </a:solidFill>
          <a:ln/>
        </p:spPr>
      </p:sp>
      <p:sp>
        <p:nvSpPr>
          <p:cNvPr id="6" name="Shape 3"/>
          <p:cNvSpPr/>
          <p:nvPr/>
        </p:nvSpPr>
        <p:spPr>
          <a:xfrm>
            <a:off x="914400" y="1828800"/>
            <a:ext cx="548640" cy="548640"/>
          </a:xfrm>
          <a:prstGeom prst="ellipse">
            <a:avLst/>
          </a:prstGeom>
          <a:solidFill>
            <a:srgbClr val="2A9D8F"/>
          </a:solidFill>
          <a:ln/>
        </p:spPr>
      </p:sp>
      <p:sp>
        <p:nvSpPr>
          <p:cNvPr id="7" name="Text 4"/>
          <p:cNvSpPr txBox="1"/>
          <p:nvPr/>
        </p:nvSpPr>
        <p:spPr>
          <a:xfrm>
            <a:off x="914400" y="18288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8" name="Text 5"/>
          <p:cNvSpPr txBox="1"/>
          <p:nvPr/>
        </p:nvSpPr>
        <p:spPr>
          <a:xfrm>
            <a:off x="1645920" y="1828800"/>
            <a:ext cx="4114800" cy="548640"/>
          </a:xfrm>
          <a:prstGeom prst="rect">
            <a:avLst/>
          </a:prstGeom>
          <a:noFill/>
          <a:ln/>
        </p:spPr>
        <p:txBody>
          <a:bodyPr wrap="square" lIns="0" tIns="0" rIns="0" bIns="0" rtlCol="0" anchor="ctr"/>
          <a:lstStyle/>
          <a:p>
            <a:pPr indent="0" marL="0">
              <a:buNone/>
            </a:pPr>
            <a:r>
              <a:rPr lang="en-US" sz="1900" b="1" dirty="0">
                <a:solidFill>
                  <a:srgbClr val="1B2A41"/>
                </a:solidFill>
                <a:latin typeface="Cambria" pitchFamily="34" charset="0"/>
                <a:ea typeface="Cambria" pitchFamily="34" charset="-122"/>
                <a:cs typeface="Cambria" pitchFamily="34" charset="-120"/>
              </a:rPr>
              <a:t>Tested on unseen students</a:t>
            </a:r>
            <a:endParaRPr lang="en-US" sz="1900" dirty="0"/>
          </a:p>
        </p:txBody>
      </p:sp>
      <p:sp>
        <p:nvSpPr>
          <p:cNvPr id="9" name="Text 6"/>
          <p:cNvSpPr txBox="1"/>
          <p:nvPr/>
        </p:nvSpPr>
        <p:spPr>
          <a:xfrm>
            <a:off x="1645920" y="2423160"/>
            <a:ext cx="4114800" cy="914400"/>
          </a:xfrm>
          <a:prstGeom prst="rect">
            <a:avLst/>
          </a:prstGeom>
          <a:noFill/>
          <a:ln/>
        </p:spPr>
        <p:txBody>
          <a:bodyPr wrap="square" lIns="0" tIns="0" rIns="0" bIns="0" rtlCol="0" anchor="t"/>
          <a:lstStyle/>
          <a:p>
            <a:pPr indent="0" marL="0">
              <a:buNone/>
            </a:pPr>
            <a:r>
              <a:rPr lang="en-US" sz="1500" dirty="0">
                <a:solidFill>
                  <a:srgbClr val="2B2D42"/>
                </a:solidFill>
                <a:latin typeface="Calibri" pitchFamily="34" charset="0"/>
                <a:ea typeface="Calibri" pitchFamily="34" charset="-122"/>
                <a:cs typeface="Calibri" pitchFamily="34" charset="-120"/>
              </a:rPr>
              <a:t>10-fold cross-validation: results hold on data the model did not see</a:t>
            </a:r>
            <a:endParaRPr lang="en-US" sz="1500" dirty="0"/>
          </a:p>
        </p:txBody>
      </p:sp>
      <p:sp>
        <p:nvSpPr>
          <p:cNvPr id="10" name="Shape 7"/>
          <p:cNvSpPr/>
          <p:nvPr/>
        </p:nvSpPr>
        <p:spPr>
          <a:xfrm>
            <a:off x="6263640" y="1554480"/>
            <a:ext cx="5349240" cy="1920240"/>
          </a:xfrm>
          <a:prstGeom prst="roundRect">
            <a:avLst>
              <a:gd name="adj" fmla="val 5714"/>
            </a:avLst>
          </a:prstGeom>
          <a:solidFill>
            <a:srgbClr val="F3F7F6"/>
          </a:solidFill>
          <a:ln/>
        </p:spPr>
      </p:sp>
      <p:sp>
        <p:nvSpPr>
          <p:cNvPr id="11" name="Shape 8"/>
          <p:cNvSpPr/>
          <p:nvPr/>
        </p:nvSpPr>
        <p:spPr>
          <a:xfrm>
            <a:off x="6537960" y="1828800"/>
            <a:ext cx="548640" cy="548640"/>
          </a:xfrm>
          <a:prstGeom prst="ellipse">
            <a:avLst/>
          </a:prstGeom>
          <a:solidFill>
            <a:srgbClr val="2A9D8F"/>
          </a:solidFill>
          <a:ln/>
        </p:spPr>
      </p:sp>
      <p:sp>
        <p:nvSpPr>
          <p:cNvPr id="12" name="Text 9"/>
          <p:cNvSpPr txBox="1"/>
          <p:nvPr/>
        </p:nvSpPr>
        <p:spPr>
          <a:xfrm>
            <a:off x="6537960" y="18288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3" name="Text 10"/>
          <p:cNvSpPr txBox="1"/>
          <p:nvPr/>
        </p:nvSpPr>
        <p:spPr>
          <a:xfrm>
            <a:off x="7269480" y="1828800"/>
            <a:ext cx="4114800" cy="548640"/>
          </a:xfrm>
          <a:prstGeom prst="rect">
            <a:avLst/>
          </a:prstGeom>
          <a:noFill/>
          <a:ln/>
        </p:spPr>
        <p:txBody>
          <a:bodyPr wrap="square" lIns="0" tIns="0" rIns="0" bIns="0" rtlCol="0" anchor="ctr"/>
          <a:lstStyle/>
          <a:p>
            <a:pPr indent="0" marL="0">
              <a:buNone/>
            </a:pPr>
            <a:r>
              <a:rPr lang="en-US" sz="1900" b="1" dirty="0">
                <a:solidFill>
                  <a:srgbClr val="1B2A41"/>
                </a:solidFill>
                <a:latin typeface="Cambria" pitchFamily="34" charset="0"/>
                <a:ea typeface="Cambria" pitchFamily="34" charset="-122"/>
                <a:cs typeface="Cambria" pitchFamily="34" charset="-120"/>
              </a:rPr>
              <a:t>Model checks passed</a:t>
            </a:r>
            <a:endParaRPr lang="en-US" sz="1900" dirty="0"/>
          </a:p>
        </p:txBody>
      </p:sp>
      <p:sp>
        <p:nvSpPr>
          <p:cNvPr id="14" name="Text 11"/>
          <p:cNvSpPr txBox="1"/>
          <p:nvPr/>
        </p:nvSpPr>
        <p:spPr>
          <a:xfrm>
            <a:off x="7269480" y="2423160"/>
            <a:ext cx="4114800" cy="914400"/>
          </a:xfrm>
          <a:prstGeom prst="rect">
            <a:avLst/>
          </a:prstGeom>
          <a:noFill/>
          <a:ln/>
        </p:spPr>
        <p:txBody>
          <a:bodyPr wrap="square" lIns="0" tIns="0" rIns="0" bIns="0" rtlCol="0" anchor="t"/>
          <a:lstStyle/>
          <a:p>
            <a:pPr indent="0" marL="0">
              <a:buNone/>
            </a:pPr>
            <a:r>
              <a:rPr lang="en-US" sz="1500" dirty="0">
                <a:solidFill>
                  <a:srgbClr val="2B2D42"/>
                </a:solidFill>
                <a:latin typeface="Calibri" pitchFamily="34" charset="0"/>
                <a:ea typeface="Calibri" pitchFamily="34" charset="-122"/>
                <a:cs typeface="Calibri" pitchFamily="34" charset="-120"/>
              </a:rPr>
              <a:t>Straight-line patterns, no overlapping factors (VIF ≤ 1.2), no single student drives results</a:t>
            </a:r>
            <a:endParaRPr lang="en-US" sz="1500" dirty="0"/>
          </a:p>
        </p:txBody>
      </p:sp>
      <p:sp>
        <p:nvSpPr>
          <p:cNvPr id="15" name="Shape 12"/>
          <p:cNvSpPr/>
          <p:nvPr/>
        </p:nvSpPr>
        <p:spPr>
          <a:xfrm>
            <a:off x="640080" y="3749040"/>
            <a:ext cx="5349240" cy="1920240"/>
          </a:xfrm>
          <a:prstGeom prst="roundRect">
            <a:avLst>
              <a:gd name="adj" fmla="val 5714"/>
            </a:avLst>
          </a:prstGeom>
          <a:solidFill>
            <a:srgbClr val="F3F7F6"/>
          </a:solidFill>
          <a:ln/>
        </p:spPr>
      </p:sp>
      <p:sp>
        <p:nvSpPr>
          <p:cNvPr id="16" name="Shape 13"/>
          <p:cNvSpPr/>
          <p:nvPr/>
        </p:nvSpPr>
        <p:spPr>
          <a:xfrm>
            <a:off x="914400" y="4023360"/>
            <a:ext cx="548640" cy="548640"/>
          </a:xfrm>
          <a:prstGeom prst="ellipse">
            <a:avLst/>
          </a:prstGeom>
          <a:solidFill>
            <a:srgbClr val="2A9D8F"/>
          </a:solidFill>
          <a:ln/>
        </p:spPr>
      </p:sp>
      <p:sp>
        <p:nvSpPr>
          <p:cNvPr id="17" name="Text 14"/>
          <p:cNvSpPr txBox="1"/>
          <p:nvPr/>
        </p:nvSpPr>
        <p:spPr>
          <a:xfrm>
            <a:off x="914400" y="40233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8" name="Text 15"/>
          <p:cNvSpPr txBox="1"/>
          <p:nvPr/>
        </p:nvSpPr>
        <p:spPr>
          <a:xfrm>
            <a:off x="1645920" y="4023360"/>
            <a:ext cx="4114800" cy="548640"/>
          </a:xfrm>
          <a:prstGeom prst="rect">
            <a:avLst/>
          </a:prstGeom>
          <a:noFill/>
          <a:ln/>
        </p:spPr>
        <p:txBody>
          <a:bodyPr wrap="square" lIns="0" tIns="0" rIns="0" bIns="0" rtlCol="0" anchor="ctr"/>
          <a:lstStyle/>
          <a:p>
            <a:pPr indent="0" marL="0">
              <a:buNone/>
            </a:pPr>
            <a:r>
              <a:rPr lang="en-US" sz="1900" b="1" dirty="0">
                <a:solidFill>
                  <a:srgbClr val="1B2A41"/>
                </a:solidFill>
                <a:latin typeface="Cambria" pitchFamily="34" charset="0"/>
                <a:ea typeface="Cambria" pitchFamily="34" charset="-122"/>
                <a:cs typeface="Cambria" pitchFamily="34" charset="-120"/>
              </a:rPr>
              <a:t>Protected against uneven spread</a:t>
            </a:r>
            <a:endParaRPr lang="en-US" sz="1900" dirty="0"/>
          </a:p>
        </p:txBody>
      </p:sp>
      <p:sp>
        <p:nvSpPr>
          <p:cNvPr id="19" name="Text 16"/>
          <p:cNvSpPr txBox="1"/>
          <p:nvPr/>
        </p:nvSpPr>
        <p:spPr>
          <a:xfrm>
            <a:off x="1645920" y="4617720"/>
            <a:ext cx="4114800" cy="914400"/>
          </a:xfrm>
          <a:prstGeom prst="rect">
            <a:avLst/>
          </a:prstGeom>
          <a:noFill/>
          <a:ln/>
        </p:spPr>
        <p:txBody>
          <a:bodyPr wrap="square" lIns="0" tIns="0" rIns="0" bIns="0" rtlCol="0" anchor="t"/>
          <a:lstStyle/>
          <a:p>
            <a:pPr indent="0" marL="0">
              <a:buNone/>
            </a:pPr>
            <a:r>
              <a:rPr lang="en-US" sz="1500" dirty="0">
                <a:solidFill>
                  <a:srgbClr val="2B2D42"/>
                </a:solidFill>
                <a:latin typeface="Calibri" pitchFamily="34" charset="0"/>
                <a:ea typeface="Calibri" pitchFamily="34" charset="-122"/>
                <a:cs typeface="Calibri" pitchFamily="34" charset="-120"/>
              </a:rPr>
              <a:t>Used robust standard errors (HC3), so conclusions stay valid</a:t>
            </a:r>
            <a:endParaRPr lang="en-US" sz="1500" dirty="0"/>
          </a:p>
        </p:txBody>
      </p:sp>
      <p:sp>
        <p:nvSpPr>
          <p:cNvPr id="20" name="Shape 17"/>
          <p:cNvSpPr/>
          <p:nvPr/>
        </p:nvSpPr>
        <p:spPr>
          <a:xfrm>
            <a:off x="6263640" y="3749040"/>
            <a:ext cx="5349240" cy="1920240"/>
          </a:xfrm>
          <a:prstGeom prst="roundRect">
            <a:avLst>
              <a:gd name="adj" fmla="val 5714"/>
            </a:avLst>
          </a:prstGeom>
          <a:solidFill>
            <a:srgbClr val="F3F7F6"/>
          </a:solidFill>
          <a:ln/>
        </p:spPr>
      </p:sp>
      <p:sp>
        <p:nvSpPr>
          <p:cNvPr id="21" name="Shape 18"/>
          <p:cNvSpPr/>
          <p:nvPr/>
        </p:nvSpPr>
        <p:spPr>
          <a:xfrm>
            <a:off x="6537960" y="4023360"/>
            <a:ext cx="548640" cy="548640"/>
          </a:xfrm>
          <a:prstGeom prst="ellipse">
            <a:avLst/>
          </a:prstGeom>
          <a:solidFill>
            <a:srgbClr val="E9C46A"/>
          </a:solidFill>
          <a:ln/>
        </p:spPr>
      </p:sp>
      <p:sp>
        <p:nvSpPr>
          <p:cNvPr id="22" name="Text 19"/>
          <p:cNvSpPr txBox="1"/>
          <p:nvPr/>
        </p:nvSpPr>
        <p:spPr>
          <a:xfrm>
            <a:off x="6537960" y="40233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23" name="Text 20"/>
          <p:cNvSpPr txBox="1"/>
          <p:nvPr/>
        </p:nvSpPr>
        <p:spPr>
          <a:xfrm>
            <a:off x="7269480" y="4023360"/>
            <a:ext cx="4114800" cy="548640"/>
          </a:xfrm>
          <a:prstGeom prst="rect">
            <a:avLst/>
          </a:prstGeom>
          <a:noFill/>
          <a:ln/>
        </p:spPr>
        <p:txBody>
          <a:bodyPr wrap="square" lIns="0" tIns="0" rIns="0" bIns="0" rtlCol="0" anchor="ctr"/>
          <a:lstStyle/>
          <a:p>
            <a:pPr indent="0" marL="0">
              <a:buNone/>
            </a:pPr>
            <a:r>
              <a:rPr lang="en-US" sz="1900" b="1" dirty="0">
                <a:solidFill>
                  <a:srgbClr val="1B2A41"/>
                </a:solidFill>
                <a:latin typeface="Cambria" pitchFamily="34" charset="0"/>
                <a:ea typeface="Cambria" pitchFamily="34" charset="-122"/>
                <a:cs typeface="Cambria" pitchFamily="34" charset="-120"/>
              </a:rPr>
              <a:t>Some caution</a:t>
            </a:r>
            <a:endParaRPr lang="en-US" sz="1900" dirty="0"/>
          </a:p>
        </p:txBody>
      </p:sp>
      <p:sp>
        <p:nvSpPr>
          <p:cNvPr id="24" name="Text 21"/>
          <p:cNvSpPr txBox="1"/>
          <p:nvPr/>
        </p:nvSpPr>
        <p:spPr>
          <a:xfrm>
            <a:off x="7269480" y="4617720"/>
            <a:ext cx="4114800" cy="914400"/>
          </a:xfrm>
          <a:prstGeom prst="rect">
            <a:avLst/>
          </a:prstGeom>
          <a:noFill/>
          <a:ln/>
        </p:spPr>
        <p:txBody>
          <a:bodyPr wrap="square" lIns="0" tIns="0" rIns="0" bIns="0" rtlCol="0" anchor="t"/>
          <a:lstStyle/>
          <a:p>
            <a:pPr indent="0" marL="0">
              <a:buNone/>
            </a:pPr>
            <a:r>
              <a:rPr lang="en-US" sz="1500" dirty="0">
                <a:solidFill>
                  <a:srgbClr val="2B2D42"/>
                </a:solidFill>
                <a:latin typeface="Calibri" pitchFamily="34" charset="0"/>
                <a:ea typeface="Calibri" pitchFamily="34" charset="-122"/>
                <a:cs typeface="Calibri" pitchFamily="34" charset="-120"/>
              </a:rPr>
              <a:t>Grade is a whole number 0–20, so residuals are slightly non-normal; large sample limits the impact</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What our study cannot tell you</a:t>
            </a:r>
            <a:endParaRPr lang="en-US" sz="3200" dirty="0"/>
          </a:p>
        </p:txBody>
      </p:sp>
      <p:sp>
        <p:nvSpPr>
          <p:cNvPr id="3" name="Text 1"/>
          <p:cNvSpPr txBox="1"/>
          <p:nvPr/>
        </p:nvSpPr>
        <p:spPr>
          <a:xfrm>
            <a:off x="11247120" y="635508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
        <p:nvSpPr>
          <p:cNvPr id="5" name="Shape 2"/>
          <p:cNvSpPr/>
          <p:nvPr/>
        </p:nvSpPr>
        <p:spPr>
          <a:xfrm>
            <a:off x="731520" y="1645920"/>
            <a:ext cx="548640" cy="548640"/>
          </a:xfrm>
          <a:prstGeom prst="ellipse">
            <a:avLst/>
          </a:prstGeom>
          <a:solidFill>
            <a:srgbClr val="E76F51"/>
          </a:solidFill>
          <a:ln/>
        </p:spPr>
      </p:sp>
      <p:sp>
        <p:nvSpPr>
          <p:cNvPr id="6" name="Text 3"/>
          <p:cNvSpPr txBox="1"/>
          <p:nvPr/>
        </p:nvSpPr>
        <p:spPr>
          <a:xfrm>
            <a:off x="731520" y="16459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1554480" y="1508760"/>
            <a:ext cx="3108960" cy="822960"/>
          </a:xfrm>
          <a:prstGeom prst="rect">
            <a:avLst/>
          </a:prstGeom>
          <a:noFill/>
          <a:ln/>
        </p:spPr>
        <p:txBody>
          <a:bodyPr wrap="square" lIns="0" tIns="0" rIns="0" bIns="0" rtlCol="0" anchor="ctr"/>
          <a:lstStyle/>
          <a:p>
            <a:pPr indent="0" marL="0">
              <a:buNone/>
            </a:pPr>
            <a:r>
              <a:rPr lang="en-US" sz="1900" b="1" dirty="0">
                <a:solidFill>
                  <a:srgbClr val="1B2A41"/>
                </a:solidFill>
                <a:latin typeface="Cambria" pitchFamily="34" charset="0"/>
                <a:ea typeface="Cambria" pitchFamily="34" charset="-122"/>
                <a:cs typeface="Cambria" pitchFamily="34" charset="-120"/>
              </a:rPr>
              <a:t>Link ≠ cause</a:t>
            </a:r>
            <a:endParaRPr lang="en-US" sz="1900" dirty="0"/>
          </a:p>
        </p:txBody>
      </p:sp>
      <p:sp>
        <p:nvSpPr>
          <p:cNvPr id="8" name="Text 5"/>
          <p:cNvSpPr txBox="1"/>
          <p:nvPr/>
        </p:nvSpPr>
        <p:spPr>
          <a:xfrm>
            <a:off x="4663440" y="1508760"/>
            <a:ext cx="6949440" cy="822960"/>
          </a:xfrm>
          <a:prstGeom prst="rect">
            <a:avLst/>
          </a:prstGeom>
          <a:noFill/>
          <a:ln/>
        </p:spPr>
        <p:txBody>
          <a:bodyPr wrap="square" lIns="0" tIns="0" rIns="0" bIns="0" rtlCol="0" anchor="ctr"/>
          <a:lstStyle/>
          <a:p>
            <a:pPr indent="0" marL="0">
              <a:buNone/>
            </a:pPr>
            <a:r>
              <a:rPr lang="en-US" sz="1600" dirty="0">
                <a:solidFill>
                  <a:srgbClr val="2B2D42"/>
                </a:solidFill>
                <a:latin typeface="Calibri" pitchFamily="34" charset="0"/>
                <a:ea typeface="Calibri" pitchFamily="34" charset="-122"/>
                <a:cs typeface="Calibri" pitchFamily="34" charset="-120"/>
              </a:rPr>
              <a:t>We observed patterns. We cannot say that changing one factor will change grades.</a:t>
            </a:r>
            <a:endParaRPr lang="en-US" sz="1600" dirty="0"/>
          </a:p>
        </p:txBody>
      </p:sp>
      <p:sp>
        <p:nvSpPr>
          <p:cNvPr id="9" name="Shape 6"/>
          <p:cNvSpPr/>
          <p:nvPr/>
        </p:nvSpPr>
        <p:spPr>
          <a:xfrm>
            <a:off x="731520" y="2788920"/>
            <a:ext cx="548640" cy="548640"/>
          </a:xfrm>
          <a:prstGeom prst="ellipse">
            <a:avLst/>
          </a:prstGeom>
          <a:solidFill>
            <a:srgbClr val="E76F51"/>
          </a:solidFill>
          <a:ln/>
        </p:spPr>
      </p:sp>
      <p:sp>
        <p:nvSpPr>
          <p:cNvPr id="10" name="Text 7"/>
          <p:cNvSpPr txBox="1"/>
          <p:nvPr/>
        </p:nvSpPr>
        <p:spPr>
          <a:xfrm>
            <a:off x="731520" y="27889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8"/>
          <p:cNvSpPr txBox="1"/>
          <p:nvPr/>
        </p:nvSpPr>
        <p:spPr>
          <a:xfrm>
            <a:off x="1554480" y="2651760"/>
            <a:ext cx="3108960" cy="822960"/>
          </a:xfrm>
          <a:prstGeom prst="rect">
            <a:avLst/>
          </a:prstGeom>
          <a:noFill/>
          <a:ln/>
        </p:spPr>
        <p:txBody>
          <a:bodyPr wrap="square" lIns="0" tIns="0" rIns="0" bIns="0" rtlCol="0" anchor="ctr"/>
          <a:lstStyle/>
          <a:p>
            <a:pPr indent="0" marL="0">
              <a:buNone/>
            </a:pPr>
            <a:r>
              <a:rPr lang="en-US" sz="1900" b="1" dirty="0">
                <a:solidFill>
                  <a:srgbClr val="1B2A41"/>
                </a:solidFill>
                <a:latin typeface="Cambria" pitchFamily="34" charset="0"/>
                <a:ea typeface="Cambria" pitchFamily="34" charset="-122"/>
                <a:cs typeface="Cambria" pitchFamily="34" charset="-120"/>
              </a:rPr>
              <a:t>Old, local data</a:t>
            </a:r>
            <a:endParaRPr lang="en-US" sz="1900" dirty="0"/>
          </a:p>
        </p:txBody>
      </p:sp>
      <p:sp>
        <p:nvSpPr>
          <p:cNvPr id="12" name="Text 9"/>
          <p:cNvSpPr txBox="1"/>
          <p:nvPr/>
        </p:nvSpPr>
        <p:spPr>
          <a:xfrm>
            <a:off x="4663440" y="2651760"/>
            <a:ext cx="6949440" cy="822960"/>
          </a:xfrm>
          <a:prstGeom prst="rect">
            <a:avLst/>
          </a:prstGeom>
          <a:noFill/>
          <a:ln/>
        </p:spPr>
        <p:txBody>
          <a:bodyPr wrap="square" lIns="0" tIns="0" rIns="0" bIns="0" rtlCol="0" anchor="ctr"/>
          <a:lstStyle/>
          <a:p>
            <a:pPr indent="0" marL="0">
              <a:buNone/>
            </a:pPr>
            <a:r>
              <a:rPr lang="en-US" sz="1600" dirty="0">
                <a:solidFill>
                  <a:srgbClr val="2B2D42"/>
                </a:solidFill>
                <a:latin typeface="Calibri" pitchFamily="34" charset="0"/>
                <a:ea typeface="Calibri" pitchFamily="34" charset="-122"/>
                <a:cs typeface="Calibri" pitchFamily="34" charset="-120"/>
              </a:rPr>
              <a:t>Two schools in one region of Portugal, 2005–06. Other schools or today’s students may differ.</a:t>
            </a:r>
            <a:endParaRPr lang="en-US" sz="1600" dirty="0"/>
          </a:p>
        </p:txBody>
      </p:sp>
      <p:sp>
        <p:nvSpPr>
          <p:cNvPr id="13" name="Shape 10"/>
          <p:cNvSpPr/>
          <p:nvPr/>
        </p:nvSpPr>
        <p:spPr>
          <a:xfrm>
            <a:off x="731520" y="3931920"/>
            <a:ext cx="548640" cy="548640"/>
          </a:xfrm>
          <a:prstGeom prst="ellipse">
            <a:avLst/>
          </a:prstGeom>
          <a:solidFill>
            <a:srgbClr val="E76F51"/>
          </a:solidFill>
          <a:ln/>
        </p:spPr>
      </p:sp>
      <p:sp>
        <p:nvSpPr>
          <p:cNvPr id="14" name="Text 11"/>
          <p:cNvSpPr txBox="1"/>
          <p:nvPr/>
        </p:nvSpPr>
        <p:spPr>
          <a:xfrm>
            <a:off x="731520" y="39319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5" name="Text 12"/>
          <p:cNvSpPr txBox="1"/>
          <p:nvPr/>
        </p:nvSpPr>
        <p:spPr>
          <a:xfrm>
            <a:off x="1554480" y="3794760"/>
            <a:ext cx="3108960" cy="822960"/>
          </a:xfrm>
          <a:prstGeom prst="rect">
            <a:avLst/>
          </a:prstGeom>
          <a:noFill/>
          <a:ln/>
        </p:spPr>
        <p:txBody>
          <a:bodyPr wrap="square" lIns="0" tIns="0" rIns="0" bIns="0" rtlCol="0" anchor="ctr"/>
          <a:lstStyle/>
          <a:p>
            <a:pPr indent="0" marL="0">
              <a:buNone/>
            </a:pPr>
            <a:r>
              <a:rPr lang="en-US" sz="1900" b="1" dirty="0">
                <a:solidFill>
                  <a:srgbClr val="1B2A41"/>
                </a:solidFill>
                <a:latin typeface="Cambria" pitchFamily="34" charset="0"/>
                <a:ea typeface="Cambria" pitchFamily="34" charset="-122"/>
                <a:cs typeface="Cambria" pitchFamily="34" charset="-120"/>
              </a:rPr>
              <a:t>Self-reported answers</a:t>
            </a:r>
            <a:endParaRPr lang="en-US" sz="1900" dirty="0"/>
          </a:p>
        </p:txBody>
      </p:sp>
      <p:sp>
        <p:nvSpPr>
          <p:cNvPr id="16" name="Text 13"/>
          <p:cNvSpPr txBox="1"/>
          <p:nvPr/>
        </p:nvSpPr>
        <p:spPr>
          <a:xfrm>
            <a:off x="4663440" y="3794760"/>
            <a:ext cx="6949440" cy="822960"/>
          </a:xfrm>
          <a:prstGeom prst="rect">
            <a:avLst/>
          </a:prstGeom>
          <a:noFill/>
          <a:ln/>
        </p:spPr>
        <p:txBody>
          <a:bodyPr wrap="square" lIns="0" tIns="0" rIns="0" bIns="0" rtlCol="0" anchor="ctr"/>
          <a:lstStyle/>
          <a:p>
            <a:pPr indent="0" marL="0">
              <a:buNone/>
            </a:pPr>
            <a:r>
              <a:rPr lang="en-US" sz="1600" dirty="0">
                <a:solidFill>
                  <a:srgbClr val="2B2D42"/>
                </a:solidFill>
                <a:latin typeface="Calibri" pitchFamily="34" charset="0"/>
                <a:ea typeface="Calibri" pitchFamily="34" charset="-122"/>
                <a:cs typeface="Calibri" pitchFamily="34" charset="-120"/>
              </a:rPr>
              <a:t>Study time and alcohol use come from questionnaires, so students may under- or over-report.</a:t>
            </a:r>
            <a:endParaRPr lang="en-US" sz="1600" dirty="0"/>
          </a:p>
        </p:txBody>
      </p:sp>
      <p:sp>
        <p:nvSpPr>
          <p:cNvPr id="17" name="Shape 14"/>
          <p:cNvSpPr/>
          <p:nvPr/>
        </p:nvSpPr>
        <p:spPr>
          <a:xfrm>
            <a:off x="731520" y="5074920"/>
            <a:ext cx="548640" cy="548640"/>
          </a:xfrm>
          <a:prstGeom prst="ellipse">
            <a:avLst/>
          </a:prstGeom>
          <a:solidFill>
            <a:srgbClr val="E76F51"/>
          </a:solidFill>
          <a:ln/>
        </p:spPr>
      </p:sp>
      <p:sp>
        <p:nvSpPr>
          <p:cNvPr id="18" name="Text 15"/>
          <p:cNvSpPr txBox="1"/>
          <p:nvPr/>
        </p:nvSpPr>
        <p:spPr>
          <a:xfrm>
            <a:off x="731520" y="50749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9" name="Text 16"/>
          <p:cNvSpPr txBox="1"/>
          <p:nvPr/>
        </p:nvSpPr>
        <p:spPr>
          <a:xfrm>
            <a:off x="1554480" y="4937760"/>
            <a:ext cx="3108960" cy="822960"/>
          </a:xfrm>
          <a:prstGeom prst="rect">
            <a:avLst/>
          </a:prstGeom>
          <a:noFill/>
          <a:ln/>
        </p:spPr>
        <p:txBody>
          <a:bodyPr wrap="square" lIns="0" tIns="0" rIns="0" bIns="0" rtlCol="0" anchor="ctr"/>
          <a:lstStyle/>
          <a:p>
            <a:pPr indent="0" marL="0">
              <a:buNone/>
            </a:pPr>
            <a:r>
              <a:rPr lang="en-US" sz="1900" b="1" dirty="0">
                <a:solidFill>
                  <a:srgbClr val="1B2A41"/>
                </a:solidFill>
                <a:latin typeface="Cambria" pitchFamily="34" charset="0"/>
                <a:ea typeface="Cambria" pitchFamily="34" charset="-122"/>
                <a:cs typeface="Cambria" pitchFamily="34" charset="-120"/>
              </a:rPr>
              <a:t>Small fail group</a:t>
            </a:r>
            <a:endParaRPr lang="en-US" sz="1900" dirty="0"/>
          </a:p>
        </p:txBody>
      </p:sp>
      <p:sp>
        <p:nvSpPr>
          <p:cNvPr id="20" name="Text 17"/>
          <p:cNvSpPr txBox="1"/>
          <p:nvPr/>
        </p:nvSpPr>
        <p:spPr>
          <a:xfrm>
            <a:off x="4663440" y="4937760"/>
            <a:ext cx="6949440" cy="822960"/>
          </a:xfrm>
          <a:prstGeom prst="rect">
            <a:avLst/>
          </a:prstGeom>
          <a:noFill/>
          <a:ln/>
        </p:spPr>
        <p:txBody>
          <a:bodyPr wrap="square" lIns="0" tIns="0" rIns="0" bIns="0" rtlCol="0" anchor="ctr"/>
          <a:lstStyle/>
          <a:p>
            <a:pPr indent="0" marL="0">
              <a:buNone/>
            </a:pPr>
            <a:r>
              <a:rPr lang="en-US" sz="1600" dirty="0">
                <a:solidFill>
                  <a:srgbClr val="2B2D42"/>
                </a:solidFill>
                <a:latin typeface="Calibri" pitchFamily="34" charset="0"/>
                <a:ea typeface="Calibri" pitchFamily="34" charset="-122"/>
                <a:cs typeface="Calibri" pitchFamily="34" charset="-120"/>
              </a:rPr>
              <a:t>Only 100 students failed, so the risk model should be re-checked on new data before use.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Our recommendations</a:t>
            </a:r>
            <a:endParaRPr lang="en-US" sz="3200" dirty="0"/>
          </a:p>
        </p:txBody>
      </p:sp>
      <p:sp>
        <p:nvSpPr>
          <p:cNvPr id="3" name="Text 1"/>
          <p:cNvSpPr txBox="1"/>
          <p:nvPr/>
        </p:nvSpPr>
        <p:spPr>
          <a:xfrm>
            <a:off x="11247120" y="6355080"/>
            <a:ext cx="457200" cy="274320"/>
          </a:xfrm>
          <a:prstGeom prst="rect">
            <a:avLst/>
          </a:prstGeom>
          <a:noFill/>
          <a:ln/>
        </p:spPr>
        <p:txBody>
          <a:bodyPr wrap="square" lIns="0" tIns="0" rIns="0" bIns="0" rtlCol="0" anchor="ctr"/>
          <a:lstStyle/>
          <a:p>
            <a:pPr algn="r" indent="0" marL="0">
              <a:buNone/>
            </a:pPr>
            <a:r>
              <a:rPr lang="en-US" sz="1000" dirty="0">
                <a:solidFill>
                  <a:srgbClr val="AAB4C3"/>
                </a:solidFill>
                <a:latin typeface="Calibri" pitchFamily="34" charset="0"/>
                <a:ea typeface="Calibri" pitchFamily="34" charset="-122"/>
                <a:cs typeface="Calibri" pitchFamily="34" charset="-120"/>
              </a:rPr>
              <a:t>11</a:t>
            </a:r>
            <a:endParaRPr lang="en-US" sz="1000" dirty="0"/>
          </a:p>
        </p:txBody>
      </p:sp>
      <p:sp>
        <p:nvSpPr>
          <p:cNvPr id="5" name="Shape 2"/>
          <p:cNvSpPr/>
          <p:nvPr/>
        </p:nvSpPr>
        <p:spPr>
          <a:xfrm>
            <a:off x="640080" y="1554480"/>
            <a:ext cx="3474720" cy="3108960"/>
          </a:xfrm>
          <a:prstGeom prst="roundRect">
            <a:avLst>
              <a:gd name="adj" fmla="val 3529"/>
            </a:avLst>
          </a:prstGeom>
          <a:solidFill>
            <a:srgbClr val="25395A"/>
          </a:solidFill>
          <a:ln/>
        </p:spPr>
      </p:sp>
      <p:sp>
        <p:nvSpPr>
          <p:cNvPr id="6" name="Shape 3"/>
          <p:cNvSpPr/>
          <p:nvPr/>
        </p:nvSpPr>
        <p:spPr>
          <a:xfrm>
            <a:off x="960120" y="1828800"/>
            <a:ext cx="548640" cy="548640"/>
          </a:xfrm>
          <a:prstGeom prst="ellipse">
            <a:avLst/>
          </a:prstGeom>
          <a:solidFill>
            <a:srgbClr val="2A9D8F"/>
          </a:solidFill>
          <a:ln/>
        </p:spPr>
      </p:sp>
      <p:sp>
        <p:nvSpPr>
          <p:cNvPr id="7" name="Text 4"/>
          <p:cNvSpPr txBox="1"/>
          <p:nvPr/>
        </p:nvSpPr>
        <p:spPr>
          <a:xfrm>
            <a:off x="960120" y="18288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5"/>
          <p:cNvSpPr txBox="1"/>
          <p:nvPr/>
        </p:nvSpPr>
        <p:spPr>
          <a:xfrm>
            <a:off x="960120" y="2560320"/>
            <a:ext cx="2926080" cy="640080"/>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Flag at enrolment</a:t>
            </a:r>
            <a:endParaRPr lang="en-US" sz="2100" dirty="0"/>
          </a:p>
        </p:txBody>
      </p:sp>
      <p:sp>
        <p:nvSpPr>
          <p:cNvPr id="9" name="Text 6"/>
          <p:cNvSpPr txBox="1"/>
          <p:nvPr/>
        </p:nvSpPr>
        <p:spPr>
          <a:xfrm>
            <a:off x="960120" y="3246120"/>
            <a:ext cx="2926080" cy="1280160"/>
          </a:xfrm>
          <a:prstGeom prst="rect">
            <a:avLst/>
          </a:prstGeom>
          <a:noFill/>
          <a:ln/>
        </p:spPr>
        <p:txBody>
          <a:bodyPr wrap="square" lIns="0" tIns="0" rIns="0" bIns="0" rtlCol="0" anchor="t"/>
          <a:lstStyle/>
          <a:p>
            <a:pPr indent="0" marL="0">
              <a:buNone/>
            </a:pPr>
            <a:r>
              <a:rPr lang="en-US" sz="1600" dirty="0">
                <a:solidFill>
                  <a:srgbClr val="DDE4EC"/>
                </a:solidFill>
                <a:latin typeface="Calibri" pitchFamily="34" charset="0"/>
                <a:ea typeface="Calibri" pitchFamily="34" charset="-122"/>
                <a:cs typeface="Calibri" pitchFamily="34" charset="-120"/>
              </a:rPr>
              <a:t>Use past failures, university plans and school to build a first support list.</a:t>
            </a:r>
            <a:endParaRPr lang="en-US" sz="1600" dirty="0"/>
          </a:p>
        </p:txBody>
      </p:sp>
      <p:sp>
        <p:nvSpPr>
          <p:cNvPr id="10" name="Shape 7"/>
          <p:cNvSpPr/>
          <p:nvPr/>
        </p:nvSpPr>
        <p:spPr>
          <a:xfrm>
            <a:off x="4389120" y="1554480"/>
            <a:ext cx="3474720" cy="3108960"/>
          </a:xfrm>
          <a:prstGeom prst="roundRect">
            <a:avLst>
              <a:gd name="adj" fmla="val 3529"/>
            </a:avLst>
          </a:prstGeom>
          <a:solidFill>
            <a:srgbClr val="25395A"/>
          </a:solidFill>
          <a:ln/>
        </p:spPr>
      </p:sp>
      <p:sp>
        <p:nvSpPr>
          <p:cNvPr id="11" name="Shape 8"/>
          <p:cNvSpPr/>
          <p:nvPr/>
        </p:nvSpPr>
        <p:spPr>
          <a:xfrm>
            <a:off x="4709160" y="1828800"/>
            <a:ext cx="548640" cy="548640"/>
          </a:xfrm>
          <a:prstGeom prst="ellipse">
            <a:avLst/>
          </a:prstGeom>
          <a:solidFill>
            <a:srgbClr val="E9C46A"/>
          </a:solidFill>
          <a:ln/>
        </p:spPr>
      </p:sp>
      <p:sp>
        <p:nvSpPr>
          <p:cNvPr id="12" name="Text 9"/>
          <p:cNvSpPr txBox="1"/>
          <p:nvPr/>
        </p:nvSpPr>
        <p:spPr>
          <a:xfrm>
            <a:off x="4709160" y="18288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0"/>
          <p:cNvSpPr txBox="1"/>
          <p:nvPr/>
        </p:nvSpPr>
        <p:spPr>
          <a:xfrm>
            <a:off x="4709160" y="2560320"/>
            <a:ext cx="2926080" cy="640080"/>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Re-check after term 1</a:t>
            </a:r>
            <a:endParaRPr lang="en-US" sz="2100" dirty="0"/>
          </a:p>
        </p:txBody>
      </p:sp>
      <p:sp>
        <p:nvSpPr>
          <p:cNvPr id="14" name="Text 11"/>
          <p:cNvSpPr txBox="1"/>
          <p:nvPr/>
        </p:nvSpPr>
        <p:spPr>
          <a:xfrm>
            <a:off x="4709160" y="3246120"/>
            <a:ext cx="2926080" cy="1280160"/>
          </a:xfrm>
          <a:prstGeom prst="rect">
            <a:avLst/>
          </a:prstGeom>
          <a:noFill/>
          <a:ln/>
        </p:spPr>
        <p:txBody>
          <a:bodyPr wrap="square" lIns="0" tIns="0" rIns="0" bIns="0" rtlCol="0" anchor="t"/>
          <a:lstStyle/>
          <a:p>
            <a:pPr indent="0" marL="0">
              <a:buNone/>
            </a:pPr>
            <a:r>
              <a:rPr lang="en-US" sz="1600" dirty="0">
                <a:solidFill>
                  <a:srgbClr val="DDE4EC"/>
                </a:solidFill>
                <a:latin typeface="Calibri" pitchFamily="34" charset="0"/>
                <a:ea typeface="Calibri" pitchFamily="34" charset="-122"/>
                <a:cs typeface="Calibri" pitchFamily="34" charset="-120"/>
              </a:rPr>
              <a:t>Update the list with first-term grades — accuracy more than doubles.</a:t>
            </a:r>
            <a:endParaRPr lang="en-US" sz="1600" dirty="0"/>
          </a:p>
        </p:txBody>
      </p:sp>
      <p:sp>
        <p:nvSpPr>
          <p:cNvPr id="15" name="Shape 12"/>
          <p:cNvSpPr/>
          <p:nvPr/>
        </p:nvSpPr>
        <p:spPr>
          <a:xfrm>
            <a:off x="8138160" y="1554480"/>
            <a:ext cx="3474720" cy="3108960"/>
          </a:xfrm>
          <a:prstGeom prst="roundRect">
            <a:avLst>
              <a:gd name="adj" fmla="val 3529"/>
            </a:avLst>
          </a:prstGeom>
          <a:solidFill>
            <a:srgbClr val="25395A"/>
          </a:solidFill>
          <a:ln/>
        </p:spPr>
      </p:sp>
      <p:sp>
        <p:nvSpPr>
          <p:cNvPr id="16" name="Shape 13"/>
          <p:cNvSpPr/>
          <p:nvPr/>
        </p:nvSpPr>
        <p:spPr>
          <a:xfrm>
            <a:off x="8458200" y="1828800"/>
            <a:ext cx="548640" cy="548640"/>
          </a:xfrm>
          <a:prstGeom prst="ellipse">
            <a:avLst/>
          </a:prstGeom>
          <a:solidFill>
            <a:srgbClr val="E76F51"/>
          </a:solidFill>
          <a:ln/>
        </p:spPr>
      </p:sp>
      <p:sp>
        <p:nvSpPr>
          <p:cNvPr id="17" name="Text 14"/>
          <p:cNvSpPr txBox="1"/>
          <p:nvPr/>
        </p:nvSpPr>
        <p:spPr>
          <a:xfrm>
            <a:off x="8458200" y="18288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5"/>
          <p:cNvSpPr txBox="1"/>
          <p:nvPr/>
        </p:nvSpPr>
        <p:spPr>
          <a:xfrm>
            <a:off x="8458200" y="2560320"/>
            <a:ext cx="2926080" cy="640080"/>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Support, don’t label</a:t>
            </a:r>
            <a:endParaRPr lang="en-US" sz="2100" dirty="0"/>
          </a:p>
        </p:txBody>
      </p:sp>
      <p:sp>
        <p:nvSpPr>
          <p:cNvPr id="19" name="Text 16"/>
          <p:cNvSpPr txBox="1"/>
          <p:nvPr/>
        </p:nvSpPr>
        <p:spPr>
          <a:xfrm>
            <a:off x="8458200" y="3246120"/>
            <a:ext cx="2926080" cy="1280160"/>
          </a:xfrm>
          <a:prstGeom prst="rect">
            <a:avLst/>
          </a:prstGeom>
          <a:noFill/>
          <a:ln/>
        </p:spPr>
        <p:txBody>
          <a:bodyPr wrap="square" lIns="0" tIns="0" rIns="0" bIns="0" rtlCol="0" anchor="t"/>
          <a:lstStyle/>
          <a:p>
            <a:pPr indent="0" marL="0">
              <a:buNone/>
            </a:pPr>
            <a:r>
              <a:rPr lang="en-US" sz="1600" dirty="0">
                <a:solidFill>
                  <a:srgbClr val="DDE4EC"/>
                </a:solidFill>
                <a:latin typeface="Calibri" pitchFamily="34" charset="0"/>
                <a:ea typeface="Calibri" pitchFamily="34" charset="-122"/>
                <a:cs typeface="Calibri" pitchFamily="34" charset="-120"/>
              </a:rPr>
              <a:t>Use the list to start conversations and offer tutoring, never to limit a student’s options.</a:t>
            </a:r>
            <a:endParaRPr lang="en-US" sz="1600" dirty="0"/>
          </a:p>
        </p:txBody>
      </p:sp>
      <p:sp>
        <p:nvSpPr>
          <p:cNvPr id="20" name="Text 17"/>
          <p:cNvSpPr txBox="1"/>
          <p:nvPr/>
        </p:nvSpPr>
        <p:spPr>
          <a:xfrm>
            <a:off x="640080" y="4983480"/>
            <a:ext cx="10972800" cy="1005840"/>
          </a:xfrm>
          <a:prstGeom prst="rect">
            <a:avLst/>
          </a:prstGeom>
          <a:noFill/>
          <a:ln/>
        </p:spPr>
        <p:txBody>
          <a:bodyPr wrap="square" lIns="0" tIns="0" rIns="0" bIns="0" rtlCol="0" anchor="t"/>
          <a:lstStyle/>
          <a:p>
            <a:pPr indent="0" marL="0">
              <a:buNone/>
            </a:pPr>
            <a:r>
              <a:rPr lang="en-US" sz="1500" b="1" dirty="0">
                <a:solidFill>
                  <a:srgbClr val="E9C46A"/>
                </a:solidFill>
                <a:latin typeface="Calibri" pitchFamily="34" charset="0"/>
                <a:ea typeface="Calibri" pitchFamily="34" charset="-122"/>
                <a:cs typeface="Calibri" pitchFamily="34" charset="-120"/>
              </a:rPr>
              <a:t>Ethics: </a:t>
            </a:r>
            <a:pPr indent="0" marL="0">
              <a:buNone/>
            </a:pPr>
            <a:r>
              <a:rPr lang="en-US" sz="1500" dirty="0">
                <a:solidFill>
                  <a:srgbClr val="DDE4EC"/>
                </a:solidFill>
                <a:latin typeface="Calibri" pitchFamily="34" charset="0"/>
                <a:ea typeface="Calibri" pitchFamily="34" charset="-122"/>
                <a:cs typeface="Calibri" pitchFamily="34" charset="-120"/>
              </a:rPr>
              <a:t>any future data about Aboriginal and Torres Strait Islander students should follow Indigenous data sovereignty (CARE, Maiam nayri Wingara): co-design with community, collective consent, community control and strengths-based reporting.</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A41"/>
        </a:solidFill>
      </p:bgPr>
    </p:bg>
    <p:spTree>
      <p:nvGrpSpPr>
        <p:cNvPr id="1" name=""/>
        <p:cNvGrpSpPr/>
        <p:nvPr/>
      </p:nvGrpSpPr>
      <p:grpSpPr>
        <a:xfrm>
          <a:off x="0" y="0"/>
          <a:ext cx="0" cy="0"/>
          <a:chOff x="0" y="0"/>
          <a:chExt cx="0" cy="0"/>
        </a:xfrm>
      </p:grpSpPr>
      <p:sp>
        <p:nvSpPr>
          <p:cNvPr id="3" name="Text 0"/>
          <p:cNvSpPr txBox="1"/>
          <p:nvPr/>
        </p:nvSpPr>
        <p:spPr>
          <a:xfrm>
            <a:off x="731520" y="1828800"/>
            <a:ext cx="10515600" cy="109728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Thank you</a:t>
            </a:r>
            <a:endParaRPr lang="en-US" sz="5000" dirty="0"/>
          </a:p>
        </p:txBody>
      </p:sp>
      <p:sp>
        <p:nvSpPr>
          <p:cNvPr id="4" name="Text 1"/>
          <p:cNvSpPr txBox="1"/>
          <p:nvPr/>
        </p:nvSpPr>
        <p:spPr>
          <a:xfrm>
            <a:off x="731520" y="2926080"/>
            <a:ext cx="10515600" cy="731520"/>
          </a:xfrm>
          <a:prstGeom prst="rect">
            <a:avLst/>
          </a:prstGeom>
          <a:noFill/>
          <a:ln/>
        </p:spPr>
        <p:txBody>
          <a:bodyPr wrap="square" lIns="0" tIns="0" rIns="0" bIns="0" rtlCol="0" anchor="ctr"/>
          <a:lstStyle/>
          <a:p>
            <a:pPr indent="0" marL="0">
              <a:buNone/>
            </a:pPr>
            <a:r>
              <a:rPr lang="en-US" sz="2800" i="1" dirty="0">
                <a:solidFill>
                  <a:srgbClr val="E9C46A"/>
                </a:solidFill>
                <a:latin typeface="Calibri" pitchFamily="34" charset="0"/>
                <a:ea typeface="Calibri" pitchFamily="34" charset="-122"/>
                <a:cs typeface="Calibri" pitchFamily="34" charset="-120"/>
              </a:rPr>
              <a:t>Questions?</a:t>
            </a:r>
            <a:endParaRPr lang="en-US" sz="2800" dirty="0"/>
          </a:p>
        </p:txBody>
      </p:sp>
      <p:sp>
        <p:nvSpPr>
          <p:cNvPr id="5" name="Text 2"/>
          <p:cNvSpPr txBox="1"/>
          <p:nvPr/>
        </p:nvSpPr>
        <p:spPr>
          <a:xfrm>
            <a:off x="731520" y="4937760"/>
            <a:ext cx="10515600" cy="731520"/>
          </a:xfrm>
          <a:prstGeom prst="rect">
            <a:avLst/>
          </a:prstGeom>
          <a:noFill/>
          <a:ln/>
        </p:spPr>
        <p:txBody>
          <a:bodyPr wrap="square" lIns="0" tIns="0" rIns="0" bIns="0" rtlCol="0" anchor="ctr"/>
          <a:lstStyle/>
          <a:p>
            <a:pPr indent="0" marL="0">
              <a:buNone/>
            </a:pPr>
            <a:r>
              <a:rPr lang="en-US" sz="1300" dirty="0">
                <a:solidFill>
                  <a:srgbClr val="AAB4C3"/>
                </a:solidFill>
                <a:latin typeface="Calibri" pitchFamily="34" charset="0"/>
                <a:ea typeface="Calibri" pitchFamily="34" charset="-122"/>
                <a:cs typeface="Calibri" pitchFamily="34" charset="-120"/>
              </a:rPr>
              <a:t>Data: Cortez, P., &amp; Silva, A. (2008). Using data mining to predict secondary school student performance. FUBUTEC 2008. Kaggle mirror: Student Performance Data Set (CC0).</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the Grade Book</dc:title>
  <dc:subject>PptxGenJS Presentation</dc:subject>
  <dc:creator>PptxGenJS</dc:creator>
  <cp:lastModifiedBy>PptxGenJS</cp:lastModifiedBy>
  <cp:revision>1</cp:revision>
  <dcterms:created xsi:type="dcterms:W3CDTF">2026-09-30T00:30:42Z</dcterms:created>
  <dcterms:modified xsi:type="dcterms:W3CDTF">2026-09-30T00:30:42Z</dcterms:modified>
</cp:coreProperties>
</file>